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8" r:id="rId2"/>
    <p:sldId id="257" r:id="rId3"/>
    <p:sldId id="261" r:id="rId4"/>
    <p:sldId id="262" r:id="rId5"/>
    <p:sldId id="259" r:id="rId6"/>
    <p:sldId id="277" r:id="rId7"/>
    <p:sldId id="296" r:id="rId8"/>
    <p:sldId id="297" r:id="rId9"/>
    <p:sldId id="282" r:id="rId10"/>
    <p:sldId id="298" r:id="rId11"/>
    <p:sldId id="294" r:id="rId12"/>
    <p:sldId id="293" r:id="rId13"/>
    <p:sldId id="284" r:id="rId14"/>
    <p:sldId id="268" r:id="rId15"/>
    <p:sldId id="310" r:id="rId16"/>
    <p:sldId id="299" r:id="rId17"/>
    <p:sldId id="300" r:id="rId18"/>
    <p:sldId id="302" r:id="rId19"/>
    <p:sldId id="301" r:id="rId20"/>
    <p:sldId id="303" r:id="rId21"/>
    <p:sldId id="304" r:id="rId22"/>
    <p:sldId id="305" r:id="rId23"/>
    <p:sldId id="306" r:id="rId24"/>
    <p:sldId id="307" r:id="rId25"/>
    <p:sldId id="308" r:id="rId26"/>
    <p:sldId id="309" r:id="rId27"/>
    <p:sldId id="29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613F"/>
    <a:srgbClr val="50B476"/>
    <a:srgbClr val="B6E0C6"/>
    <a:srgbClr val="D7D203"/>
    <a:srgbClr val="FDF959"/>
    <a:srgbClr val="908D02"/>
    <a:srgbClr val="FF342F"/>
    <a:srgbClr val="A80400"/>
    <a:srgbClr val="FF6460"/>
    <a:srgbClr val="43A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04" autoAdjust="0"/>
    <p:restoredTop sz="88340" autoAdjust="0"/>
  </p:normalViewPr>
  <p:slideViewPr>
    <p:cSldViewPr snapToGrid="0">
      <p:cViewPr>
        <p:scale>
          <a:sx n="66" d="100"/>
          <a:sy n="66" d="100"/>
        </p:scale>
        <p:origin x="116" y="20"/>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8ED53A-882D-4E57-958E-CA2A43D4E9FC}" type="datetimeFigureOut">
              <a:rPr lang="en-PH" smtClean="0"/>
              <a:t>1/6/2026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24C6A5-8883-4110-BDC2-0BC79285A752}" type="slidenum">
              <a:rPr lang="en-PH" smtClean="0"/>
              <a:t>‹#›</a:t>
            </a:fld>
            <a:endParaRPr lang="en-PH"/>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9124C6A5-8883-4110-BDC2-0BC79285A752}" type="slidenum">
              <a:rPr lang="en-PH" smtClean="0"/>
              <a:t>3</a:t>
            </a:fld>
            <a:endParaRPr lang="en-PH"/>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9124C6A5-8883-4110-BDC2-0BC79285A752}" type="slidenum">
              <a:rPr lang="en-PH" smtClean="0"/>
              <a:t>5</a:t>
            </a:fld>
            <a:endParaRPr lang="en-PH"/>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78FEE717-1E34-4BCF-9192-FBE5ADBC6A49}" type="slidenum">
              <a:rPr lang="en-PH" smtClean="0"/>
              <a:t>6</a:t>
            </a:fld>
            <a:endParaRPr lang="en-PH"/>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9341C-D47F-B5D0-BC7D-2E468572E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05780D-A02B-E646-7422-88B607C277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2B0FFA-4FD3-1C7C-C9E5-2A24C3B8115C}"/>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5CC36CAD-09DE-F88D-A8AF-F2C88C8089BE}"/>
              </a:ext>
            </a:extLst>
          </p:cNvPr>
          <p:cNvSpPr>
            <a:spLocks noGrp="1"/>
          </p:cNvSpPr>
          <p:nvPr>
            <p:ph type="sldNum" sz="quarter" idx="10"/>
          </p:nvPr>
        </p:nvSpPr>
        <p:spPr/>
        <p:txBody>
          <a:bodyPr/>
          <a:lstStyle/>
          <a:p>
            <a:fld id="{78FEE717-1E34-4BCF-9192-FBE5ADBC6A49}" type="slidenum">
              <a:rPr lang="en-PH" smtClean="0"/>
              <a:t>7</a:t>
            </a:fld>
            <a:endParaRPr lang="en-PH"/>
          </a:p>
        </p:txBody>
      </p:sp>
    </p:spTree>
    <p:extLst>
      <p:ext uri="{BB962C8B-B14F-4D97-AF65-F5344CB8AC3E}">
        <p14:creationId xmlns:p14="http://schemas.microsoft.com/office/powerpoint/2010/main" val="1383905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1AA41-F84C-DEBB-7A47-192EB84DB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262F10-33AA-079C-BD21-83BF9EF059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25137E-B0FE-7FFD-D5C9-4508486747D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6A95574-E897-C23A-1D9B-7DF35522DDB8}"/>
              </a:ext>
            </a:extLst>
          </p:cNvPr>
          <p:cNvSpPr>
            <a:spLocks noGrp="1"/>
          </p:cNvSpPr>
          <p:nvPr>
            <p:ph type="sldNum" sz="quarter" idx="10"/>
          </p:nvPr>
        </p:nvSpPr>
        <p:spPr/>
        <p:txBody>
          <a:bodyPr/>
          <a:lstStyle/>
          <a:p>
            <a:fld id="{78FEE717-1E34-4BCF-9192-FBE5ADBC6A49}" type="slidenum">
              <a:rPr lang="en-PH" smtClean="0"/>
              <a:t>8</a:t>
            </a:fld>
            <a:endParaRPr lang="en-PH"/>
          </a:p>
        </p:txBody>
      </p:sp>
    </p:spTree>
    <p:extLst>
      <p:ext uri="{BB962C8B-B14F-4D97-AF65-F5344CB8AC3E}">
        <p14:creationId xmlns:p14="http://schemas.microsoft.com/office/powerpoint/2010/main" val="1759858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78FEE717-1E34-4BCF-9192-FBE5ADBC6A49}" type="slidenum">
              <a:rPr lang="en-PH" smtClean="0"/>
              <a:t>9</a:t>
            </a:fld>
            <a:endParaRPr lang="en-PH"/>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22D11-DFF5-300E-5140-01FB05BAB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15D16-66C8-C2B0-9820-AC3510B1E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6F3009-C417-2578-900E-9487C7F6921F}"/>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45506E42-07D2-7DFD-181B-114528A3B851}"/>
              </a:ext>
            </a:extLst>
          </p:cNvPr>
          <p:cNvSpPr>
            <a:spLocks noGrp="1"/>
          </p:cNvSpPr>
          <p:nvPr>
            <p:ph type="sldNum" sz="quarter" idx="10"/>
          </p:nvPr>
        </p:nvSpPr>
        <p:spPr/>
        <p:txBody>
          <a:bodyPr/>
          <a:lstStyle/>
          <a:p>
            <a:fld id="{78FEE717-1E34-4BCF-9192-FBE5ADBC6A49}" type="slidenum">
              <a:rPr lang="en-PH" smtClean="0"/>
              <a:t>10</a:t>
            </a:fld>
            <a:endParaRPr lang="en-PH"/>
          </a:p>
        </p:txBody>
      </p:sp>
    </p:spTree>
    <p:extLst>
      <p:ext uri="{BB962C8B-B14F-4D97-AF65-F5344CB8AC3E}">
        <p14:creationId xmlns:p14="http://schemas.microsoft.com/office/powerpoint/2010/main" val="2250278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74E00-26C1-EFC0-1A53-1BB68B4343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626490-E424-F67A-19A9-DB919FD4DF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2F0997-DA3C-A14A-B0D9-510FE4FBC298}"/>
              </a:ext>
            </a:extLst>
          </p:cNvPr>
          <p:cNvSpPr>
            <a:spLocks noGrp="1"/>
          </p:cNvSpPr>
          <p:nvPr>
            <p:ph type="body" idx="1"/>
          </p:nvPr>
        </p:nvSpPr>
        <p:spPr/>
        <p:txBody>
          <a:bodyPr/>
          <a:lstStyle/>
          <a:p>
            <a:pPr lvl="0"/>
            <a:r>
              <a:rPr lang="en-PH" sz="1200" b="1" kern="1200" dirty="0">
                <a:solidFill>
                  <a:schemeClr val="tx1"/>
                </a:solidFill>
                <a:effectLst/>
                <a:latin typeface="+mn-lt"/>
                <a:ea typeface="+mn-ea"/>
                <a:cs typeface="+mn-cs"/>
              </a:rPr>
              <a:t>Concrete-Representation-Abstract Strategy (CRA). </a:t>
            </a:r>
            <a:r>
              <a:rPr lang="en-PH" sz="1200" kern="1200" dirty="0">
                <a:solidFill>
                  <a:schemeClr val="tx1"/>
                </a:solidFill>
                <a:effectLst/>
                <a:latin typeface="+mn-lt"/>
                <a:ea typeface="+mn-ea"/>
                <a:cs typeface="+mn-cs"/>
              </a:rPr>
              <a:t>CRA is an instructional approach that is composed of three levels. First is the Concrete Level where the concepts are taught using a manipulative device to illustrate the concept and solve related problems. The second level is Representation. This involves the use of pictures, graphs or tallies to represent the concept being taught. Lastly is the Abstract level where the concept being taught will not use any device. In this level, the students will answer problems without manipulative devices or pictorial representations.</a:t>
            </a:r>
          </a:p>
          <a:p>
            <a:pPr lvl="0"/>
            <a:r>
              <a:rPr lang="en-PH" sz="1200" b="1" kern="1200" dirty="0">
                <a:solidFill>
                  <a:schemeClr val="tx1"/>
                </a:solidFill>
                <a:effectLst/>
                <a:latin typeface="+mn-lt"/>
                <a:ea typeface="+mn-ea"/>
                <a:cs typeface="+mn-cs"/>
              </a:rPr>
              <a:t>Constant Time Delay Approach (CTD). </a:t>
            </a:r>
            <a:r>
              <a:rPr lang="en-PH" sz="1200" kern="1200" dirty="0">
                <a:solidFill>
                  <a:schemeClr val="tx1"/>
                </a:solidFill>
                <a:effectLst/>
                <a:latin typeface="+mn-lt"/>
                <a:ea typeface="+mn-ea"/>
                <a:cs typeface="+mn-cs"/>
              </a:rPr>
              <a:t>This makes use materials used by the teacher in teaching facts that result in near-errorless answers by the students. It involves the following steps: 1) present stimulus (e.g. flash card) to the students; 2) wait for students' response for 3 to 5 seconds; if the student did not respond or gave an incorrect answer, 3) state the problem and the answer; 4) students repeat the question and the answer.</a:t>
            </a:r>
          </a:p>
          <a:p>
            <a:r>
              <a:rPr lang="en-PH" sz="1200" b="1" kern="1200" dirty="0">
                <a:solidFill>
                  <a:schemeClr val="tx1"/>
                </a:solidFill>
                <a:effectLst/>
                <a:latin typeface="+mn-lt"/>
                <a:ea typeface="+mn-ea"/>
                <a:cs typeface="+mn-cs"/>
              </a:rPr>
              <a:t>Problem-Solving Approach using the STAR method. </a:t>
            </a:r>
            <a:r>
              <a:rPr lang="en-PH" sz="1200" kern="1200" dirty="0">
                <a:solidFill>
                  <a:schemeClr val="tx1"/>
                </a:solidFill>
                <a:effectLst/>
                <a:latin typeface="+mn-lt"/>
                <a:ea typeface="+mn-ea"/>
                <a:cs typeface="+mn-cs"/>
              </a:rPr>
              <a:t>In order for the students to be able to enhance their computing skills, the problem-solving strategy is used in this guide. This approach utilizes the STAR method, an acronym for the four-step problem-solving method. These steps are: 1) </a:t>
            </a:r>
            <a:r>
              <a:rPr lang="en-PH" sz="1200" b="1" kern="1200" dirty="0">
                <a:solidFill>
                  <a:schemeClr val="tx1"/>
                </a:solidFill>
                <a:effectLst/>
                <a:latin typeface="+mn-lt"/>
                <a:ea typeface="+mn-ea"/>
                <a:cs typeface="+mn-cs"/>
              </a:rPr>
              <a:t>S</a:t>
            </a:r>
            <a:r>
              <a:rPr lang="en-PH" sz="1200" kern="1200" dirty="0">
                <a:solidFill>
                  <a:schemeClr val="tx1"/>
                </a:solidFill>
                <a:effectLst/>
                <a:latin typeface="+mn-lt"/>
                <a:ea typeface="+mn-ea"/>
                <a:cs typeface="+mn-cs"/>
              </a:rPr>
              <a:t>earch the Problem; 2) </a:t>
            </a:r>
            <a:r>
              <a:rPr lang="en-PH" sz="1200" b="1" kern="1200" dirty="0">
                <a:solidFill>
                  <a:schemeClr val="tx1"/>
                </a:solidFill>
                <a:effectLst/>
                <a:latin typeface="+mn-lt"/>
                <a:ea typeface="+mn-ea"/>
                <a:cs typeface="+mn-cs"/>
              </a:rPr>
              <a:t>T</a:t>
            </a:r>
            <a:r>
              <a:rPr lang="en-PH" sz="1200" kern="1200" dirty="0">
                <a:solidFill>
                  <a:schemeClr val="tx1"/>
                </a:solidFill>
                <a:effectLst/>
                <a:latin typeface="+mn-lt"/>
                <a:ea typeface="+mn-ea"/>
                <a:cs typeface="+mn-cs"/>
              </a:rPr>
              <a:t>ranslate the Problem into an equation in an object, picture or mathematical form; 3) </a:t>
            </a:r>
            <a:r>
              <a:rPr lang="en-PH" sz="1200" b="1" kern="1200" dirty="0">
                <a:solidFill>
                  <a:schemeClr val="tx1"/>
                </a:solidFill>
                <a:effectLst/>
                <a:latin typeface="+mn-lt"/>
                <a:ea typeface="+mn-ea"/>
                <a:cs typeface="+mn-cs"/>
              </a:rPr>
              <a:t>A</a:t>
            </a:r>
            <a:r>
              <a:rPr lang="en-PH" sz="1200" kern="1200" dirty="0">
                <a:solidFill>
                  <a:schemeClr val="tx1"/>
                </a:solidFill>
                <a:effectLst/>
                <a:latin typeface="+mn-lt"/>
                <a:ea typeface="+mn-ea"/>
                <a:cs typeface="+mn-cs"/>
              </a:rPr>
              <a:t>nswer the problem; 4) </a:t>
            </a:r>
            <a:r>
              <a:rPr lang="en-PH" sz="1200" b="1" kern="1200" dirty="0">
                <a:solidFill>
                  <a:schemeClr val="tx1"/>
                </a:solidFill>
                <a:effectLst/>
                <a:latin typeface="+mn-lt"/>
                <a:ea typeface="+mn-ea"/>
                <a:cs typeface="+mn-cs"/>
              </a:rPr>
              <a:t>R</a:t>
            </a:r>
            <a:r>
              <a:rPr lang="en-PH" sz="1200" kern="1200" dirty="0">
                <a:solidFill>
                  <a:schemeClr val="tx1"/>
                </a:solidFill>
                <a:effectLst/>
                <a:latin typeface="+mn-lt"/>
                <a:ea typeface="+mn-ea"/>
                <a:cs typeface="+mn-cs"/>
              </a:rPr>
              <a:t>eview the solution.</a:t>
            </a:r>
            <a:endParaRPr lang="en-PH" dirty="0"/>
          </a:p>
        </p:txBody>
      </p:sp>
      <p:sp>
        <p:nvSpPr>
          <p:cNvPr id="4" name="Slide Number Placeholder 3">
            <a:extLst>
              <a:ext uri="{FF2B5EF4-FFF2-40B4-BE49-F238E27FC236}">
                <a16:creationId xmlns:a16="http://schemas.microsoft.com/office/drawing/2014/main" id="{9A245A5C-519E-FDD2-0BFA-1DD0E5AC5897}"/>
              </a:ext>
            </a:extLst>
          </p:cNvPr>
          <p:cNvSpPr>
            <a:spLocks noGrp="1"/>
          </p:cNvSpPr>
          <p:nvPr>
            <p:ph type="sldNum" sz="quarter" idx="10"/>
          </p:nvPr>
        </p:nvSpPr>
        <p:spPr/>
        <p:txBody>
          <a:bodyPr/>
          <a:lstStyle/>
          <a:p>
            <a:fld id="{78FEE717-1E34-4BCF-9192-FBE5ADBC6A49}" type="slidenum">
              <a:rPr lang="en-PH" smtClean="0"/>
              <a:t>11</a:t>
            </a:fld>
            <a:endParaRPr lang="en-PH"/>
          </a:p>
        </p:txBody>
      </p:sp>
    </p:spTree>
    <p:extLst>
      <p:ext uri="{BB962C8B-B14F-4D97-AF65-F5344CB8AC3E}">
        <p14:creationId xmlns:p14="http://schemas.microsoft.com/office/powerpoint/2010/main" val="2335939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F301D-2C51-5717-BCBC-FD02978FE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E52F65-F834-9E9B-E4B1-3597D08361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A487EE-72E4-C2E3-6695-EB26A06E7104}"/>
              </a:ext>
            </a:extLst>
          </p:cNvPr>
          <p:cNvSpPr>
            <a:spLocks noGrp="1"/>
          </p:cNvSpPr>
          <p:nvPr>
            <p:ph type="body" idx="1"/>
          </p:nvPr>
        </p:nvSpPr>
        <p:spPr/>
        <p:txBody>
          <a:bodyPr/>
          <a:lstStyle/>
          <a:p>
            <a:pPr lvl="0"/>
            <a:r>
              <a:rPr lang="en-PH" sz="1200" b="1" kern="1200" dirty="0">
                <a:solidFill>
                  <a:schemeClr val="tx1"/>
                </a:solidFill>
                <a:effectLst/>
                <a:latin typeface="+mn-lt"/>
                <a:ea typeface="+mn-ea"/>
                <a:cs typeface="+mn-cs"/>
              </a:rPr>
              <a:t>Concrete-Representation-Abstract Strategy (CRA). </a:t>
            </a:r>
            <a:r>
              <a:rPr lang="en-PH" sz="1200" kern="1200" dirty="0">
                <a:solidFill>
                  <a:schemeClr val="tx1"/>
                </a:solidFill>
                <a:effectLst/>
                <a:latin typeface="+mn-lt"/>
                <a:ea typeface="+mn-ea"/>
                <a:cs typeface="+mn-cs"/>
              </a:rPr>
              <a:t>CRA is an instructional approach that is composed of three levels. First is the Concrete Level where the concepts are taught using a manipulative device to illustrate the concept and solve related problems. The second level is Representation. This involves the use of pictures, graphs or tallies to represent the concept being taught. Lastly is the Abstract level where the concept being taught will not use any device. In this level, the students will answer problems without manipulative devices or pictorial representations.</a:t>
            </a:r>
          </a:p>
          <a:p>
            <a:pPr lvl="0"/>
            <a:r>
              <a:rPr lang="en-PH" sz="1200" b="1" kern="1200" dirty="0">
                <a:solidFill>
                  <a:schemeClr val="tx1"/>
                </a:solidFill>
                <a:effectLst/>
                <a:latin typeface="+mn-lt"/>
                <a:ea typeface="+mn-ea"/>
                <a:cs typeface="+mn-cs"/>
              </a:rPr>
              <a:t>Constant Time Delay Approach (CTD). </a:t>
            </a:r>
            <a:r>
              <a:rPr lang="en-PH" sz="1200" kern="1200" dirty="0">
                <a:solidFill>
                  <a:schemeClr val="tx1"/>
                </a:solidFill>
                <a:effectLst/>
                <a:latin typeface="+mn-lt"/>
                <a:ea typeface="+mn-ea"/>
                <a:cs typeface="+mn-cs"/>
              </a:rPr>
              <a:t>This makes use materials used by the teacher in teaching facts that result in near-errorless answers by the students. It involves the following steps: 1) present stimulus (e.g. flash card) to the students; 2) wait for students' response for 3 to 5 seconds; if the student did not respond or gave an incorrect answer, 3) state the problem and the answer; 4) students repeat the question and the answer.</a:t>
            </a:r>
          </a:p>
          <a:p>
            <a:r>
              <a:rPr lang="en-PH" sz="1200" b="1" kern="1200" dirty="0">
                <a:solidFill>
                  <a:schemeClr val="tx1"/>
                </a:solidFill>
                <a:effectLst/>
                <a:latin typeface="+mn-lt"/>
                <a:ea typeface="+mn-ea"/>
                <a:cs typeface="+mn-cs"/>
              </a:rPr>
              <a:t>Problem-Solving Approach using the STAR method. </a:t>
            </a:r>
            <a:r>
              <a:rPr lang="en-PH" sz="1200" kern="1200" dirty="0">
                <a:solidFill>
                  <a:schemeClr val="tx1"/>
                </a:solidFill>
                <a:effectLst/>
                <a:latin typeface="+mn-lt"/>
                <a:ea typeface="+mn-ea"/>
                <a:cs typeface="+mn-cs"/>
              </a:rPr>
              <a:t>In order for the students to be able to enhance their computing skills, the problem-solving strategy is used in this guide. This approach utilizes the STAR method, an acronym for the four-step problem-solving method. These steps are: 1) </a:t>
            </a:r>
            <a:r>
              <a:rPr lang="en-PH" sz="1200" b="1" kern="1200" dirty="0">
                <a:solidFill>
                  <a:schemeClr val="tx1"/>
                </a:solidFill>
                <a:effectLst/>
                <a:latin typeface="+mn-lt"/>
                <a:ea typeface="+mn-ea"/>
                <a:cs typeface="+mn-cs"/>
              </a:rPr>
              <a:t>S</a:t>
            </a:r>
            <a:r>
              <a:rPr lang="en-PH" sz="1200" kern="1200" dirty="0">
                <a:solidFill>
                  <a:schemeClr val="tx1"/>
                </a:solidFill>
                <a:effectLst/>
                <a:latin typeface="+mn-lt"/>
                <a:ea typeface="+mn-ea"/>
                <a:cs typeface="+mn-cs"/>
              </a:rPr>
              <a:t>earch the Problem; 2) </a:t>
            </a:r>
            <a:r>
              <a:rPr lang="en-PH" sz="1200" b="1" kern="1200" dirty="0">
                <a:solidFill>
                  <a:schemeClr val="tx1"/>
                </a:solidFill>
                <a:effectLst/>
                <a:latin typeface="+mn-lt"/>
                <a:ea typeface="+mn-ea"/>
                <a:cs typeface="+mn-cs"/>
              </a:rPr>
              <a:t>T</a:t>
            </a:r>
            <a:r>
              <a:rPr lang="en-PH" sz="1200" kern="1200" dirty="0">
                <a:solidFill>
                  <a:schemeClr val="tx1"/>
                </a:solidFill>
                <a:effectLst/>
                <a:latin typeface="+mn-lt"/>
                <a:ea typeface="+mn-ea"/>
                <a:cs typeface="+mn-cs"/>
              </a:rPr>
              <a:t>ranslate the Problem into an equation in an object, picture or mathematical form; 3) </a:t>
            </a:r>
            <a:r>
              <a:rPr lang="en-PH" sz="1200" b="1" kern="1200" dirty="0">
                <a:solidFill>
                  <a:schemeClr val="tx1"/>
                </a:solidFill>
                <a:effectLst/>
                <a:latin typeface="+mn-lt"/>
                <a:ea typeface="+mn-ea"/>
                <a:cs typeface="+mn-cs"/>
              </a:rPr>
              <a:t>A</a:t>
            </a:r>
            <a:r>
              <a:rPr lang="en-PH" sz="1200" kern="1200" dirty="0">
                <a:solidFill>
                  <a:schemeClr val="tx1"/>
                </a:solidFill>
                <a:effectLst/>
                <a:latin typeface="+mn-lt"/>
                <a:ea typeface="+mn-ea"/>
                <a:cs typeface="+mn-cs"/>
              </a:rPr>
              <a:t>nswer the problem; 4) </a:t>
            </a:r>
            <a:r>
              <a:rPr lang="en-PH" sz="1200" b="1" kern="1200" dirty="0">
                <a:solidFill>
                  <a:schemeClr val="tx1"/>
                </a:solidFill>
                <a:effectLst/>
                <a:latin typeface="+mn-lt"/>
                <a:ea typeface="+mn-ea"/>
                <a:cs typeface="+mn-cs"/>
              </a:rPr>
              <a:t>R</a:t>
            </a:r>
            <a:r>
              <a:rPr lang="en-PH" sz="1200" kern="1200" dirty="0">
                <a:solidFill>
                  <a:schemeClr val="tx1"/>
                </a:solidFill>
                <a:effectLst/>
                <a:latin typeface="+mn-lt"/>
                <a:ea typeface="+mn-ea"/>
                <a:cs typeface="+mn-cs"/>
              </a:rPr>
              <a:t>eview the solution.</a:t>
            </a:r>
            <a:endParaRPr lang="en-PH" dirty="0"/>
          </a:p>
        </p:txBody>
      </p:sp>
      <p:sp>
        <p:nvSpPr>
          <p:cNvPr id="4" name="Slide Number Placeholder 3">
            <a:extLst>
              <a:ext uri="{FF2B5EF4-FFF2-40B4-BE49-F238E27FC236}">
                <a16:creationId xmlns:a16="http://schemas.microsoft.com/office/drawing/2014/main" id="{5A593008-402F-3788-DD5E-5664E18F6CA5}"/>
              </a:ext>
            </a:extLst>
          </p:cNvPr>
          <p:cNvSpPr>
            <a:spLocks noGrp="1"/>
          </p:cNvSpPr>
          <p:nvPr>
            <p:ph type="sldNum" sz="quarter" idx="10"/>
          </p:nvPr>
        </p:nvSpPr>
        <p:spPr/>
        <p:txBody>
          <a:bodyPr/>
          <a:lstStyle/>
          <a:p>
            <a:fld id="{78FEE717-1E34-4BCF-9192-FBE5ADBC6A49}" type="slidenum">
              <a:rPr lang="en-PH" smtClean="0"/>
              <a:t>12</a:t>
            </a:fld>
            <a:endParaRPr lang="en-PH"/>
          </a:p>
        </p:txBody>
      </p:sp>
    </p:spTree>
    <p:extLst>
      <p:ext uri="{BB962C8B-B14F-4D97-AF65-F5344CB8AC3E}">
        <p14:creationId xmlns:p14="http://schemas.microsoft.com/office/powerpoint/2010/main" val="2444283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PH" sz="1200" b="1" kern="1200" dirty="0">
                <a:solidFill>
                  <a:schemeClr val="tx1"/>
                </a:solidFill>
                <a:effectLst/>
                <a:latin typeface="+mn-lt"/>
                <a:ea typeface="+mn-ea"/>
                <a:cs typeface="+mn-cs"/>
              </a:rPr>
              <a:t>Concrete-Representation-Abstract Strategy (CRA). </a:t>
            </a:r>
            <a:r>
              <a:rPr lang="en-PH" sz="1200" kern="1200" dirty="0">
                <a:solidFill>
                  <a:schemeClr val="tx1"/>
                </a:solidFill>
                <a:effectLst/>
                <a:latin typeface="+mn-lt"/>
                <a:ea typeface="+mn-ea"/>
                <a:cs typeface="+mn-cs"/>
              </a:rPr>
              <a:t>CRA is an instructional approach that is composed of three levels. First is the Concrete Level where the concepts are taught using a manipulative device to illustrate the concept and solve related problems. The second level is Representation. This involves the use of pictures, graphs or tallies to represent the concept being taught. Lastly is the Abstract level where the concept being taught will not use any device. In this level, the students will answer problems without manipulative devices or pictorial representations.</a:t>
            </a:r>
          </a:p>
          <a:p>
            <a:pPr lvl="0"/>
            <a:r>
              <a:rPr lang="en-PH" sz="1200" b="1" kern="1200" dirty="0">
                <a:solidFill>
                  <a:schemeClr val="tx1"/>
                </a:solidFill>
                <a:effectLst/>
                <a:latin typeface="+mn-lt"/>
                <a:ea typeface="+mn-ea"/>
                <a:cs typeface="+mn-cs"/>
              </a:rPr>
              <a:t>Constant Time Delay Approach (CTD). </a:t>
            </a:r>
            <a:r>
              <a:rPr lang="en-PH" sz="1200" kern="1200" dirty="0">
                <a:solidFill>
                  <a:schemeClr val="tx1"/>
                </a:solidFill>
                <a:effectLst/>
                <a:latin typeface="+mn-lt"/>
                <a:ea typeface="+mn-ea"/>
                <a:cs typeface="+mn-cs"/>
              </a:rPr>
              <a:t>This makes use materials used by the teacher in teaching facts that result in near-errorless answers by the students. It involves the following steps: 1) present stimulus (e.g. flash card) to the students; 2) wait for students' response for 3 to 5 seconds; if the student did not respond or gave an incorrect answer, 3) state the problem and the answer; 4) students repeat the question and the answer.</a:t>
            </a:r>
          </a:p>
          <a:p>
            <a:r>
              <a:rPr lang="en-PH" sz="1200" b="1" kern="1200" dirty="0">
                <a:solidFill>
                  <a:schemeClr val="tx1"/>
                </a:solidFill>
                <a:effectLst/>
                <a:latin typeface="+mn-lt"/>
                <a:ea typeface="+mn-ea"/>
                <a:cs typeface="+mn-cs"/>
              </a:rPr>
              <a:t>Problem-Solving Approach using the STAR method. </a:t>
            </a:r>
            <a:r>
              <a:rPr lang="en-PH" sz="1200" kern="1200" dirty="0">
                <a:solidFill>
                  <a:schemeClr val="tx1"/>
                </a:solidFill>
                <a:effectLst/>
                <a:latin typeface="+mn-lt"/>
                <a:ea typeface="+mn-ea"/>
                <a:cs typeface="+mn-cs"/>
              </a:rPr>
              <a:t>In order for the students to be able to enhance their computing skills, the problem-solving strategy is used in this guide. This approach utilizes the STAR method, an acronym for the four-step problem-solving method. These steps are: 1) </a:t>
            </a:r>
            <a:r>
              <a:rPr lang="en-PH" sz="1200" b="1" kern="1200" dirty="0">
                <a:solidFill>
                  <a:schemeClr val="tx1"/>
                </a:solidFill>
                <a:effectLst/>
                <a:latin typeface="+mn-lt"/>
                <a:ea typeface="+mn-ea"/>
                <a:cs typeface="+mn-cs"/>
              </a:rPr>
              <a:t>S</a:t>
            </a:r>
            <a:r>
              <a:rPr lang="en-PH" sz="1200" kern="1200" dirty="0">
                <a:solidFill>
                  <a:schemeClr val="tx1"/>
                </a:solidFill>
                <a:effectLst/>
                <a:latin typeface="+mn-lt"/>
                <a:ea typeface="+mn-ea"/>
                <a:cs typeface="+mn-cs"/>
              </a:rPr>
              <a:t>earch the Problem; 2) </a:t>
            </a:r>
            <a:r>
              <a:rPr lang="en-PH" sz="1200" b="1" kern="1200" dirty="0">
                <a:solidFill>
                  <a:schemeClr val="tx1"/>
                </a:solidFill>
                <a:effectLst/>
                <a:latin typeface="+mn-lt"/>
                <a:ea typeface="+mn-ea"/>
                <a:cs typeface="+mn-cs"/>
              </a:rPr>
              <a:t>T</a:t>
            </a:r>
            <a:r>
              <a:rPr lang="en-PH" sz="1200" kern="1200" dirty="0">
                <a:solidFill>
                  <a:schemeClr val="tx1"/>
                </a:solidFill>
                <a:effectLst/>
                <a:latin typeface="+mn-lt"/>
                <a:ea typeface="+mn-ea"/>
                <a:cs typeface="+mn-cs"/>
              </a:rPr>
              <a:t>ranslate the Problem into an equation in an object, picture or mathematical form; 3) </a:t>
            </a:r>
            <a:r>
              <a:rPr lang="en-PH" sz="1200" b="1" kern="1200" dirty="0">
                <a:solidFill>
                  <a:schemeClr val="tx1"/>
                </a:solidFill>
                <a:effectLst/>
                <a:latin typeface="+mn-lt"/>
                <a:ea typeface="+mn-ea"/>
                <a:cs typeface="+mn-cs"/>
              </a:rPr>
              <a:t>A</a:t>
            </a:r>
            <a:r>
              <a:rPr lang="en-PH" sz="1200" kern="1200" dirty="0">
                <a:solidFill>
                  <a:schemeClr val="tx1"/>
                </a:solidFill>
                <a:effectLst/>
                <a:latin typeface="+mn-lt"/>
                <a:ea typeface="+mn-ea"/>
                <a:cs typeface="+mn-cs"/>
              </a:rPr>
              <a:t>nswer the problem; 4) </a:t>
            </a:r>
            <a:r>
              <a:rPr lang="en-PH" sz="1200" b="1" kern="1200" dirty="0">
                <a:solidFill>
                  <a:schemeClr val="tx1"/>
                </a:solidFill>
                <a:effectLst/>
                <a:latin typeface="+mn-lt"/>
                <a:ea typeface="+mn-ea"/>
                <a:cs typeface="+mn-cs"/>
              </a:rPr>
              <a:t>R</a:t>
            </a:r>
            <a:r>
              <a:rPr lang="en-PH" sz="1200" kern="1200" dirty="0">
                <a:solidFill>
                  <a:schemeClr val="tx1"/>
                </a:solidFill>
                <a:effectLst/>
                <a:latin typeface="+mn-lt"/>
                <a:ea typeface="+mn-ea"/>
                <a:cs typeface="+mn-cs"/>
              </a:rPr>
              <a:t>eview the solution.</a:t>
            </a:r>
            <a:endParaRPr lang="en-PH" dirty="0"/>
          </a:p>
        </p:txBody>
      </p:sp>
      <p:sp>
        <p:nvSpPr>
          <p:cNvPr id="4" name="Slide Number Placeholder 3"/>
          <p:cNvSpPr>
            <a:spLocks noGrp="1"/>
          </p:cNvSpPr>
          <p:nvPr>
            <p:ph type="sldNum" sz="quarter" idx="10"/>
          </p:nvPr>
        </p:nvSpPr>
        <p:spPr/>
        <p:txBody>
          <a:bodyPr/>
          <a:lstStyle/>
          <a:p>
            <a:fld id="{78FEE717-1E34-4BCF-9192-FBE5ADBC6A49}" type="slidenum">
              <a:rPr lang="en-PH" smtClean="0"/>
              <a:t>13</a:t>
            </a:fld>
            <a:endParaRPr lang="en-PH"/>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p:cNvSpPr>
            <a:spLocks noGrp="1"/>
          </p:cNvSpPr>
          <p:nvPr>
            <p:ph type="dt" sz="half" idx="10"/>
          </p:nvPr>
        </p:nvSpPr>
        <p:spPr/>
        <p:txBody>
          <a:bodyPr/>
          <a:lstStyle/>
          <a:p>
            <a:fld id="{FCE478B0-C01F-4F47-B530-020B0E4C64E1}" type="datetimeFigureOut">
              <a:rPr lang="en-PH" smtClean="0"/>
              <a:t>1/6/2026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684750FF-EB1B-451F-B772-199AF5279326}" type="slidenum">
              <a:rPr lang="en-PH" smtClean="0"/>
              <a:t>‹#›</a:t>
            </a:fld>
            <a:endParaRPr lang="en-PH"/>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FCE478B0-C01F-4F47-B530-020B0E4C64E1}" type="datetimeFigureOut">
              <a:rPr lang="en-PH" smtClean="0"/>
              <a:t>1/6/2026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684750FF-EB1B-451F-B772-199AF5279326}" type="slidenum">
              <a:rPr lang="en-PH" smtClean="0"/>
              <a:t>‹#›</a:t>
            </a:fld>
            <a:endParaRPr lang="en-PH"/>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E478B0-C01F-4F47-B530-020B0E4C64E1}" type="datetimeFigureOut">
              <a:rPr lang="en-PH" smtClean="0"/>
              <a:t>1/6/2026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684750FF-EB1B-451F-B772-199AF5279326}" type="slidenum">
              <a:rPr lang="en-PH" smtClean="0"/>
              <a:t>‹#›</a:t>
            </a:fld>
            <a:endParaRPr lang="en-PH"/>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p:txBody>
          <a:bodyPr/>
          <a:lstStyle/>
          <a:p>
            <a:fld id="{FCE478B0-C01F-4F47-B530-020B0E4C64E1}" type="datetimeFigureOut">
              <a:rPr lang="en-PH" smtClean="0"/>
              <a:t>1/6/2026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684750FF-EB1B-451F-B772-199AF5279326}" type="slidenum">
              <a:rPr lang="en-PH" smtClean="0"/>
              <a:t>‹#›</a:t>
            </a:fld>
            <a:endParaRPr lang="en-PH"/>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p:txBody>
          <a:bodyPr/>
          <a:lstStyle/>
          <a:p>
            <a:fld id="{FCE478B0-C01F-4F47-B530-020B0E4C64E1}" type="datetimeFigureOut">
              <a:rPr lang="en-PH" smtClean="0"/>
              <a:t>1/6/2026</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684750FF-EB1B-451F-B772-199AF5279326}" type="slidenum">
              <a:rPr lang="en-PH" smtClean="0"/>
              <a:t>‹#›</a:t>
            </a:fld>
            <a:endParaRPr lang="en-PH"/>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Date Placeholder 2"/>
          <p:cNvSpPr>
            <a:spLocks noGrp="1"/>
          </p:cNvSpPr>
          <p:nvPr>
            <p:ph type="dt" sz="half" idx="10"/>
          </p:nvPr>
        </p:nvSpPr>
        <p:spPr/>
        <p:txBody>
          <a:bodyPr/>
          <a:lstStyle/>
          <a:p>
            <a:fld id="{FCE478B0-C01F-4F47-B530-020B0E4C64E1}" type="datetimeFigureOut">
              <a:rPr lang="en-PH" smtClean="0"/>
              <a:t>1/6/2026</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684750FF-EB1B-451F-B772-199AF5279326}" type="slidenum">
              <a:rPr lang="en-PH" smtClean="0"/>
              <a:t>‹#›</a:t>
            </a:fld>
            <a:endParaRPr lang="en-PH"/>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E478B0-C01F-4F47-B530-020B0E4C64E1}" type="datetimeFigureOut">
              <a:rPr lang="en-PH" smtClean="0"/>
              <a:t>1/6/2026</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684750FF-EB1B-451F-B772-199AF5279326}" type="slidenum">
              <a:rPr lang="en-PH" smtClean="0"/>
              <a:t>‹#›</a:t>
            </a:fld>
            <a:endParaRPr lang="en-PH"/>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E478B0-C01F-4F47-B530-020B0E4C64E1}" type="datetimeFigureOut">
              <a:rPr lang="en-PH" smtClean="0"/>
              <a:t>1/6/2026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684750FF-EB1B-451F-B772-199AF5279326}" type="slidenum">
              <a:rPr lang="en-PH" smtClean="0"/>
              <a:t>‹#›</a:t>
            </a:fld>
            <a:endParaRPr lang="en-PH"/>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E478B0-C01F-4F47-B530-020B0E4C64E1}" type="datetimeFigureOut">
              <a:rPr lang="en-PH" smtClean="0"/>
              <a:t>1/6/2026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684750FF-EB1B-451F-B772-199AF5279326}" type="slidenum">
              <a:rPr lang="en-PH" smtClean="0"/>
              <a:t>‹#›</a:t>
            </a:fld>
            <a:endParaRPr lang="en-PH"/>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FCE478B0-C01F-4F47-B530-020B0E4C64E1}" type="datetimeFigureOut">
              <a:rPr lang="en-PH" smtClean="0"/>
              <a:t>1/6/2026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684750FF-EB1B-451F-B772-199AF5279326}" type="slidenum">
              <a:rPr lang="en-PH" smtClean="0"/>
              <a:t>‹#›</a:t>
            </a:fld>
            <a:endParaRPr lang="en-PH"/>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FCE478B0-C01F-4F47-B530-020B0E4C64E1}" type="datetimeFigureOut">
              <a:rPr lang="en-PH" smtClean="0"/>
              <a:t>1/6/2026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684750FF-EB1B-451F-B772-199AF5279326}" type="slidenum">
              <a:rPr lang="en-PH" smtClean="0"/>
              <a:t>‹#›</a:t>
            </a:fld>
            <a:endParaRPr lang="en-PH"/>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F0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E478B0-C01F-4F47-B530-020B0E4C64E1}" type="datetimeFigureOut">
              <a:rPr lang="en-PH" smtClean="0"/>
              <a:t>1/6/2026</a:t>
            </a:fld>
            <a:endParaRPr lang="en-P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4750FF-EB1B-451F-B772-199AF5279326}" type="slidenum">
              <a:rPr lang="en-PH" smtClean="0"/>
              <a:t>‹#›</a:t>
            </a:fld>
            <a:endParaRPr lang="en-PH"/>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4.png"/><Relationship Id="rId10" Type="http://schemas.microsoft.com/office/2007/relationships/hdphoto" Target="../media/hdphoto2.wdp"/><Relationship Id="rId4" Type="http://schemas.openxmlformats.org/officeDocument/2006/relationships/image" Target="../media/image3.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1.xml"/><Relationship Id="rId4" Type="http://schemas.openxmlformats.org/officeDocument/2006/relationships/image" Target="../media/image19.jpg"/></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1.xml"/><Relationship Id="rId5" Type="http://schemas.openxmlformats.org/officeDocument/2006/relationships/image" Target="../media/image23.jpeg"/><Relationship Id="rId4" Type="http://schemas.openxmlformats.org/officeDocument/2006/relationships/image" Target="../media/image22.jp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1.xml"/><Relationship Id="rId5" Type="http://schemas.openxmlformats.org/officeDocument/2006/relationships/image" Target="../media/image35.jpg"/><Relationship Id="rId4" Type="http://schemas.openxmlformats.org/officeDocument/2006/relationships/image" Target="../media/image34.jpg"/></Relationships>
</file>

<file path=ppt/slides/_rels/slide24.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g"/><Relationship Id="rId1" Type="http://schemas.openxmlformats.org/officeDocument/2006/relationships/slideLayout" Target="../slideLayouts/slideLayout1.xml"/><Relationship Id="rId5" Type="http://schemas.openxmlformats.org/officeDocument/2006/relationships/image" Target="../media/image39.jpg"/><Relationship Id="rId4" Type="http://schemas.openxmlformats.org/officeDocument/2006/relationships/image" Target="../media/image38.jpg"/></Relationships>
</file>

<file path=ppt/slides/_rels/slide25.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1.xml"/><Relationship Id="rId5" Type="http://schemas.openxmlformats.org/officeDocument/2006/relationships/image" Target="../media/image43.jpg"/><Relationship Id="rId4" Type="http://schemas.openxmlformats.org/officeDocument/2006/relationships/image" Target="../media/image42.jpg"/></Relationships>
</file>

<file path=ppt/slides/_rels/slide2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1230581" y="1110392"/>
            <a:ext cx="9761317" cy="27177"/>
          </a:xfrm>
          <a:prstGeom prst="line">
            <a:avLst/>
          </a:prstGeom>
          <a:ln w="107950">
            <a:solidFill>
              <a:srgbClr val="29613F"/>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0" y="4328932"/>
            <a:ext cx="12192000" cy="2529068"/>
          </a:xfrm>
          <a:prstGeom prst="rect">
            <a:avLst/>
          </a:prstGeom>
          <a:solidFill>
            <a:srgbClr val="2961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9" name="Rectangle 8"/>
          <p:cNvSpPr/>
          <p:nvPr/>
        </p:nvSpPr>
        <p:spPr>
          <a:xfrm>
            <a:off x="1537310" y="1241437"/>
            <a:ext cx="9454588" cy="2430145"/>
          </a:xfrm>
          <a:prstGeom prst="rect">
            <a:avLst/>
          </a:prstGeom>
        </p:spPr>
        <p:txBody>
          <a:bodyPr wrap="square">
            <a:spAutoFit/>
          </a:bodyPr>
          <a:lstStyle/>
          <a:p>
            <a:pPr algn="ctr"/>
            <a:r>
              <a:rPr lang="en-US" altLang="en-US" sz="3800" b="1" dirty="0">
                <a:latin typeface="Century Gothic" panose="020B0502020202020204" pitchFamily="34" charset="0"/>
                <a:sym typeface="+mn-ea"/>
              </a:rPr>
              <a:t>QUIEAZY: FUN, EASY TO USE, LIVE INTERNETLESS</a:t>
            </a:r>
            <a:endParaRPr lang="en-US" altLang="en-US" sz="3800" b="1" dirty="0">
              <a:latin typeface="Century Gothic" panose="020B0502020202020204" pitchFamily="34" charset="0"/>
            </a:endParaRPr>
          </a:p>
          <a:p>
            <a:pPr algn="ctr"/>
            <a:r>
              <a:rPr lang="en-US" altLang="en-US" sz="3800" b="1" dirty="0">
                <a:latin typeface="Century Gothic" panose="020B0502020202020204" pitchFamily="34" charset="0"/>
                <a:sym typeface="+mn-ea"/>
              </a:rPr>
              <a:t>QUIZ APPLICATION</a:t>
            </a:r>
            <a:endParaRPr lang="en-US" altLang="en-US" sz="3800" b="1" dirty="0">
              <a:latin typeface="Century Gothic" panose="020B0502020202020204" pitchFamily="34" charset="0"/>
            </a:endParaRPr>
          </a:p>
          <a:p>
            <a:pPr algn="ctr"/>
            <a:endParaRPr lang="en-PH" sz="3800" b="1" dirty="0">
              <a:latin typeface="Century Gothic" panose="020B0502020202020204" pitchFamily="34" charset="0"/>
            </a:endParaRPr>
          </a:p>
        </p:txBody>
      </p:sp>
      <p:sp>
        <p:nvSpPr>
          <p:cNvPr id="16" name="Rectangle 15"/>
          <p:cNvSpPr/>
          <p:nvPr/>
        </p:nvSpPr>
        <p:spPr>
          <a:xfrm>
            <a:off x="2039073" y="4563846"/>
            <a:ext cx="8113854" cy="1814830"/>
          </a:xfrm>
          <a:prstGeom prst="rect">
            <a:avLst/>
          </a:prstGeom>
        </p:spPr>
        <p:txBody>
          <a:bodyPr wrap="square">
            <a:spAutoFit/>
          </a:bodyPr>
          <a:lstStyle/>
          <a:p>
            <a:pPr algn="ctr"/>
            <a:r>
              <a:rPr lang="en-US" altLang="en-US" sz="2800" b="1" dirty="0">
                <a:solidFill>
                  <a:schemeClr val="bg1"/>
                </a:solidFill>
                <a:latin typeface="Century Gothic" panose="020B0502020202020204" pitchFamily="34" charset="0"/>
                <a:sym typeface="+mn-ea"/>
              </a:rPr>
              <a:t>IVAN ALEX DELAS ALAS RECINTO</a:t>
            </a:r>
            <a:endParaRPr lang="en-US" altLang="en-US" sz="2800" b="1" dirty="0">
              <a:solidFill>
                <a:schemeClr val="bg1"/>
              </a:solidFill>
              <a:latin typeface="Century Gothic" panose="020B0502020202020204" pitchFamily="34" charset="0"/>
            </a:endParaRPr>
          </a:p>
          <a:p>
            <a:pPr algn="ctr"/>
            <a:r>
              <a:rPr lang="en-US" altLang="en-US" sz="2800" b="1" dirty="0">
                <a:solidFill>
                  <a:schemeClr val="bg1"/>
                </a:solidFill>
                <a:latin typeface="Century Gothic" panose="020B0502020202020204" pitchFamily="34" charset="0"/>
                <a:sym typeface="+mn-ea"/>
              </a:rPr>
              <a:t>MARC PHILIP ARMADA LANDICHO</a:t>
            </a:r>
            <a:endParaRPr lang="en-US" altLang="en-US" sz="2800" b="1" dirty="0">
              <a:solidFill>
                <a:schemeClr val="bg1"/>
              </a:solidFill>
              <a:latin typeface="Century Gothic" panose="020B0502020202020204" pitchFamily="34" charset="0"/>
            </a:endParaRPr>
          </a:p>
          <a:p>
            <a:pPr algn="ctr"/>
            <a:r>
              <a:rPr lang="en-US" altLang="en-US" sz="2800" b="1" dirty="0">
                <a:solidFill>
                  <a:schemeClr val="bg1"/>
                </a:solidFill>
                <a:latin typeface="Century Gothic" panose="020B0502020202020204" pitchFamily="34" charset="0"/>
                <a:sym typeface="+mn-ea"/>
              </a:rPr>
              <a:t>RIANER JUSTIN OSTAN NAMUCO</a:t>
            </a:r>
            <a:endParaRPr lang="en-US" altLang="en-US" sz="2800" b="1" dirty="0">
              <a:solidFill>
                <a:schemeClr val="bg1"/>
              </a:solidFill>
              <a:latin typeface="Century Gothic" panose="020B0502020202020204" pitchFamily="34" charset="0"/>
            </a:endParaRPr>
          </a:p>
          <a:p>
            <a:pPr algn="ctr"/>
            <a:r>
              <a:rPr lang="en-US" altLang="en-US" sz="2800" b="1" dirty="0">
                <a:solidFill>
                  <a:schemeClr val="bg1"/>
                </a:solidFill>
                <a:latin typeface="Century Gothic" panose="020B0502020202020204" pitchFamily="34" charset="0"/>
                <a:sym typeface="+mn-ea"/>
              </a:rPr>
              <a:t>ZCHERHEINE AGUADO TORREFRANCA</a:t>
            </a:r>
            <a:endParaRPr lang="en-PH" sz="2800" b="1" dirty="0">
              <a:solidFill>
                <a:schemeClr val="bg1"/>
              </a:solidFill>
              <a:latin typeface="Century Gothic" panose="020B0502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 Same Side Corner Rectangle 4"/>
          <p:cNvSpPr/>
          <p:nvPr/>
        </p:nvSpPr>
        <p:spPr>
          <a:xfrm rot="10800000">
            <a:off x="694480" y="2037143"/>
            <a:ext cx="10842199" cy="4139817"/>
          </a:xfrm>
          <a:prstGeom prst="round2Same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Content Placeholder 2"/>
          <p:cNvSpPr>
            <a:spLocks noGrp="1"/>
          </p:cNvSpPr>
          <p:nvPr>
            <p:ph idx="1"/>
          </p:nvPr>
        </p:nvSpPr>
        <p:spPr>
          <a:xfrm>
            <a:off x="857777" y="2309210"/>
            <a:ext cx="10515600" cy="4351338"/>
          </a:xfrm>
        </p:spPr>
        <p:txBody>
          <a:bodyPr>
            <a:normAutofit/>
          </a:bodyPr>
          <a:lstStyle/>
          <a:p>
            <a:pPr marL="0" indent="0" algn="ctr">
              <a:buNone/>
            </a:pPr>
            <a:r>
              <a:rPr lang="en-US" altLang="en-PH" sz="4800" b="1" dirty="0">
                <a:latin typeface="Arial" panose="020B0604020202020204" pitchFamily="34" charset="0"/>
                <a:cs typeface="Arial" panose="020B0604020202020204" pitchFamily="34" charset="0"/>
                <a:sym typeface="+mn-ea"/>
              </a:rPr>
              <a:t>This study aims to evaluate the creation of an alternative fun,and easy to use quiz maker application that can run offline live.</a:t>
            </a:r>
            <a:endParaRPr lang="en-US" altLang="en-PH" sz="4800" b="1" dirty="0">
              <a:latin typeface="Arial" panose="020B0604020202020204" pitchFamily="34" charset="0"/>
              <a:cs typeface="Arial" panose="020B0604020202020204" pitchFamily="34" charset="0"/>
            </a:endParaRPr>
          </a:p>
          <a:p>
            <a:pPr marL="0" indent="0" algn="ctr">
              <a:buNone/>
            </a:pPr>
            <a:endParaRPr lang="en-PH" sz="4800" b="1" dirty="0">
              <a:latin typeface="Century Gothic" panose="020B0502020202020204" pitchFamily="34" charset="0"/>
            </a:endParaRPr>
          </a:p>
        </p:txBody>
      </p:sp>
      <p:sp>
        <p:nvSpPr>
          <p:cNvPr id="4" name="Round Same Side Corner Rectangle 3"/>
          <p:cNvSpPr/>
          <p:nvPr/>
        </p:nvSpPr>
        <p:spPr>
          <a:xfrm>
            <a:off x="694478" y="609600"/>
            <a:ext cx="10842199" cy="1427542"/>
          </a:xfrm>
          <a:prstGeom prst="round2SameRect">
            <a:avLst/>
          </a:prstGeom>
          <a:solidFill>
            <a:srgbClr val="481F6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Content Placeholder 2"/>
          <p:cNvSpPr txBox="1"/>
          <p:nvPr/>
        </p:nvSpPr>
        <p:spPr>
          <a:xfrm>
            <a:off x="1695640" y="1031076"/>
            <a:ext cx="8839877" cy="7438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PH" sz="4000" b="1" dirty="0">
                <a:solidFill>
                  <a:schemeClr val="bg1"/>
                </a:solidFill>
                <a:latin typeface="Century Gothic" panose="020B0502020202020204" pitchFamily="34" charset="0"/>
              </a:rPr>
              <a:t>GENERAL PROBLEM OF THE STUDY</a:t>
            </a:r>
          </a:p>
        </p:txBody>
      </p:sp>
      <p:pic>
        <p:nvPicPr>
          <p:cNvPr id="3074" name="Picture 2" descr="See the source image"/>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72477" y="959950"/>
            <a:ext cx="770399" cy="77039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See the source image"/>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10382443" y="959950"/>
            <a:ext cx="770399" cy="7703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650602" y="740781"/>
            <a:ext cx="4861367" cy="5127584"/>
            <a:chOff x="-2650602" y="740781"/>
            <a:chExt cx="4861367" cy="5127584"/>
          </a:xfrm>
        </p:grpSpPr>
        <p:sp>
          <p:nvSpPr>
            <p:cNvPr id="7" name="Oval 6"/>
            <p:cNvSpPr/>
            <p:nvPr/>
          </p:nvSpPr>
          <p:spPr>
            <a:xfrm>
              <a:off x="-2650602" y="740781"/>
              <a:ext cx="4861367" cy="5127584"/>
            </a:xfrm>
            <a:prstGeom prst="ellipse">
              <a:avLst/>
            </a:prstGeom>
            <a:solidFill>
              <a:srgbClr val="3429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rgbClr val="342961"/>
                </a:solidFill>
              </a:endParaRPr>
            </a:p>
          </p:txBody>
        </p:sp>
        <p:sp>
          <p:nvSpPr>
            <p:cNvPr id="8" name="TextBox 7"/>
            <p:cNvSpPr txBox="1"/>
            <p:nvPr/>
          </p:nvSpPr>
          <p:spPr>
            <a:xfrm>
              <a:off x="219920" y="1215342"/>
              <a:ext cx="1415772" cy="4178461"/>
            </a:xfrm>
            <a:prstGeom prst="rect">
              <a:avLst/>
            </a:prstGeom>
            <a:noFill/>
          </p:spPr>
          <p:txBody>
            <a:bodyPr vert="vert270" wrap="square" rtlCol="0">
              <a:spAutoFit/>
            </a:bodyPr>
            <a:lstStyle/>
            <a:p>
              <a:pPr algn="ctr"/>
              <a:r>
                <a:rPr lang="en-PH" sz="4000" dirty="0">
                  <a:latin typeface="Franklin Gothic Demi Cond" panose="020B0706030402020204" pitchFamily="34" charset="0"/>
                </a:rPr>
                <a:t>Statement of the Problem</a:t>
              </a:r>
            </a:p>
          </p:txBody>
        </p:sp>
      </p:grpSp>
      <p:sp>
        <p:nvSpPr>
          <p:cNvPr id="6" name="Block Arc 5">
            <a:extLst>
              <a:ext uri="{FF2B5EF4-FFF2-40B4-BE49-F238E27FC236}">
                <a16:creationId xmlns:a16="http://schemas.microsoft.com/office/drawing/2014/main" id="{0480320C-FC45-C6D9-24D7-75496842CB2E}"/>
              </a:ext>
            </a:extLst>
          </p:cNvPr>
          <p:cNvSpPr/>
          <p:nvPr/>
        </p:nvSpPr>
        <p:spPr>
          <a:xfrm>
            <a:off x="-6059347" y="-1184976"/>
            <a:ext cx="9227952" cy="9227952"/>
          </a:xfrm>
          <a:prstGeom prst="blockArc">
            <a:avLst>
              <a:gd name="adj1" fmla="val 18900000"/>
              <a:gd name="adj2" fmla="val 2700000"/>
              <a:gd name="adj3" fmla="val 234"/>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grpSp>
        <p:nvGrpSpPr>
          <p:cNvPr id="22" name="Group 21">
            <a:extLst>
              <a:ext uri="{FF2B5EF4-FFF2-40B4-BE49-F238E27FC236}">
                <a16:creationId xmlns:a16="http://schemas.microsoft.com/office/drawing/2014/main" id="{E8412FDD-7C72-432B-A19B-49E7D4F3432A}"/>
              </a:ext>
            </a:extLst>
          </p:cNvPr>
          <p:cNvGrpSpPr/>
          <p:nvPr/>
        </p:nvGrpSpPr>
        <p:grpSpPr>
          <a:xfrm>
            <a:off x="1643337" y="363962"/>
            <a:ext cx="10570295" cy="2015274"/>
            <a:chOff x="1643337" y="363962"/>
            <a:chExt cx="10570295" cy="2015274"/>
          </a:xfrm>
        </p:grpSpPr>
        <p:sp>
          <p:nvSpPr>
            <p:cNvPr id="13" name="Freeform: Shape 12">
              <a:extLst>
                <a:ext uri="{FF2B5EF4-FFF2-40B4-BE49-F238E27FC236}">
                  <a16:creationId xmlns:a16="http://schemas.microsoft.com/office/drawing/2014/main" id="{190C72A5-47AE-2386-3126-B9820906F481}"/>
                </a:ext>
              </a:extLst>
            </p:cNvPr>
            <p:cNvSpPr/>
            <p:nvPr/>
          </p:nvSpPr>
          <p:spPr>
            <a:xfrm>
              <a:off x="2643285" y="559290"/>
              <a:ext cx="9570347" cy="1540924"/>
            </a:xfrm>
            <a:custGeom>
              <a:avLst/>
              <a:gdLst>
                <a:gd name="csX0" fmla="*/ 0 w 9570347"/>
                <a:gd name="csY0" fmla="*/ 0 h 1540924"/>
                <a:gd name="csX1" fmla="*/ 9570347 w 9570347"/>
                <a:gd name="csY1" fmla="*/ 0 h 1540924"/>
                <a:gd name="csX2" fmla="*/ 9570347 w 9570347"/>
                <a:gd name="csY2" fmla="*/ 1540924 h 1540924"/>
                <a:gd name="csX3" fmla="*/ 0 w 9570347"/>
                <a:gd name="csY3" fmla="*/ 1540924 h 1540924"/>
                <a:gd name="csX4" fmla="*/ 0 w 9570347"/>
                <a:gd name="csY4" fmla="*/ 0 h 1540924"/>
              </a:gdLst>
              <a:ahLst/>
              <a:cxnLst>
                <a:cxn ang="0">
                  <a:pos x="csX0" y="csY0"/>
                </a:cxn>
                <a:cxn ang="0">
                  <a:pos x="csX1" y="csY1"/>
                </a:cxn>
                <a:cxn ang="0">
                  <a:pos x="csX2" y="csY2"/>
                </a:cxn>
                <a:cxn ang="0">
                  <a:pos x="csX3" y="csY3"/>
                </a:cxn>
                <a:cxn ang="0">
                  <a:pos x="csX4" y="csY4"/>
                </a:cxn>
              </a:cxnLst>
              <a:rect l="l" t="t" r="r" b="b"/>
              <a:pathLst>
                <a:path w="9570347" h="1540924">
                  <a:moveTo>
                    <a:pt x="0" y="0"/>
                  </a:moveTo>
                  <a:lnTo>
                    <a:pt x="9570347" y="0"/>
                  </a:lnTo>
                  <a:lnTo>
                    <a:pt x="9570347" y="1540924"/>
                  </a:lnTo>
                  <a:lnTo>
                    <a:pt x="0" y="1540924"/>
                  </a:lnTo>
                  <a:lnTo>
                    <a:pt x="0" y="0"/>
                  </a:lnTo>
                  <a:close/>
                </a:path>
              </a:pathLst>
            </a:custGeom>
            <a:solidFill>
              <a:srgbClr val="23729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088708" tIns="71120" rIns="71120" bIns="71120" numCol="1" spcCol="1270" anchor="ctr" anchorCtr="0">
              <a:noAutofit/>
            </a:bodyPr>
            <a:lstStyle/>
            <a:p>
              <a:pPr marL="0" lvl="0" indent="0" algn="l" defTabSz="1244600">
                <a:lnSpc>
                  <a:spcPct val="90000"/>
                </a:lnSpc>
                <a:spcBef>
                  <a:spcPct val="0"/>
                </a:spcBef>
                <a:spcAft>
                  <a:spcPct val="35000"/>
                </a:spcAft>
                <a:buFont typeface="+mj-lt"/>
                <a:buNone/>
              </a:pPr>
              <a:r>
                <a:rPr lang="en-US" sz="2800" b="1" kern="1200" dirty="0">
                  <a:solidFill>
                    <a:schemeClr val="tx1"/>
                  </a:solidFill>
                  <a:latin typeface="Century Gothic" panose="020B0502020202020204" pitchFamily="34" charset="0"/>
                </a:rPr>
                <a:t>What is the level of acceptability of the application to learners and educators with respect to: usability, design, and security?</a:t>
              </a:r>
              <a:endParaRPr lang="en-PH" sz="2800" b="1" kern="1200" dirty="0">
                <a:solidFill>
                  <a:schemeClr val="tx1"/>
                </a:solidFill>
                <a:latin typeface="Century Gothic" panose="020B0502020202020204" pitchFamily="34" charset="0"/>
              </a:endParaRPr>
            </a:p>
          </p:txBody>
        </p:sp>
        <p:sp>
          <p:nvSpPr>
            <p:cNvPr id="16" name="Oval 15">
              <a:extLst>
                <a:ext uri="{FF2B5EF4-FFF2-40B4-BE49-F238E27FC236}">
                  <a16:creationId xmlns:a16="http://schemas.microsoft.com/office/drawing/2014/main" id="{FD3FB0B1-0DBE-1F22-E927-2D31360491DC}"/>
                </a:ext>
              </a:extLst>
            </p:cNvPr>
            <p:cNvSpPr/>
            <p:nvPr/>
          </p:nvSpPr>
          <p:spPr>
            <a:xfrm>
              <a:off x="1643337" y="363962"/>
              <a:ext cx="1999895" cy="2015274"/>
            </a:xfrm>
            <a:prstGeom prst="ellipse">
              <a:avLst/>
            </a:prstGeom>
            <a:solidFill>
              <a:schemeClr val="bg1"/>
            </a:solidFill>
            <a:ln w="57150">
              <a:solidFill>
                <a:srgbClr val="237290"/>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4" name="TextBox 8"/>
            <p:cNvSpPr txBox="1"/>
            <p:nvPr/>
          </p:nvSpPr>
          <p:spPr>
            <a:xfrm>
              <a:off x="2250093" y="670398"/>
              <a:ext cx="1400536" cy="1323439"/>
            </a:xfrm>
            <a:prstGeom prst="rect">
              <a:avLst/>
            </a:prstGeom>
            <a:noFill/>
          </p:spPr>
          <p:txBody>
            <a:bodyPr wrap="square" rtlCol="0">
              <a:spAutoFit/>
            </a:bodyPr>
            <a:lstStyle/>
            <a:p>
              <a:pPr algn="just"/>
              <a:r>
                <a:rPr lang="en-PH" sz="8000" b="1" dirty="0">
                  <a:latin typeface="Century Gothic" panose="020B0502020202020204" pitchFamily="34" charset="0"/>
                </a:rPr>
                <a:t>1</a:t>
              </a:r>
            </a:p>
          </p:txBody>
        </p:sp>
      </p:grpSp>
      <p:grpSp>
        <p:nvGrpSpPr>
          <p:cNvPr id="23" name="Group 22">
            <a:extLst>
              <a:ext uri="{FF2B5EF4-FFF2-40B4-BE49-F238E27FC236}">
                <a16:creationId xmlns:a16="http://schemas.microsoft.com/office/drawing/2014/main" id="{ADAE9CF1-B05C-BFFE-4E72-D272D9C5C23E}"/>
              </a:ext>
            </a:extLst>
          </p:cNvPr>
          <p:cNvGrpSpPr/>
          <p:nvPr/>
        </p:nvGrpSpPr>
        <p:grpSpPr>
          <a:xfrm>
            <a:off x="2154378" y="2400488"/>
            <a:ext cx="10059253" cy="1973286"/>
            <a:chOff x="2154378" y="2400488"/>
            <a:chExt cx="10059253" cy="1973286"/>
          </a:xfrm>
        </p:grpSpPr>
        <p:sp>
          <p:nvSpPr>
            <p:cNvPr id="18" name="Freeform: Shape 17">
              <a:extLst>
                <a:ext uri="{FF2B5EF4-FFF2-40B4-BE49-F238E27FC236}">
                  <a16:creationId xmlns:a16="http://schemas.microsoft.com/office/drawing/2014/main" id="{987ABEE8-0C8B-5297-FC64-4A889DB0046E}"/>
                </a:ext>
              </a:extLst>
            </p:cNvPr>
            <p:cNvSpPr/>
            <p:nvPr/>
          </p:nvSpPr>
          <p:spPr>
            <a:xfrm>
              <a:off x="3141861" y="2651631"/>
              <a:ext cx="9071770" cy="1554736"/>
            </a:xfrm>
            <a:custGeom>
              <a:avLst/>
              <a:gdLst>
                <a:gd name="csX0" fmla="*/ 0 w 9071770"/>
                <a:gd name="csY0" fmla="*/ 0 h 1554736"/>
                <a:gd name="csX1" fmla="*/ 9071770 w 9071770"/>
                <a:gd name="csY1" fmla="*/ 0 h 1554736"/>
                <a:gd name="csX2" fmla="*/ 9071770 w 9071770"/>
                <a:gd name="csY2" fmla="*/ 1554736 h 1554736"/>
                <a:gd name="csX3" fmla="*/ 0 w 9071770"/>
                <a:gd name="csY3" fmla="*/ 1554736 h 1554736"/>
                <a:gd name="csX4" fmla="*/ 0 w 9071770"/>
                <a:gd name="csY4" fmla="*/ 0 h 1554736"/>
              </a:gdLst>
              <a:ahLst/>
              <a:cxnLst>
                <a:cxn ang="0">
                  <a:pos x="csX0" y="csY0"/>
                </a:cxn>
                <a:cxn ang="0">
                  <a:pos x="csX1" y="csY1"/>
                </a:cxn>
                <a:cxn ang="0">
                  <a:pos x="csX2" y="csY2"/>
                </a:cxn>
                <a:cxn ang="0">
                  <a:pos x="csX3" y="csY3"/>
                </a:cxn>
                <a:cxn ang="0">
                  <a:pos x="csX4" y="csY4"/>
                </a:cxn>
              </a:cxnLst>
              <a:rect l="l" t="t" r="r" b="b"/>
              <a:pathLst>
                <a:path w="9071770" h="1554736">
                  <a:moveTo>
                    <a:pt x="0" y="0"/>
                  </a:moveTo>
                  <a:lnTo>
                    <a:pt x="9071770" y="0"/>
                  </a:lnTo>
                  <a:lnTo>
                    <a:pt x="9071770" y="1554736"/>
                  </a:lnTo>
                  <a:lnTo>
                    <a:pt x="0" y="1554736"/>
                  </a:lnTo>
                  <a:lnTo>
                    <a:pt x="0" y="0"/>
                  </a:lnTo>
                  <a:close/>
                </a:path>
              </a:pathLst>
            </a:custGeom>
            <a:solidFill>
              <a:srgbClr val="BC2421"/>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088708" tIns="71120" rIns="71120" bIns="71120" numCol="1" spcCol="1270" anchor="ctr" anchorCtr="0">
              <a:noAutofit/>
            </a:bodyPr>
            <a:lstStyle/>
            <a:p>
              <a:pPr marL="0" lvl="0" indent="0" algn="l" defTabSz="1244600">
                <a:lnSpc>
                  <a:spcPct val="90000"/>
                </a:lnSpc>
                <a:spcBef>
                  <a:spcPct val="0"/>
                </a:spcBef>
                <a:spcAft>
                  <a:spcPct val="35000"/>
                </a:spcAft>
                <a:buFont typeface="+mj-lt"/>
                <a:buNone/>
              </a:pPr>
              <a:r>
                <a:rPr lang="en-US" sz="2800" b="1" kern="1200" dirty="0">
                  <a:solidFill>
                    <a:schemeClr val="tx1"/>
                  </a:solidFill>
                  <a:latin typeface="Century Gothic" panose="020B0502020202020204" pitchFamily="34" charset="0"/>
                </a:rPr>
                <a:t>What is the level of performance of the application with respect to: graphical performance, and transmission continuity?</a:t>
              </a:r>
              <a:endParaRPr lang="en-PH" sz="2800" b="1" kern="1200" dirty="0">
                <a:solidFill>
                  <a:schemeClr val="tx1"/>
                </a:solidFill>
                <a:latin typeface="Century Gothic" panose="020B0502020202020204" pitchFamily="34" charset="0"/>
              </a:endParaRPr>
            </a:p>
          </p:txBody>
        </p:sp>
        <p:sp>
          <p:nvSpPr>
            <p:cNvPr id="19" name="Oval 18">
              <a:extLst>
                <a:ext uri="{FF2B5EF4-FFF2-40B4-BE49-F238E27FC236}">
                  <a16:creationId xmlns:a16="http://schemas.microsoft.com/office/drawing/2014/main" id="{0E181C6E-5867-F826-E1A0-8F4F0EA4F370}"/>
                </a:ext>
              </a:extLst>
            </p:cNvPr>
            <p:cNvSpPr/>
            <p:nvPr/>
          </p:nvSpPr>
          <p:spPr>
            <a:xfrm>
              <a:off x="2154378" y="2400488"/>
              <a:ext cx="1974966" cy="1973286"/>
            </a:xfrm>
            <a:prstGeom prst="ellipse">
              <a:avLst/>
            </a:prstGeom>
            <a:solidFill>
              <a:schemeClr val="bg1"/>
            </a:solidFill>
            <a:ln w="57150">
              <a:solidFill>
                <a:srgbClr val="BC242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5" name="TextBox 9"/>
            <p:cNvSpPr txBox="1"/>
            <p:nvPr/>
          </p:nvSpPr>
          <p:spPr>
            <a:xfrm>
              <a:off x="2780558" y="2737784"/>
              <a:ext cx="1400536" cy="1323439"/>
            </a:xfrm>
            <a:prstGeom prst="rect">
              <a:avLst/>
            </a:prstGeom>
            <a:noFill/>
          </p:spPr>
          <p:txBody>
            <a:bodyPr wrap="square" rtlCol="0">
              <a:spAutoFit/>
            </a:bodyPr>
            <a:lstStyle/>
            <a:p>
              <a:r>
                <a:rPr lang="en-PH" sz="8000" b="1" dirty="0">
                  <a:latin typeface="Century Gothic" panose="020B0502020202020204" pitchFamily="34" charset="0"/>
                </a:rPr>
                <a:t>2</a:t>
              </a:r>
            </a:p>
          </p:txBody>
        </p:sp>
      </p:grpSp>
      <p:grpSp>
        <p:nvGrpSpPr>
          <p:cNvPr id="24" name="Group 23">
            <a:extLst>
              <a:ext uri="{FF2B5EF4-FFF2-40B4-BE49-F238E27FC236}">
                <a16:creationId xmlns:a16="http://schemas.microsoft.com/office/drawing/2014/main" id="{22A98048-C0D9-F3B9-F324-7DCDF0BA67D8}"/>
              </a:ext>
            </a:extLst>
          </p:cNvPr>
          <p:cNvGrpSpPr/>
          <p:nvPr/>
        </p:nvGrpSpPr>
        <p:grpSpPr>
          <a:xfrm>
            <a:off x="1682685" y="4535641"/>
            <a:ext cx="10530947" cy="1901517"/>
            <a:chOff x="1682685" y="4535641"/>
            <a:chExt cx="10530947" cy="1901517"/>
          </a:xfrm>
        </p:grpSpPr>
        <p:sp>
          <p:nvSpPr>
            <p:cNvPr id="20" name="Freeform: Shape 19">
              <a:extLst>
                <a:ext uri="{FF2B5EF4-FFF2-40B4-BE49-F238E27FC236}">
                  <a16:creationId xmlns:a16="http://schemas.microsoft.com/office/drawing/2014/main" id="{5A2E39A3-7E87-50AA-5959-01DB33296A74}"/>
                </a:ext>
              </a:extLst>
            </p:cNvPr>
            <p:cNvSpPr/>
            <p:nvPr/>
          </p:nvSpPr>
          <p:spPr>
            <a:xfrm>
              <a:off x="2643285" y="4800600"/>
              <a:ext cx="9570347" cy="1371600"/>
            </a:xfrm>
            <a:custGeom>
              <a:avLst/>
              <a:gdLst>
                <a:gd name="csX0" fmla="*/ 0 w 9570347"/>
                <a:gd name="csY0" fmla="*/ 0 h 1371600"/>
                <a:gd name="csX1" fmla="*/ 9570347 w 9570347"/>
                <a:gd name="csY1" fmla="*/ 0 h 1371600"/>
                <a:gd name="csX2" fmla="*/ 9570347 w 9570347"/>
                <a:gd name="csY2" fmla="*/ 1371600 h 1371600"/>
                <a:gd name="csX3" fmla="*/ 0 w 9570347"/>
                <a:gd name="csY3" fmla="*/ 1371600 h 1371600"/>
                <a:gd name="csX4" fmla="*/ 0 w 9570347"/>
                <a:gd name="csY4" fmla="*/ 0 h 1371600"/>
              </a:gdLst>
              <a:ahLst/>
              <a:cxnLst>
                <a:cxn ang="0">
                  <a:pos x="csX0" y="csY0"/>
                </a:cxn>
                <a:cxn ang="0">
                  <a:pos x="csX1" y="csY1"/>
                </a:cxn>
                <a:cxn ang="0">
                  <a:pos x="csX2" y="csY2"/>
                </a:cxn>
                <a:cxn ang="0">
                  <a:pos x="csX3" y="csY3"/>
                </a:cxn>
                <a:cxn ang="0">
                  <a:pos x="csX4" y="csY4"/>
                </a:cxn>
              </a:cxnLst>
              <a:rect l="l" t="t" r="r" b="b"/>
              <a:pathLst>
                <a:path w="9570347" h="1371600">
                  <a:moveTo>
                    <a:pt x="0" y="0"/>
                  </a:moveTo>
                  <a:lnTo>
                    <a:pt x="9570347" y="0"/>
                  </a:lnTo>
                  <a:lnTo>
                    <a:pt x="9570347" y="1371600"/>
                  </a:lnTo>
                  <a:lnTo>
                    <a:pt x="0" y="1371600"/>
                  </a:lnTo>
                  <a:lnTo>
                    <a:pt x="0" y="0"/>
                  </a:lnTo>
                  <a:close/>
                </a:path>
              </a:pathLst>
            </a:custGeom>
            <a:solidFill>
              <a:srgbClr val="4F9A1B"/>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088708" tIns="71120" rIns="71120" bIns="71120" numCol="1" spcCol="1270" anchor="ctr" anchorCtr="0">
              <a:noAutofit/>
            </a:bodyPr>
            <a:lstStyle/>
            <a:p>
              <a:pPr marL="0" lvl="0" indent="0" algn="l" defTabSz="1244600">
                <a:lnSpc>
                  <a:spcPct val="90000"/>
                </a:lnSpc>
                <a:spcBef>
                  <a:spcPct val="0"/>
                </a:spcBef>
                <a:spcAft>
                  <a:spcPct val="35000"/>
                </a:spcAft>
                <a:buFont typeface="+mj-lt"/>
                <a:buNone/>
              </a:pPr>
              <a:r>
                <a:rPr lang="en-US" sz="2800" b="1" kern="1200" dirty="0">
                  <a:solidFill>
                    <a:schemeClr val="tx1"/>
                  </a:solidFill>
                  <a:latin typeface="Century Gothic" panose="020B0502020202020204" pitchFamily="34" charset="0"/>
                </a:rPr>
                <a:t>Is there any significant relationship between the acceptability and performance of the application?</a:t>
              </a:r>
              <a:endParaRPr lang="en-PH" sz="2800" b="1" kern="1200" dirty="0">
                <a:solidFill>
                  <a:schemeClr val="tx1"/>
                </a:solidFill>
                <a:latin typeface="Century Gothic" panose="020B0502020202020204" pitchFamily="34" charset="0"/>
              </a:endParaRPr>
            </a:p>
          </p:txBody>
        </p:sp>
        <p:sp>
          <p:nvSpPr>
            <p:cNvPr id="21" name="Oval 20">
              <a:extLst>
                <a:ext uri="{FF2B5EF4-FFF2-40B4-BE49-F238E27FC236}">
                  <a16:creationId xmlns:a16="http://schemas.microsoft.com/office/drawing/2014/main" id="{45AFBCAF-9F9C-8C18-7007-1F16D55A2B9F}"/>
                </a:ext>
              </a:extLst>
            </p:cNvPr>
            <p:cNvSpPr/>
            <p:nvPr/>
          </p:nvSpPr>
          <p:spPr>
            <a:xfrm>
              <a:off x="1682685" y="4535641"/>
              <a:ext cx="1921200" cy="1901517"/>
            </a:xfrm>
            <a:prstGeom prst="ellipse">
              <a:avLst/>
            </a:prstGeom>
            <a:solidFill>
              <a:schemeClr val="bg1"/>
            </a:solidFill>
            <a:ln w="57150">
              <a:solidFill>
                <a:srgbClr val="4F9A1B"/>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7" name="TextBox 10"/>
            <p:cNvSpPr txBox="1"/>
            <p:nvPr/>
          </p:nvSpPr>
          <p:spPr>
            <a:xfrm>
              <a:off x="1989457" y="4801665"/>
              <a:ext cx="1400536" cy="1322070"/>
            </a:xfrm>
            <a:prstGeom prst="rect">
              <a:avLst/>
            </a:prstGeom>
            <a:noFill/>
          </p:spPr>
          <p:txBody>
            <a:bodyPr wrap="square" rtlCol="0">
              <a:spAutoFit/>
            </a:bodyPr>
            <a:lstStyle/>
            <a:p>
              <a:r>
                <a:rPr lang="en-US" altLang="en-PH" sz="8000" b="1" dirty="0">
                  <a:latin typeface="Century Gothic" panose="020B0502020202020204" pitchFamily="34" charset="0"/>
                </a:rPr>
                <a:t> </a:t>
              </a:r>
              <a:r>
                <a:rPr lang="en-PH" sz="8000" b="1" dirty="0">
                  <a:latin typeface="Century Gothic" panose="020B0502020202020204" pitchFamily="34" charset="0"/>
                </a:rPr>
                <a:t>3</a:t>
              </a:r>
            </a:p>
          </p:txBody>
        </p:sp>
      </p:gr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ound Same Side Corner Rectangle 12"/>
          <p:cNvSpPr/>
          <p:nvPr/>
        </p:nvSpPr>
        <p:spPr>
          <a:xfrm rot="5400000">
            <a:off x="2875279" y="-2550158"/>
            <a:ext cx="792483" cy="6543043"/>
          </a:xfrm>
          <a:prstGeom prst="round2SameRect">
            <a:avLst/>
          </a:prstGeom>
          <a:solidFill>
            <a:srgbClr val="29613F"/>
          </a:solidFill>
          <a:ln>
            <a:noFill/>
          </a:ln>
          <a:effectLst>
            <a:outerShdw blurRad="50800" dist="139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4" name="Title 7"/>
          <p:cNvSpPr>
            <a:spLocks noGrp="1"/>
          </p:cNvSpPr>
          <p:nvPr>
            <p:ph type="title"/>
          </p:nvPr>
        </p:nvSpPr>
        <p:spPr>
          <a:xfrm>
            <a:off x="724578" y="345442"/>
            <a:ext cx="6092781" cy="721362"/>
          </a:xfrm>
        </p:spPr>
        <p:txBody>
          <a:bodyPr>
            <a:noAutofit/>
          </a:bodyPr>
          <a:lstStyle/>
          <a:p>
            <a:pPr algn="ctr"/>
            <a:r>
              <a:rPr lang="en-PH" sz="4000" dirty="0">
                <a:solidFill>
                  <a:schemeClr val="bg1"/>
                </a:solidFill>
                <a:latin typeface="Franklin Gothic Demi Cond" panose="020B0706030402020204" pitchFamily="34" charset="0"/>
              </a:rPr>
              <a:t>Research Paradigm</a:t>
            </a:r>
          </a:p>
        </p:txBody>
      </p:sp>
      <p:grpSp>
        <p:nvGrpSpPr>
          <p:cNvPr id="4" name="Group 3">
            <a:extLst>
              <a:ext uri="{FF2B5EF4-FFF2-40B4-BE49-F238E27FC236}">
                <a16:creationId xmlns:a16="http://schemas.microsoft.com/office/drawing/2014/main" id="{AEDF0073-6296-4DAB-8158-FCA315488444}"/>
              </a:ext>
            </a:extLst>
          </p:cNvPr>
          <p:cNvGrpSpPr/>
          <p:nvPr/>
        </p:nvGrpSpPr>
        <p:grpSpPr>
          <a:xfrm>
            <a:off x="1087120" y="1372249"/>
            <a:ext cx="3178863" cy="4977836"/>
            <a:chOff x="1087120" y="1372249"/>
            <a:chExt cx="3178863" cy="4977836"/>
          </a:xfrm>
        </p:grpSpPr>
        <p:sp>
          <p:nvSpPr>
            <p:cNvPr id="18" name="Rectangle 17"/>
            <p:cNvSpPr/>
            <p:nvPr/>
          </p:nvSpPr>
          <p:spPr>
            <a:xfrm>
              <a:off x="1367140" y="1372249"/>
              <a:ext cx="2898843" cy="4691181"/>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9" name="Rectangle 18"/>
            <p:cNvSpPr/>
            <p:nvPr/>
          </p:nvSpPr>
          <p:spPr>
            <a:xfrm>
              <a:off x="1087120" y="1616786"/>
              <a:ext cx="2834640" cy="711200"/>
            </a:xfrm>
            <a:prstGeom prst="rect">
              <a:avLst/>
            </a:prstGeom>
            <a:solidFill>
              <a:srgbClr val="FDF95A"/>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rgbClr val="FDF95A"/>
                </a:solidFill>
              </a:endParaRPr>
            </a:p>
          </p:txBody>
        </p:sp>
        <p:sp>
          <p:nvSpPr>
            <p:cNvPr id="22" name="Title 7"/>
            <p:cNvSpPr txBox="1"/>
            <p:nvPr/>
          </p:nvSpPr>
          <p:spPr>
            <a:xfrm>
              <a:off x="1214481" y="1665073"/>
              <a:ext cx="2424524" cy="5995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PH" sz="4000" dirty="0">
                  <a:effectLst>
                    <a:outerShdw blurRad="38100" dist="38100" dir="2700000" algn="tl">
                      <a:srgbClr val="000000">
                        <a:alpha val="43137"/>
                      </a:srgbClr>
                    </a:outerShdw>
                  </a:effectLst>
                  <a:latin typeface="Franklin Gothic Demi Cond" panose="020B0706030402020204" pitchFamily="34" charset="0"/>
                </a:rPr>
                <a:t>Input</a:t>
              </a:r>
            </a:p>
          </p:txBody>
        </p:sp>
        <p:sp>
          <p:nvSpPr>
            <p:cNvPr id="25" name="TextBox 24"/>
            <p:cNvSpPr txBox="1"/>
            <p:nvPr/>
          </p:nvSpPr>
          <p:spPr>
            <a:xfrm>
              <a:off x="1351900" y="2381970"/>
              <a:ext cx="2822755" cy="3968115"/>
            </a:xfrm>
            <a:prstGeom prst="rect">
              <a:avLst/>
            </a:prstGeom>
            <a:noFill/>
          </p:spPr>
          <p:txBody>
            <a:bodyPr wrap="square" rtlCol="0">
              <a:spAutoFit/>
            </a:bodyPr>
            <a:lstStyle/>
            <a:p>
              <a:pPr marL="171450">
                <a:lnSpc>
                  <a:spcPct val="115000"/>
                </a:lnSpc>
                <a:spcAft>
                  <a:spcPts val="1000"/>
                </a:spcAft>
              </a:pPr>
              <a:r>
                <a:rPr lang="en-US" altLang="en-US" sz="1400" dirty="0">
                  <a:latin typeface="Century Gothic" panose="020B0502020202020204" pitchFamily="34" charset="0"/>
                  <a:sym typeface="+mn-ea"/>
                </a:rPr>
                <a:t>- HTML    	- CSS</a:t>
              </a:r>
              <a:endParaRPr lang="en-US" altLang="en-US" sz="1400" dirty="0">
                <a:latin typeface="Century Gothic" panose="020B0502020202020204" pitchFamily="34" charset="0"/>
              </a:endParaRPr>
            </a:p>
            <a:p>
              <a:pPr marL="171450">
                <a:lnSpc>
                  <a:spcPct val="115000"/>
                </a:lnSpc>
                <a:spcAft>
                  <a:spcPts val="1000"/>
                </a:spcAft>
              </a:pPr>
              <a:r>
                <a:rPr lang="en-US" altLang="en-US" sz="1400" dirty="0">
                  <a:latin typeface="Century Gothic" panose="020B0502020202020204" pitchFamily="34" charset="0"/>
                  <a:sym typeface="+mn-ea"/>
                </a:rPr>
                <a:t>- JavaScript	- Node.js</a:t>
              </a:r>
              <a:endParaRPr lang="en-US" altLang="en-US" sz="1400" dirty="0">
                <a:latin typeface="Century Gothic" panose="020B0502020202020204" pitchFamily="34" charset="0"/>
              </a:endParaRPr>
            </a:p>
            <a:p>
              <a:pPr marL="171450">
                <a:lnSpc>
                  <a:spcPct val="115000"/>
                </a:lnSpc>
                <a:spcAft>
                  <a:spcPts val="1000"/>
                </a:spcAft>
              </a:pPr>
              <a:r>
                <a:rPr lang="en-US" altLang="en-US" sz="1400" dirty="0">
                  <a:latin typeface="Century Gothic" panose="020B0502020202020204" pitchFamily="34" charset="0"/>
                  <a:sym typeface="+mn-ea"/>
                </a:rPr>
                <a:t>- NPM		</a:t>
              </a:r>
              <a:endParaRPr lang="en-US" altLang="en-US" sz="1400" dirty="0">
                <a:latin typeface="Century Gothic" panose="020B0502020202020204" pitchFamily="34" charset="0"/>
              </a:endParaRPr>
            </a:p>
            <a:p>
              <a:pPr marL="171450">
                <a:lnSpc>
                  <a:spcPct val="115000"/>
                </a:lnSpc>
                <a:spcAft>
                  <a:spcPts val="1000"/>
                </a:spcAft>
              </a:pPr>
              <a:r>
                <a:rPr lang="en-US" altLang="en-US" sz="1400" dirty="0">
                  <a:latin typeface="Century Gothic" panose="020B0502020202020204" pitchFamily="34" charset="0"/>
                  <a:sym typeface="+mn-ea"/>
                </a:rPr>
                <a:t>- Electron</a:t>
              </a:r>
              <a:endParaRPr lang="en-US" altLang="en-US" sz="1400" dirty="0">
                <a:latin typeface="Century Gothic" panose="020B0502020202020204" pitchFamily="34" charset="0"/>
              </a:endParaRPr>
            </a:p>
            <a:p>
              <a:pPr marL="171450">
                <a:lnSpc>
                  <a:spcPct val="115000"/>
                </a:lnSpc>
                <a:spcAft>
                  <a:spcPts val="1000"/>
                </a:spcAft>
              </a:pPr>
              <a:r>
                <a:rPr lang="en-US" altLang="en-US" sz="1400" dirty="0">
                  <a:latin typeface="Century Gothic" panose="020B0502020202020204" pitchFamily="34" charset="0"/>
                  <a:sym typeface="+mn-ea"/>
                </a:rPr>
                <a:t>- Apache Cordova</a:t>
              </a:r>
              <a:endParaRPr lang="en-US" altLang="en-US" sz="1400" dirty="0">
                <a:latin typeface="Century Gothic" panose="020B0502020202020204" pitchFamily="34" charset="0"/>
              </a:endParaRPr>
            </a:p>
            <a:p>
              <a:pPr marL="171450">
                <a:lnSpc>
                  <a:spcPct val="115000"/>
                </a:lnSpc>
                <a:spcAft>
                  <a:spcPts val="1000"/>
                </a:spcAft>
              </a:pPr>
              <a:r>
                <a:rPr lang="en-US" altLang="en-US" sz="1400" dirty="0">
                  <a:latin typeface="Century Gothic" panose="020B0502020202020204" pitchFamily="34" charset="0"/>
                  <a:sym typeface="+mn-ea"/>
                </a:rPr>
                <a:t>- Ionic WebView for Cordova</a:t>
              </a:r>
              <a:endParaRPr lang="en-US" altLang="en-US" sz="1400" dirty="0">
                <a:latin typeface="Century Gothic" panose="020B0502020202020204" pitchFamily="34" charset="0"/>
              </a:endParaRPr>
            </a:p>
            <a:p>
              <a:pPr marL="171450">
                <a:lnSpc>
                  <a:spcPct val="115000"/>
                </a:lnSpc>
                <a:spcAft>
                  <a:spcPts val="1000"/>
                </a:spcAft>
              </a:pPr>
              <a:r>
                <a:rPr lang="en-US" altLang="en-US" sz="1400" dirty="0">
                  <a:latin typeface="Century Gothic" panose="020B0502020202020204" pitchFamily="34" charset="0"/>
                  <a:sym typeface="+mn-ea"/>
                </a:rPr>
                <a:t>- JDK 17</a:t>
              </a:r>
              <a:endParaRPr lang="en-US" altLang="en-US" sz="1400" dirty="0">
                <a:latin typeface="Century Gothic" panose="020B0502020202020204" pitchFamily="34" charset="0"/>
              </a:endParaRPr>
            </a:p>
            <a:p>
              <a:pPr marL="171450">
                <a:lnSpc>
                  <a:spcPct val="115000"/>
                </a:lnSpc>
                <a:spcAft>
                  <a:spcPts val="1000"/>
                </a:spcAft>
              </a:pPr>
              <a:r>
                <a:rPr lang="en-US" altLang="en-US" sz="1400" dirty="0">
                  <a:latin typeface="Century Gothic" panose="020B0502020202020204" pitchFamily="34" charset="0"/>
                  <a:sym typeface="+mn-ea"/>
                </a:rPr>
                <a:t>- Gradle</a:t>
              </a:r>
              <a:endParaRPr lang="en-US" altLang="en-US" sz="1400" dirty="0">
                <a:latin typeface="Century Gothic" panose="020B0502020202020204" pitchFamily="34" charset="0"/>
              </a:endParaRPr>
            </a:p>
            <a:p>
              <a:pPr marL="171450">
                <a:lnSpc>
                  <a:spcPct val="115000"/>
                </a:lnSpc>
                <a:spcAft>
                  <a:spcPts val="1000"/>
                </a:spcAft>
              </a:pPr>
              <a:r>
                <a:rPr lang="en-US" altLang="en-US" sz="1400" dirty="0">
                  <a:latin typeface="Century Gothic" panose="020B0502020202020204" pitchFamily="34" charset="0"/>
                  <a:sym typeface="+mn-ea"/>
                </a:rPr>
                <a:t>- Android SDK</a:t>
              </a:r>
              <a:endParaRPr lang="en-US" altLang="en-US" sz="1400" dirty="0">
                <a:latin typeface="Century Gothic" panose="020B0502020202020204" pitchFamily="34" charset="0"/>
              </a:endParaRPr>
            </a:p>
            <a:p>
              <a:pPr marL="171450">
                <a:lnSpc>
                  <a:spcPct val="115000"/>
                </a:lnSpc>
                <a:spcAft>
                  <a:spcPts val="1000"/>
                </a:spcAft>
              </a:pPr>
              <a:endParaRPr lang="en-PH" sz="1400" dirty="0">
                <a:latin typeface="Century Gothic" panose="020B0502020202020204" pitchFamily="34" charset="0"/>
              </a:endParaRPr>
            </a:p>
          </p:txBody>
        </p:sp>
      </p:grpSp>
      <p:grpSp>
        <p:nvGrpSpPr>
          <p:cNvPr id="3" name="Group 2">
            <a:extLst>
              <a:ext uri="{FF2B5EF4-FFF2-40B4-BE49-F238E27FC236}">
                <a16:creationId xmlns:a16="http://schemas.microsoft.com/office/drawing/2014/main" id="{CB2BBD67-4370-7E62-65CC-81DEC8C04675}"/>
              </a:ext>
            </a:extLst>
          </p:cNvPr>
          <p:cNvGrpSpPr/>
          <p:nvPr/>
        </p:nvGrpSpPr>
        <p:grpSpPr>
          <a:xfrm>
            <a:off x="4418642" y="1372249"/>
            <a:ext cx="3179294" cy="4691181"/>
            <a:chOff x="4418642" y="1372249"/>
            <a:chExt cx="3179294" cy="4691181"/>
          </a:xfrm>
        </p:grpSpPr>
        <p:sp>
          <p:nvSpPr>
            <p:cNvPr id="17" name="Rectangle 16"/>
            <p:cNvSpPr/>
            <p:nvPr/>
          </p:nvSpPr>
          <p:spPr>
            <a:xfrm>
              <a:off x="4699093" y="1372249"/>
              <a:ext cx="2898843" cy="4691181"/>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Rectangle 19"/>
            <p:cNvSpPr/>
            <p:nvPr/>
          </p:nvSpPr>
          <p:spPr>
            <a:xfrm>
              <a:off x="4418642" y="1616786"/>
              <a:ext cx="2834640" cy="711200"/>
            </a:xfrm>
            <a:prstGeom prst="rect">
              <a:avLst/>
            </a:prstGeom>
            <a:solidFill>
              <a:srgbClr val="FF6460"/>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3" name="Title 7"/>
            <p:cNvSpPr txBox="1"/>
            <p:nvPr/>
          </p:nvSpPr>
          <p:spPr>
            <a:xfrm>
              <a:off x="4488984" y="1665072"/>
              <a:ext cx="2764297" cy="5995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PH" sz="4000" dirty="0">
                  <a:effectLst>
                    <a:outerShdw blurRad="38100" dist="38100" dir="2700000" algn="tl">
                      <a:srgbClr val="000000">
                        <a:alpha val="43137"/>
                      </a:srgbClr>
                    </a:outerShdw>
                  </a:effectLst>
                  <a:latin typeface="Franklin Gothic Demi Cond" panose="020B0706030402020204" pitchFamily="34" charset="0"/>
                </a:rPr>
                <a:t>Process</a:t>
              </a:r>
            </a:p>
          </p:txBody>
        </p:sp>
        <p:sp>
          <p:nvSpPr>
            <p:cNvPr id="27" name="TextBox 26"/>
            <p:cNvSpPr txBox="1"/>
            <p:nvPr/>
          </p:nvSpPr>
          <p:spPr>
            <a:xfrm>
              <a:off x="4737136" y="2382176"/>
              <a:ext cx="2822755" cy="2837180"/>
            </a:xfrm>
            <a:prstGeom prst="rect">
              <a:avLst/>
            </a:prstGeom>
            <a:noFill/>
          </p:spPr>
          <p:txBody>
            <a:bodyPr wrap="square" rtlCol="0">
              <a:spAutoFit/>
            </a:bodyPr>
            <a:lstStyle/>
            <a:p>
              <a:pPr marL="92075">
                <a:lnSpc>
                  <a:spcPct val="115000"/>
                </a:lnSpc>
                <a:spcAft>
                  <a:spcPts val="1000"/>
                </a:spcAft>
              </a:pPr>
              <a:r>
                <a:rPr lang="en-US" altLang="en-US" sz="1700" dirty="0">
                  <a:latin typeface="Century Gothic" panose="020B0502020202020204" pitchFamily="34" charset="0"/>
                  <a:ea typeface="Calibri" panose="020F0502020204030204" pitchFamily="34" charset="0"/>
                  <a:cs typeface="Times New Roman" panose="02020603050405020304" pitchFamily="18" charset="0"/>
                  <a:sym typeface="+mn-ea"/>
                </a:rPr>
                <a:t>- Conceptualization</a:t>
              </a:r>
              <a:endParaRPr lang="en-US" altLang="en-US" sz="1700" dirty="0">
                <a:latin typeface="Century Gothic" panose="020B0502020202020204" pitchFamily="34" charset="0"/>
                <a:ea typeface="Calibri" panose="020F0502020204030204" pitchFamily="34" charset="0"/>
                <a:cs typeface="Times New Roman" panose="02020603050405020304" pitchFamily="18" charset="0"/>
              </a:endParaRPr>
            </a:p>
            <a:p>
              <a:pPr marL="92075">
                <a:lnSpc>
                  <a:spcPct val="115000"/>
                </a:lnSpc>
                <a:spcAft>
                  <a:spcPts val="1000"/>
                </a:spcAft>
              </a:pPr>
              <a:r>
                <a:rPr lang="en-US" altLang="en-US" sz="1700" dirty="0">
                  <a:latin typeface="Century Gothic" panose="020B0502020202020204" pitchFamily="34" charset="0"/>
                  <a:ea typeface="Calibri" panose="020F0502020204030204" pitchFamily="34" charset="0"/>
                  <a:cs typeface="Times New Roman" panose="02020603050405020304" pitchFamily="18" charset="0"/>
                  <a:sym typeface="+mn-ea"/>
                </a:rPr>
                <a:t>- Development and designing</a:t>
              </a:r>
              <a:endParaRPr lang="en-US" altLang="en-US" sz="1700" dirty="0">
                <a:latin typeface="Century Gothic" panose="020B0502020202020204" pitchFamily="34" charset="0"/>
                <a:ea typeface="Calibri" panose="020F0502020204030204" pitchFamily="34" charset="0"/>
                <a:cs typeface="Times New Roman" panose="02020603050405020304" pitchFamily="18" charset="0"/>
              </a:endParaRPr>
            </a:p>
            <a:p>
              <a:pPr marL="92075">
                <a:lnSpc>
                  <a:spcPct val="115000"/>
                </a:lnSpc>
                <a:spcAft>
                  <a:spcPts val="1000"/>
                </a:spcAft>
              </a:pPr>
              <a:r>
                <a:rPr lang="en-US" altLang="en-US" sz="1700" dirty="0">
                  <a:latin typeface="Century Gothic" panose="020B0502020202020204" pitchFamily="34" charset="0"/>
                  <a:ea typeface="Calibri" panose="020F0502020204030204" pitchFamily="34" charset="0"/>
                  <a:cs typeface="Times New Roman" panose="02020603050405020304" pitchFamily="18" charset="0"/>
                  <a:sym typeface="+mn-ea"/>
                </a:rPr>
                <a:t>- Testing</a:t>
              </a:r>
              <a:endParaRPr lang="en-US" altLang="en-US" sz="1700" dirty="0">
                <a:latin typeface="Century Gothic" panose="020B0502020202020204" pitchFamily="34" charset="0"/>
                <a:ea typeface="Calibri" panose="020F0502020204030204" pitchFamily="34" charset="0"/>
                <a:cs typeface="Times New Roman" panose="02020603050405020304" pitchFamily="18" charset="0"/>
              </a:endParaRPr>
            </a:p>
            <a:p>
              <a:pPr marL="92075">
                <a:lnSpc>
                  <a:spcPct val="115000"/>
                </a:lnSpc>
                <a:spcAft>
                  <a:spcPts val="1000"/>
                </a:spcAft>
              </a:pPr>
              <a:r>
                <a:rPr lang="en-US" altLang="en-US" sz="1700" dirty="0">
                  <a:latin typeface="Century Gothic" panose="020B0502020202020204" pitchFamily="34" charset="0"/>
                  <a:ea typeface="Calibri" panose="020F0502020204030204" pitchFamily="34" charset="0"/>
                  <a:cs typeface="Times New Roman" panose="02020603050405020304" pitchFamily="18" charset="0"/>
                  <a:sym typeface="+mn-ea"/>
                </a:rPr>
                <a:t>- Bug fixing</a:t>
              </a:r>
              <a:endParaRPr lang="en-US" altLang="en-US" sz="1700" dirty="0">
                <a:latin typeface="Century Gothic" panose="020B0502020202020204" pitchFamily="34" charset="0"/>
                <a:ea typeface="Calibri" panose="020F0502020204030204" pitchFamily="34" charset="0"/>
                <a:cs typeface="Times New Roman" panose="02020603050405020304" pitchFamily="18" charset="0"/>
              </a:endParaRPr>
            </a:p>
            <a:p>
              <a:pPr marL="92075">
                <a:lnSpc>
                  <a:spcPct val="115000"/>
                </a:lnSpc>
                <a:spcAft>
                  <a:spcPts val="1000"/>
                </a:spcAft>
              </a:pPr>
              <a:r>
                <a:rPr lang="en-US" altLang="en-US" sz="1700" dirty="0">
                  <a:latin typeface="Century Gothic" panose="020B0502020202020204" pitchFamily="34" charset="0"/>
                  <a:ea typeface="Calibri" panose="020F0502020204030204" pitchFamily="34" charset="0"/>
                  <a:cs typeface="Times New Roman" panose="02020603050405020304" pitchFamily="18" charset="0"/>
                  <a:sym typeface="+mn-ea"/>
                </a:rPr>
                <a:t>- Finalization</a:t>
              </a:r>
              <a:endParaRPr lang="en-PH" sz="1700" dirty="0">
                <a:latin typeface="Century Gothic" panose="020B0502020202020204" pitchFamily="34" charset="0"/>
                <a:ea typeface="Calibri" panose="020F0502020204030204" pitchFamily="34" charset="0"/>
                <a:cs typeface="Times New Roman" panose="02020603050405020304" pitchFamily="18" charset="0"/>
              </a:endParaRPr>
            </a:p>
            <a:p>
              <a:pPr marL="92075">
                <a:lnSpc>
                  <a:spcPct val="115000"/>
                </a:lnSpc>
                <a:spcAft>
                  <a:spcPts val="1000"/>
                </a:spcAft>
              </a:pPr>
              <a:endParaRPr lang="en-PH" sz="1700" dirty="0">
                <a:latin typeface="Century Gothic" panose="020B0502020202020204" pitchFamily="34" charset="0"/>
                <a:ea typeface="Calibri" panose="020F0502020204030204" pitchFamily="34" charset="0"/>
                <a:cs typeface="Times New Roman" panose="02020603050405020304" pitchFamily="18" charset="0"/>
              </a:endParaRPr>
            </a:p>
          </p:txBody>
        </p:sp>
      </p:grpSp>
      <p:grpSp>
        <p:nvGrpSpPr>
          <p:cNvPr id="2" name="Group 1">
            <a:extLst>
              <a:ext uri="{FF2B5EF4-FFF2-40B4-BE49-F238E27FC236}">
                <a16:creationId xmlns:a16="http://schemas.microsoft.com/office/drawing/2014/main" id="{D7104C56-C91A-9F6D-55B6-2E77623A411F}"/>
              </a:ext>
            </a:extLst>
          </p:cNvPr>
          <p:cNvGrpSpPr/>
          <p:nvPr/>
        </p:nvGrpSpPr>
        <p:grpSpPr>
          <a:xfrm>
            <a:off x="7762240" y="1372249"/>
            <a:ext cx="3151889" cy="4691181"/>
            <a:chOff x="7762240" y="1372249"/>
            <a:chExt cx="3151889" cy="4691181"/>
          </a:xfrm>
        </p:grpSpPr>
        <p:sp>
          <p:nvSpPr>
            <p:cNvPr id="15" name="Rectangle 14"/>
            <p:cNvSpPr/>
            <p:nvPr/>
          </p:nvSpPr>
          <p:spPr>
            <a:xfrm>
              <a:off x="8015286" y="1372249"/>
              <a:ext cx="2898843" cy="4691181"/>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1" name="Rectangle 20"/>
            <p:cNvSpPr/>
            <p:nvPr/>
          </p:nvSpPr>
          <p:spPr>
            <a:xfrm>
              <a:off x="7762240" y="1616786"/>
              <a:ext cx="2834640" cy="711200"/>
            </a:xfrm>
            <a:prstGeom prst="rect">
              <a:avLst/>
            </a:prstGeom>
            <a:solidFill>
              <a:srgbClr val="5EDEF4"/>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4" name="Title 7"/>
            <p:cNvSpPr txBox="1"/>
            <p:nvPr/>
          </p:nvSpPr>
          <p:spPr>
            <a:xfrm>
              <a:off x="7818204" y="1634591"/>
              <a:ext cx="2697396" cy="5995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PH" sz="4000" dirty="0">
                  <a:effectLst>
                    <a:outerShdw blurRad="38100" dist="38100" dir="2700000" algn="tl">
                      <a:srgbClr val="000000">
                        <a:alpha val="43137"/>
                      </a:srgbClr>
                    </a:outerShdw>
                  </a:effectLst>
                  <a:latin typeface="Franklin Gothic Demi Cond" panose="020B0706030402020204" pitchFamily="34" charset="0"/>
                </a:rPr>
                <a:t>Output</a:t>
              </a:r>
            </a:p>
          </p:txBody>
        </p:sp>
        <p:sp>
          <p:nvSpPr>
            <p:cNvPr id="28" name="TextBox 27"/>
            <p:cNvSpPr txBox="1"/>
            <p:nvPr/>
          </p:nvSpPr>
          <p:spPr>
            <a:xfrm>
              <a:off x="8031104" y="2806838"/>
              <a:ext cx="2822755" cy="798830"/>
            </a:xfrm>
            <a:prstGeom prst="rect">
              <a:avLst/>
            </a:prstGeom>
            <a:noFill/>
          </p:spPr>
          <p:txBody>
            <a:bodyPr wrap="square" rtlCol="0">
              <a:spAutoFit/>
            </a:bodyPr>
            <a:lstStyle/>
            <a:p>
              <a:pPr marL="171450">
                <a:lnSpc>
                  <a:spcPct val="115000"/>
                </a:lnSpc>
                <a:spcAft>
                  <a:spcPts val="1000"/>
                </a:spcAft>
              </a:pPr>
              <a:r>
                <a:rPr lang="en-US" altLang="en-US" sz="2000" dirty="0">
                  <a:latin typeface="Century Gothic" panose="020B0502020202020204" pitchFamily="34" charset="0"/>
                  <a:ea typeface="Calibri" panose="020F0502020204030204" pitchFamily="34" charset="0"/>
                  <a:cs typeface="Times New Roman" panose="02020603050405020304" pitchFamily="18" charset="0"/>
                  <a:sym typeface="+mn-ea"/>
                </a:rPr>
                <a:t>- Quieazy (Application)</a:t>
              </a:r>
              <a:endParaRPr lang="en-PH" sz="2000" dirty="0">
                <a:latin typeface="Century Gothic" panose="020B0502020202020204" pitchFamily="34" charset="0"/>
                <a:ea typeface="Calibri" panose="020F0502020204030204" pitchFamily="34" charset="0"/>
                <a:cs typeface="Times New Roman" panose="02020603050405020304" pitchFamily="18" charset="0"/>
              </a:endParaRPr>
            </a:p>
          </p:txBody>
        </p:sp>
      </p:grpSp>
      <p:sp>
        <p:nvSpPr>
          <p:cNvPr id="30" name="Curved Up Arrow 29"/>
          <p:cNvSpPr/>
          <p:nvPr/>
        </p:nvSpPr>
        <p:spPr>
          <a:xfrm>
            <a:off x="3921760" y="6193439"/>
            <a:ext cx="1217592" cy="477520"/>
          </a:xfrm>
          <a:prstGeom prst="curvedUpArrow">
            <a:avLst>
              <a:gd name="adj1" fmla="val 62478"/>
              <a:gd name="adj2" fmla="val 123134"/>
              <a:gd name="adj3" fmla="val 29255"/>
            </a:avLst>
          </a:prstGeom>
          <a:solidFill>
            <a:srgbClr val="BAF35B"/>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31" name="Curved Up Arrow 30"/>
          <p:cNvSpPr/>
          <p:nvPr/>
        </p:nvSpPr>
        <p:spPr>
          <a:xfrm>
            <a:off x="7253281" y="6209598"/>
            <a:ext cx="1217592" cy="477520"/>
          </a:xfrm>
          <a:prstGeom prst="curvedUpArrow">
            <a:avLst>
              <a:gd name="adj1" fmla="val 62478"/>
              <a:gd name="adj2" fmla="val 123134"/>
              <a:gd name="adj3" fmla="val 29255"/>
            </a:avLst>
          </a:prstGeom>
          <a:solidFill>
            <a:srgbClr val="BAF35B"/>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flipV="1">
            <a:off x="190854" y="5881260"/>
            <a:ext cx="11839445" cy="11575"/>
          </a:xfrm>
          <a:prstGeom prst="line">
            <a:avLst/>
          </a:prstGeom>
          <a:ln w="111125"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56994" y="257853"/>
            <a:ext cx="11609407" cy="1015663"/>
          </a:xfrm>
          <a:prstGeom prst="rect">
            <a:avLst/>
          </a:prstGeom>
          <a:noFill/>
        </p:spPr>
        <p:txBody>
          <a:bodyPr wrap="square" rtlCol="0">
            <a:spAutoFit/>
          </a:bodyPr>
          <a:lstStyle/>
          <a:p>
            <a:pPr algn="ctr"/>
            <a:r>
              <a:rPr lang="en-PH" sz="6000" dirty="0">
                <a:latin typeface="Franklin Gothic Demi Cond" panose="020B0706030402020204" pitchFamily="34" charset="0"/>
              </a:rPr>
              <a:t>Research Methodology</a:t>
            </a:r>
          </a:p>
        </p:txBody>
      </p:sp>
      <p:grpSp>
        <p:nvGrpSpPr>
          <p:cNvPr id="2" name="Group 1"/>
          <p:cNvGrpSpPr/>
          <p:nvPr/>
        </p:nvGrpSpPr>
        <p:grpSpPr>
          <a:xfrm>
            <a:off x="299750" y="1512242"/>
            <a:ext cx="2000779" cy="4656237"/>
            <a:chOff x="299750" y="1483360"/>
            <a:chExt cx="2000779" cy="4656237"/>
          </a:xfrm>
        </p:grpSpPr>
        <p:grpSp>
          <p:nvGrpSpPr>
            <p:cNvPr id="11" name="Group 10"/>
            <p:cNvGrpSpPr/>
            <p:nvPr/>
          </p:nvGrpSpPr>
          <p:grpSpPr>
            <a:xfrm>
              <a:off x="339869" y="1483360"/>
              <a:ext cx="1950889" cy="3880738"/>
              <a:chOff x="507831" y="1535446"/>
              <a:chExt cx="1950889" cy="3464819"/>
            </a:xfrm>
          </p:grpSpPr>
          <p:sp>
            <p:nvSpPr>
              <p:cNvPr id="7" name="Round Same Side Corner Rectangle 6"/>
              <p:cNvSpPr/>
              <p:nvPr/>
            </p:nvSpPr>
            <p:spPr>
              <a:xfrm>
                <a:off x="507831" y="1535446"/>
                <a:ext cx="1950720" cy="955807"/>
              </a:xfrm>
              <a:prstGeom prst="round2SameRect">
                <a:avLst>
                  <a:gd name="adj1" fmla="val 15667"/>
                  <a:gd name="adj2" fmla="val 0"/>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831" y="2491254"/>
                <a:ext cx="1950889" cy="2509011"/>
              </a:xfrm>
              <a:prstGeom prst="rect">
                <a:avLst/>
              </a:prstGeom>
              <a:effectLst>
                <a:outerShdw blurRad="50800" dist="114300" dir="5400000" algn="t" rotWithShape="0">
                  <a:prstClr val="black">
                    <a:alpha val="40000"/>
                  </a:prstClr>
                </a:outerShdw>
              </a:effectLst>
            </p:spPr>
          </p:pic>
        </p:grpSp>
        <p:sp>
          <p:nvSpPr>
            <p:cNvPr id="31" name="Donut 30"/>
            <p:cNvSpPr/>
            <p:nvPr/>
          </p:nvSpPr>
          <p:spPr>
            <a:xfrm>
              <a:off x="1037436" y="5607162"/>
              <a:ext cx="555585" cy="532435"/>
            </a:xfrm>
            <a:prstGeom prst="donut">
              <a:avLst/>
            </a:prstGeom>
            <a:solidFill>
              <a:srgbClr val="6600FF"/>
            </a:solidFill>
            <a:ln>
              <a:noFill/>
            </a:ln>
            <a:effectLst>
              <a:outerShdw blurRad="50800" dist="508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26" name="TextBox 25"/>
            <p:cNvSpPr txBox="1"/>
            <p:nvPr/>
          </p:nvSpPr>
          <p:spPr>
            <a:xfrm>
              <a:off x="299750" y="2553903"/>
              <a:ext cx="2000779" cy="646331"/>
            </a:xfrm>
            <a:prstGeom prst="rect">
              <a:avLst/>
            </a:prstGeom>
            <a:noFill/>
          </p:spPr>
          <p:txBody>
            <a:bodyPr wrap="square" rtlCol="0">
              <a:spAutoFit/>
            </a:bodyPr>
            <a:lstStyle/>
            <a:p>
              <a:pPr algn="ctr"/>
              <a:r>
                <a:rPr lang="en-PH" b="1" dirty="0">
                  <a:latin typeface="Century Gothic" panose="020B0502020202020204" pitchFamily="34" charset="0"/>
                </a:rPr>
                <a:t>Research Design</a:t>
              </a:r>
            </a:p>
          </p:txBody>
        </p:sp>
        <p:pic>
          <p:nvPicPr>
            <p:cNvPr id="4110" name="Picture 14" descr="See the source image"/>
            <p:cNvPicPr>
              <a:picLocks noChangeAspect="1" noChangeArrowheads="1"/>
            </p:cNvPicPr>
            <p:nvPr/>
          </p:nvPicPr>
          <p:blipFill>
            <a:blip r:embed="rId4" cstate="print">
              <a:lum bright="70000" contrast="-70000"/>
              <a:extLst>
                <a:ext uri="{28A0092B-C50C-407E-A947-70E740481C1C}">
                  <a14:useLocalDpi xmlns:a14="http://schemas.microsoft.com/office/drawing/2010/main" val="0"/>
                </a:ext>
              </a:extLst>
            </a:blip>
            <a:srcRect/>
            <a:stretch>
              <a:fillRect/>
            </a:stretch>
          </p:blipFill>
          <p:spPr bwMode="auto">
            <a:xfrm>
              <a:off x="842095" y="1542134"/>
              <a:ext cx="922673" cy="922673"/>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p:cNvSpPr txBox="1"/>
            <p:nvPr/>
          </p:nvSpPr>
          <p:spPr>
            <a:xfrm>
              <a:off x="325469" y="3305306"/>
              <a:ext cx="1927464" cy="583565"/>
            </a:xfrm>
            <a:prstGeom prst="rect">
              <a:avLst/>
            </a:prstGeom>
            <a:noFill/>
          </p:spPr>
          <p:txBody>
            <a:bodyPr wrap="square" rtlCol="0">
              <a:spAutoFit/>
            </a:bodyPr>
            <a:lstStyle/>
            <a:p>
              <a:pPr algn="ctr"/>
              <a:r>
                <a:rPr lang="en-US" altLang="en-PH" sz="1600" dirty="0">
                  <a:latin typeface="Century Gothic" panose="020B0502020202020204" pitchFamily="34" charset="0"/>
                </a:rPr>
                <a:t>True </a:t>
              </a:r>
            </a:p>
            <a:p>
              <a:pPr algn="ctr"/>
              <a:r>
                <a:rPr lang="en-US" altLang="en-PH" sz="1600" dirty="0">
                  <a:latin typeface="Century Gothic" panose="020B0502020202020204" pitchFamily="34" charset="0"/>
                </a:rPr>
                <a:t>Experimental</a:t>
              </a:r>
            </a:p>
          </p:txBody>
        </p:sp>
      </p:grpSp>
      <p:grpSp>
        <p:nvGrpSpPr>
          <p:cNvPr id="3" name="Group 2"/>
          <p:cNvGrpSpPr/>
          <p:nvPr/>
        </p:nvGrpSpPr>
        <p:grpSpPr>
          <a:xfrm>
            <a:off x="2624996" y="1503126"/>
            <a:ext cx="2073324" cy="4676929"/>
            <a:chOff x="2624996" y="1474244"/>
            <a:chExt cx="2073324" cy="4676929"/>
          </a:xfrm>
        </p:grpSpPr>
        <p:grpSp>
          <p:nvGrpSpPr>
            <p:cNvPr id="14" name="Group 13"/>
            <p:cNvGrpSpPr/>
            <p:nvPr/>
          </p:nvGrpSpPr>
          <p:grpSpPr>
            <a:xfrm>
              <a:off x="2691459" y="1483360"/>
              <a:ext cx="1950889" cy="3879176"/>
              <a:chOff x="507831" y="1535446"/>
              <a:chExt cx="1950889" cy="3464818"/>
            </a:xfrm>
            <a:effectLst>
              <a:outerShdw blurRad="50800" dist="114300" dir="5400000" algn="t" rotWithShape="0">
                <a:prstClr val="black">
                  <a:alpha val="40000"/>
                </a:prstClr>
              </a:outerShdw>
            </a:effectLst>
          </p:grpSpPr>
          <p:sp>
            <p:nvSpPr>
              <p:cNvPr id="15" name="Round Same Side Corner Rectangle 14"/>
              <p:cNvSpPr/>
              <p:nvPr/>
            </p:nvSpPr>
            <p:spPr>
              <a:xfrm>
                <a:off x="507831" y="1535446"/>
                <a:ext cx="1950720" cy="956192"/>
              </a:xfrm>
              <a:prstGeom prst="round2SameRect">
                <a:avLst>
                  <a:gd name="adj1" fmla="val 15667"/>
                  <a:gd name="adj2" fmla="val 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831" y="2475168"/>
                <a:ext cx="1950889" cy="2525096"/>
              </a:xfrm>
              <a:prstGeom prst="rect">
                <a:avLst/>
              </a:prstGeom>
            </p:spPr>
          </p:pic>
        </p:grpSp>
        <p:sp>
          <p:nvSpPr>
            <p:cNvPr id="28" name="Donut 27"/>
            <p:cNvSpPr/>
            <p:nvPr/>
          </p:nvSpPr>
          <p:spPr>
            <a:xfrm>
              <a:off x="3389026" y="5618738"/>
              <a:ext cx="555585" cy="532435"/>
            </a:xfrm>
            <a:prstGeom prst="donut">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33" name="TextBox 32"/>
            <p:cNvSpPr txBox="1"/>
            <p:nvPr/>
          </p:nvSpPr>
          <p:spPr>
            <a:xfrm>
              <a:off x="2624996" y="2540704"/>
              <a:ext cx="2073324" cy="646331"/>
            </a:xfrm>
            <a:prstGeom prst="rect">
              <a:avLst/>
            </a:prstGeom>
            <a:noFill/>
          </p:spPr>
          <p:txBody>
            <a:bodyPr wrap="square" rtlCol="0">
              <a:spAutoFit/>
            </a:bodyPr>
            <a:lstStyle/>
            <a:p>
              <a:pPr algn="ctr"/>
              <a:r>
                <a:rPr lang="en-PH" b="1" dirty="0">
                  <a:latin typeface="Century Gothic" panose="020B0502020202020204" pitchFamily="34" charset="0"/>
                </a:rPr>
                <a:t>Population and Sampling</a:t>
              </a:r>
            </a:p>
          </p:txBody>
        </p:sp>
        <p:pic>
          <p:nvPicPr>
            <p:cNvPr id="4106" name="Picture 10" descr="See the source image"/>
            <p:cNvPicPr>
              <a:picLocks noChangeAspect="1" noChangeArrowheads="1"/>
            </p:cNvPicPr>
            <p:nvPr/>
          </p:nvPicPr>
          <p:blipFill rotWithShape="1">
            <a:blip r:embed="rId5">
              <a:lum bright="70000" contrast="-70000"/>
              <a:extLst>
                <a:ext uri="{BEBA8EAE-BF5A-486C-A8C5-ECC9F3942E4B}">
                  <a14:imgProps xmlns:a14="http://schemas.microsoft.com/office/drawing/2010/main">
                    <a14:imgLayer r:embed="rId6">
                      <a14:imgEffect>
                        <a14:backgroundRemoval t="0" b="26190" l="68667" r="81083">
                          <a14:foregroundMark x1="72333" y1="17143" x2="72333" y2="17143"/>
                          <a14:foregroundMark x1="74833" y1="9841" x2="74833" y2="9841"/>
                          <a14:foregroundMark x1="74833" y1="7143" x2="74833" y2="7143"/>
                          <a14:foregroundMark x1="76667" y1="11429" x2="76667" y2="11429"/>
                        </a14:backgroundRemoval>
                      </a14:imgEffect>
                    </a14:imgLayer>
                  </a14:imgProps>
                </a:ext>
                <a:ext uri="{28A0092B-C50C-407E-A947-70E740481C1C}">
                  <a14:useLocalDpi xmlns:a14="http://schemas.microsoft.com/office/drawing/2010/main" val="0"/>
                </a:ext>
              </a:extLst>
            </a:blip>
            <a:srcRect l="68772" r="18694" b="73565"/>
            <a:stretch>
              <a:fillRect/>
            </a:stretch>
          </p:blipFill>
          <p:spPr bwMode="auto">
            <a:xfrm>
              <a:off x="3210753" y="1474244"/>
              <a:ext cx="913257" cy="1011248"/>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p:cNvSpPr txBox="1"/>
            <p:nvPr/>
          </p:nvSpPr>
          <p:spPr>
            <a:xfrm>
              <a:off x="2694343" y="3179362"/>
              <a:ext cx="1968425" cy="1814830"/>
            </a:xfrm>
            <a:prstGeom prst="rect">
              <a:avLst/>
            </a:prstGeom>
            <a:noFill/>
          </p:spPr>
          <p:txBody>
            <a:bodyPr wrap="square" rtlCol="0">
              <a:spAutoFit/>
            </a:bodyPr>
            <a:lstStyle/>
            <a:p>
              <a:pPr algn="ctr"/>
              <a:r>
                <a:rPr lang="en-US" altLang="en-PH" sz="1600" dirty="0">
                  <a:latin typeface="Century Gothic" panose="020B0502020202020204" pitchFamily="34" charset="0"/>
                  <a:sym typeface="+mn-ea"/>
                </a:rPr>
                <a:t>268 Senior high school </a:t>
              </a:r>
              <a:r>
                <a:rPr lang="en-PH" sz="1600" dirty="0">
                  <a:latin typeface="Century Gothic" panose="020B0502020202020204" pitchFamily="34" charset="0"/>
                  <a:sym typeface="+mn-ea"/>
                </a:rPr>
                <a:t>students from Santa Maria Integrated High School in Laguna</a:t>
              </a:r>
              <a:r>
                <a:rPr lang="en-US" altLang="en-PH" sz="1600" dirty="0">
                  <a:latin typeface="Century Gothic" panose="020B0502020202020204" pitchFamily="34" charset="0"/>
                  <a:sym typeface="+mn-ea"/>
                </a:rPr>
                <a:t>,</a:t>
              </a:r>
              <a:endParaRPr lang="en-US" altLang="en-PH" sz="1600" dirty="0">
                <a:latin typeface="Century Gothic" panose="020B0502020202020204" pitchFamily="34" charset="0"/>
              </a:endParaRPr>
            </a:p>
            <a:p>
              <a:pPr algn="ctr"/>
              <a:r>
                <a:rPr lang="en-US" altLang="en-PH" sz="1600" dirty="0">
                  <a:latin typeface="Century Gothic" panose="020B0502020202020204" pitchFamily="34" charset="0"/>
                  <a:sym typeface="+mn-ea"/>
                </a:rPr>
                <a:t>Stratified random sampling</a:t>
              </a:r>
              <a:endParaRPr lang="en-PH" sz="1600" dirty="0">
                <a:latin typeface="Century Gothic" panose="020B0502020202020204" pitchFamily="34" charset="0"/>
              </a:endParaRPr>
            </a:p>
          </p:txBody>
        </p:sp>
      </p:grpSp>
      <p:grpSp>
        <p:nvGrpSpPr>
          <p:cNvPr id="4" name="Group 3"/>
          <p:cNvGrpSpPr/>
          <p:nvPr/>
        </p:nvGrpSpPr>
        <p:grpSpPr>
          <a:xfrm>
            <a:off x="4998200" y="1503126"/>
            <a:ext cx="1995569" cy="4676929"/>
            <a:chOff x="4998200" y="1474244"/>
            <a:chExt cx="1995569" cy="4676929"/>
          </a:xfrm>
        </p:grpSpPr>
        <p:grpSp>
          <p:nvGrpSpPr>
            <p:cNvPr id="17" name="Group 16"/>
            <p:cNvGrpSpPr/>
            <p:nvPr/>
          </p:nvGrpSpPr>
          <p:grpSpPr>
            <a:xfrm>
              <a:off x="5042880" y="1474244"/>
              <a:ext cx="1950889" cy="3900051"/>
              <a:chOff x="507831" y="1535446"/>
              <a:chExt cx="1950889" cy="3464818"/>
            </a:xfrm>
            <a:effectLst>
              <a:outerShdw blurRad="50800" dist="114300" dir="5400000" algn="t" rotWithShape="0">
                <a:prstClr val="black">
                  <a:alpha val="40000"/>
                </a:prstClr>
              </a:outerShdw>
            </a:effectLst>
          </p:grpSpPr>
          <p:sp>
            <p:nvSpPr>
              <p:cNvPr id="18" name="Round Same Side Corner Rectangle 17"/>
              <p:cNvSpPr/>
              <p:nvPr/>
            </p:nvSpPr>
            <p:spPr>
              <a:xfrm>
                <a:off x="507831" y="1535446"/>
                <a:ext cx="1950720" cy="942790"/>
              </a:xfrm>
              <a:prstGeom prst="round2SameRect">
                <a:avLst>
                  <a:gd name="adj1" fmla="val 15667"/>
                  <a:gd name="adj2" fmla="val 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19" name="Picture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831" y="2478236"/>
                <a:ext cx="1950889" cy="2522028"/>
              </a:xfrm>
              <a:prstGeom prst="rect">
                <a:avLst/>
              </a:prstGeom>
            </p:spPr>
          </p:pic>
        </p:grpSp>
        <p:sp>
          <p:nvSpPr>
            <p:cNvPr id="29" name="Donut 28"/>
            <p:cNvSpPr/>
            <p:nvPr/>
          </p:nvSpPr>
          <p:spPr>
            <a:xfrm>
              <a:off x="5742247" y="5618738"/>
              <a:ext cx="555585" cy="532435"/>
            </a:xfrm>
            <a:prstGeom prst="donut">
              <a:avLst/>
            </a:prstGeom>
            <a:solidFill>
              <a:srgbClr val="00B05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34" name="TextBox 33"/>
            <p:cNvSpPr txBox="1"/>
            <p:nvPr/>
          </p:nvSpPr>
          <p:spPr>
            <a:xfrm>
              <a:off x="4998200" y="2612493"/>
              <a:ext cx="1973707" cy="369332"/>
            </a:xfrm>
            <a:prstGeom prst="rect">
              <a:avLst/>
            </a:prstGeom>
            <a:noFill/>
          </p:spPr>
          <p:txBody>
            <a:bodyPr wrap="square" rtlCol="0">
              <a:spAutoFit/>
            </a:bodyPr>
            <a:lstStyle/>
            <a:p>
              <a:pPr algn="ctr"/>
              <a:r>
                <a:rPr lang="en-PH" b="1" dirty="0">
                  <a:latin typeface="Century Gothic" panose="020B0502020202020204" pitchFamily="34" charset="0"/>
                </a:rPr>
                <a:t>Instrument</a:t>
              </a:r>
            </a:p>
          </p:txBody>
        </p:sp>
        <p:pic>
          <p:nvPicPr>
            <p:cNvPr id="4102" name="Picture 6" descr="See the source image"/>
            <p:cNvPicPr>
              <a:picLocks noChangeAspect="1" noChangeArrowheads="1"/>
            </p:cNvPicPr>
            <p:nvPr/>
          </p:nvPicPr>
          <p:blipFill>
            <a:blip r:embed="rId7" cstate="print">
              <a:lum bright="70000" contrast="-70000"/>
              <a:extLst>
                <a:ext uri="{28A0092B-C50C-407E-A947-70E740481C1C}">
                  <a14:useLocalDpi xmlns:a14="http://schemas.microsoft.com/office/drawing/2010/main" val="0"/>
                </a:ext>
              </a:extLst>
            </a:blip>
            <a:srcRect/>
            <a:stretch>
              <a:fillRect/>
            </a:stretch>
          </p:blipFill>
          <p:spPr bwMode="auto">
            <a:xfrm>
              <a:off x="5642383" y="1629124"/>
              <a:ext cx="728726" cy="728726"/>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p:cNvSpPr txBox="1"/>
            <p:nvPr/>
          </p:nvSpPr>
          <p:spPr>
            <a:xfrm>
              <a:off x="5034283" y="3060404"/>
              <a:ext cx="1927464" cy="2245360"/>
            </a:xfrm>
            <a:prstGeom prst="rect">
              <a:avLst/>
            </a:prstGeom>
            <a:noFill/>
          </p:spPr>
          <p:txBody>
            <a:bodyPr wrap="square" rtlCol="0">
              <a:spAutoFit/>
            </a:bodyPr>
            <a:lstStyle/>
            <a:p>
              <a:pPr algn="ctr"/>
              <a:r>
                <a:rPr lang="en-PH" sz="2000" dirty="0">
                  <a:latin typeface="Century Gothic" panose="020B0502020202020204" pitchFamily="34" charset="0"/>
                  <a:sym typeface="+mn-ea"/>
                </a:rPr>
                <a:t>Self-made DCP questionnaire,</a:t>
              </a:r>
              <a:endParaRPr lang="en-PH" sz="2000" dirty="0">
                <a:latin typeface="Century Gothic" panose="020B0502020202020204" pitchFamily="34" charset="0"/>
              </a:endParaRPr>
            </a:p>
            <a:p>
              <a:pPr algn="ctr"/>
              <a:r>
                <a:rPr lang="en-PH" sz="2000" dirty="0">
                  <a:latin typeface="Century Gothic" panose="020B0502020202020204" pitchFamily="34" charset="0"/>
                  <a:sym typeface="+mn-ea"/>
                </a:rPr>
                <a:t>Likert-scale questionnaire for learners</a:t>
              </a:r>
              <a:endParaRPr lang="en-PH" sz="2000" dirty="0">
                <a:latin typeface="Century Gothic" panose="020B0502020202020204" pitchFamily="34" charset="0"/>
              </a:endParaRPr>
            </a:p>
            <a:p>
              <a:pPr algn="ctr"/>
              <a:endParaRPr lang="en-PH" sz="2000" dirty="0">
                <a:latin typeface="Century Gothic" panose="020B0502020202020204" pitchFamily="34" charset="0"/>
              </a:endParaRPr>
            </a:p>
          </p:txBody>
        </p:sp>
      </p:grpSp>
      <p:grpSp>
        <p:nvGrpSpPr>
          <p:cNvPr id="8" name="Group 7"/>
          <p:cNvGrpSpPr/>
          <p:nvPr/>
        </p:nvGrpSpPr>
        <p:grpSpPr>
          <a:xfrm>
            <a:off x="7371145" y="1503126"/>
            <a:ext cx="2073324" cy="4688504"/>
            <a:chOff x="7371145" y="1474244"/>
            <a:chExt cx="2073324" cy="4688504"/>
          </a:xfrm>
        </p:grpSpPr>
        <p:grpSp>
          <p:nvGrpSpPr>
            <p:cNvPr id="20" name="Group 19"/>
            <p:cNvGrpSpPr/>
            <p:nvPr/>
          </p:nvGrpSpPr>
          <p:grpSpPr>
            <a:xfrm>
              <a:off x="7395764" y="1474244"/>
              <a:ext cx="1950889" cy="3900051"/>
              <a:chOff x="507831" y="1535446"/>
              <a:chExt cx="1950889" cy="3464818"/>
            </a:xfrm>
            <a:effectLst>
              <a:outerShdw blurRad="50800" dist="114300" dir="5400000" algn="t" rotWithShape="0">
                <a:prstClr val="black">
                  <a:alpha val="40000"/>
                </a:prstClr>
              </a:outerShdw>
            </a:effectLst>
          </p:grpSpPr>
          <p:sp>
            <p:nvSpPr>
              <p:cNvPr id="21" name="Round Same Side Corner Rectangle 20"/>
              <p:cNvSpPr/>
              <p:nvPr/>
            </p:nvSpPr>
            <p:spPr>
              <a:xfrm>
                <a:off x="507831" y="1535446"/>
                <a:ext cx="1950720" cy="1016000"/>
              </a:xfrm>
              <a:prstGeom prst="round2SameRect">
                <a:avLst>
                  <a:gd name="adj1" fmla="val 15667"/>
                  <a:gd name="adj2" fmla="val 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22" name="Pictur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831" y="2534856"/>
                <a:ext cx="1950889" cy="2465408"/>
              </a:xfrm>
              <a:prstGeom prst="rect">
                <a:avLst/>
              </a:prstGeom>
            </p:spPr>
          </p:pic>
        </p:grpSp>
        <p:sp>
          <p:nvSpPr>
            <p:cNvPr id="12" name="Donut 11"/>
            <p:cNvSpPr/>
            <p:nvPr/>
          </p:nvSpPr>
          <p:spPr>
            <a:xfrm>
              <a:off x="8093331" y="5630313"/>
              <a:ext cx="555585" cy="532435"/>
            </a:xfrm>
            <a:prstGeom prst="donut">
              <a:avLst/>
            </a:prstGeom>
            <a:solidFill>
              <a:srgbClr val="FFC00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35" name="TextBox 34"/>
            <p:cNvSpPr txBox="1"/>
            <p:nvPr/>
          </p:nvSpPr>
          <p:spPr>
            <a:xfrm>
              <a:off x="7371145" y="2518815"/>
              <a:ext cx="2073324" cy="646331"/>
            </a:xfrm>
            <a:prstGeom prst="rect">
              <a:avLst/>
            </a:prstGeom>
            <a:noFill/>
          </p:spPr>
          <p:txBody>
            <a:bodyPr wrap="square" rtlCol="0">
              <a:spAutoFit/>
            </a:bodyPr>
            <a:lstStyle/>
            <a:p>
              <a:pPr algn="ctr"/>
              <a:r>
                <a:rPr lang="en-PH" b="1" dirty="0">
                  <a:latin typeface="Century Gothic" panose="020B0502020202020204" pitchFamily="34" charset="0"/>
                </a:rPr>
                <a:t>Data Gathering Procedure</a:t>
              </a:r>
            </a:p>
          </p:txBody>
        </p:sp>
        <p:pic>
          <p:nvPicPr>
            <p:cNvPr id="4108" name="Picture 12" descr="See the source image"/>
            <p:cNvPicPr>
              <a:picLocks noChangeAspect="1" noChangeArrowheads="1"/>
            </p:cNvPicPr>
            <p:nvPr/>
          </p:nvPicPr>
          <p:blipFill>
            <a:blip r:embed="rId8" cstate="print">
              <a:lum bright="70000" contrast="-70000"/>
              <a:extLst>
                <a:ext uri="{28A0092B-C50C-407E-A947-70E740481C1C}">
                  <a14:useLocalDpi xmlns:a14="http://schemas.microsoft.com/office/drawing/2010/main" val="0"/>
                </a:ext>
              </a:extLst>
            </a:blip>
            <a:srcRect/>
            <a:stretch>
              <a:fillRect/>
            </a:stretch>
          </p:blipFill>
          <p:spPr bwMode="auto">
            <a:xfrm>
              <a:off x="7894011" y="1562884"/>
              <a:ext cx="913583" cy="913583"/>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p:cNvSpPr txBox="1"/>
            <p:nvPr/>
          </p:nvSpPr>
          <p:spPr>
            <a:xfrm>
              <a:off x="7409428" y="3060486"/>
              <a:ext cx="1927464" cy="2276475"/>
            </a:xfrm>
            <a:prstGeom prst="rect">
              <a:avLst/>
            </a:prstGeom>
            <a:noFill/>
          </p:spPr>
          <p:txBody>
            <a:bodyPr wrap="square" rtlCol="0">
              <a:spAutoFit/>
            </a:bodyPr>
            <a:lstStyle/>
            <a:p>
              <a:pPr algn="ctr"/>
              <a:r>
                <a:rPr lang="en-PH" sz="1400" dirty="0">
                  <a:latin typeface="Century Gothic" panose="020B0502020202020204" pitchFamily="34" charset="0"/>
                  <a:sym typeface="+mn-ea"/>
                </a:rPr>
                <a:t>Evaluate surveys, obtain authorization from school area, notify respondents, distribution of application, and questionnaires, and analyze acquired data. </a:t>
              </a:r>
              <a:endParaRPr lang="en-PH" sz="1600" dirty="0">
                <a:latin typeface="Century Gothic" panose="020B0502020202020204" pitchFamily="34" charset="0"/>
              </a:endParaRPr>
            </a:p>
            <a:p>
              <a:pPr algn="ctr"/>
              <a:endParaRPr lang="en-PH" sz="1600" dirty="0">
                <a:latin typeface="Century Gothic" panose="020B0502020202020204" pitchFamily="34" charset="0"/>
              </a:endParaRPr>
            </a:p>
          </p:txBody>
        </p:sp>
      </p:grpSp>
      <p:grpSp>
        <p:nvGrpSpPr>
          <p:cNvPr id="9" name="Group 8"/>
          <p:cNvGrpSpPr/>
          <p:nvPr/>
        </p:nvGrpSpPr>
        <p:grpSpPr>
          <a:xfrm>
            <a:off x="9745502" y="1503126"/>
            <a:ext cx="1951109" cy="4711653"/>
            <a:chOff x="9745502" y="1474244"/>
            <a:chExt cx="1951109" cy="4711653"/>
          </a:xfrm>
        </p:grpSpPr>
        <p:grpSp>
          <p:nvGrpSpPr>
            <p:cNvPr id="23" name="Group 22"/>
            <p:cNvGrpSpPr/>
            <p:nvPr/>
          </p:nvGrpSpPr>
          <p:grpSpPr>
            <a:xfrm>
              <a:off x="9745722" y="1474244"/>
              <a:ext cx="1950889" cy="3900051"/>
              <a:chOff x="507831" y="1535446"/>
              <a:chExt cx="1950889" cy="3464818"/>
            </a:xfrm>
            <a:effectLst>
              <a:outerShdw blurRad="50800" dist="114300" dir="5400000" algn="t" rotWithShape="0">
                <a:prstClr val="black">
                  <a:alpha val="40000"/>
                </a:prstClr>
              </a:outerShdw>
            </a:effectLst>
          </p:grpSpPr>
          <p:sp>
            <p:nvSpPr>
              <p:cNvPr id="24" name="Round Same Side Corner Rectangle 23"/>
              <p:cNvSpPr/>
              <p:nvPr/>
            </p:nvSpPr>
            <p:spPr>
              <a:xfrm>
                <a:off x="507831" y="1535446"/>
                <a:ext cx="1950720" cy="1016000"/>
              </a:xfrm>
              <a:prstGeom prst="round2SameRect">
                <a:avLst>
                  <a:gd name="adj1" fmla="val 15667"/>
                  <a:gd name="adj2" fmla="val 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25" name="Picture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831" y="2534856"/>
                <a:ext cx="1950889" cy="2465408"/>
              </a:xfrm>
              <a:prstGeom prst="rect">
                <a:avLst/>
              </a:prstGeom>
            </p:spPr>
          </p:pic>
        </p:grpSp>
        <p:sp>
          <p:nvSpPr>
            <p:cNvPr id="30" name="Donut 29"/>
            <p:cNvSpPr/>
            <p:nvPr/>
          </p:nvSpPr>
          <p:spPr>
            <a:xfrm>
              <a:off x="10443289" y="5653462"/>
              <a:ext cx="555585" cy="532435"/>
            </a:xfrm>
            <a:prstGeom prst="donut">
              <a:avLst/>
            </a:prstGeom>
            <a:solidFill>
              <a:srgbClr val="C0000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solidFill>
                  <a:schemeClr val="tx1"/>
                </a:solidFill>
              </a:endParaRPr>
            </a:p>
          </p:txBody>
        </p:sp>
        <p:sp>
          <p:nvSpPr>
            <p:cNvPr id="36" name="TextBox 35"/>
            <p:cNvSpPr txBox="1"/>
            <p:nvPr/>
          </p:nvSpPr>
          <p:spPr>
            <a:xfrm>
              <a:off x="9755662" y="2591821"/>
              <a:ext cx="1940780" cy="646331"/>
            </a:xfrm>
            <a:prstGeom prst="rect">
              <a:avLst/>
            </a:prstGeom>
            <a:noFill/>
          </p:spPr>
          <p:txBody>
            <a:bodyPr wrap="square" rtlCol="0">
              <a:spAutoFit/>
            </a:bodyPr>
            <a:lstStyle/>
            <a:p>
              <a:pPr algn="ctr"/>
              <a:r>
                <a:rPr lang="en-PH" b="1" dirty="0">
                  <a:latin typeface="Century Gothic" panose="020B0502020202020204" pitchFamily="34" charset="0"/>
                </a:rPr>
                <a:t>Statistical Treatment</a:t>
              </a:r>
            </a:p>
          </p:txBody>
        </p:sp>
        <p:pic>
          <p:nvPicPr>
            <p:cNvPr id="4104" name="Picture 8" descr="See the source image"/>
            <p:cNvPicPr>
              <a:picLocks noChangeAspect="1" noChangeArrowheads="1"/>
            </p:cNvPicPr>
            <p:nvPr/>
          </p:nvPicPr>
          <p:blipFill rotWithShape="1">
            <a:blip r:embed="rId9" cstate="print">
              <a:lum bright="70000" contrast="-70000"/>
              <a:extLst>
                <a:ext uri="{BEBA8EAE-BF5A-486C-A8C5-ECC9F3942E4B}">
                  <a14:imgProps xmlns:a14="http://schemas.microsoft.com/office/drawing/2010/main">
                    <a14:imgLayer r:embed="rId10">
                      <a14:imgEffect>
                        <a14:backgroundRemoval t="278" b="92500" l="0" r="98647">
                          <a14:foregroundMark x1="41415" y1="44444" x2="41415" y2="44444"/>
                          <a14:foregroundMark x1="72529" y1="21481" x2="72529" y2="21481"/>
                          <a14:foregroundMark x1="91571" y1="23148" x2="91571" y2="23148"/>
                        </a14:backgroundRemoval>
                      </a14:imgEffect>
                    </a14:imgLayer>
                  </a14:imgProps>
                </a:ext>
                <a:ext uri="{28A0092B-C50C-407E-A947-70E740481C1C}">
                  <a14:useLocalDpi xmlns:a14="http://schemas.microsoft.com/office/drawing/2010/main" val="0"/>
                </a:ext>
              </a:extLst>
            </a:blip>
            <a:srcRect b="7491"/>
            <a:stretch>
              <a:fillRect/>
            </a:stretch>
          </p:blipFill>
          <p:spPr bwMode="auto">
            <a:xfrm>
              <a:off x="10326204" y="1618808"/>
              <a:ext cx="789510" cy="820806"/>
            </a:xfrm>
            <a:prstGeom prst="rect">
              <a:avLst/>
            </a:prstGeom>
            <a:noFill/>
            <a:extLst>
              <a:ext uri="{909E8E84-426E-40DD-AFC4-6F175D3DCCD1}">
                <a14:hiddenFill xmlns:a14="http://schemas.microsoft.com/office/drawing/2010/main">
                  <a:solidFill>
                    <a:srgbClr val="FFFFFF"/>
                  </a:solidFill>
                </a14:hiddenFill>
              </a:ext>
            </a:extLst>
          </p:spPr>
        </p:pic>
        <p:sp>
          <p:nvSpPr>
            <p:cNvPr id="41" name="TextBox 40"/>
            <p:cNvSpPr txBox="1"/>
            <p:nvPr/>
          </p:nvSpPr>
          <p:spPr>
            <a:xfrm>
              <a:off x="9745502" y="3228126"/>
              <a:ext cx="1950720" cy="1938020"/>
            </a:xfrm>
            <a:prstGeom prst="rect">
              <a:avLst/>
            </a:prstGeom>
            <a:noFill/>
          </p:spPr>
          <p:txBody>
            <a:bodyPr wrap="square" rtlCol="0">
              <a:spAutoFit/>
            </a:bodyPr>
            <a:lstStyle/>
            <a:p>
              <a:pPr algn="ctr"/>
              <a:r>
                <a:rPr lang="en-PH" sz="2000" dirty="0">
                  <a:latin typeface="Century Gothic" panose="020B0502020202020204" pitchFamily="34" charset="0"/>
                  <a:sym typeface="+mn-ea"/>
                </a:rPr>
                <a:t>Weighted mean </a:t>
              </a:r>
              <a:endParaRPr lang="en-PH" sz="2000" dirty="0">
                <a:latin typeface="Century Gothic" panose="020B0502020202020204" pitchFamily="34" charset="0"/>
              </a:endParaRPr>
            </a:p>
            <a:p>
              <a:pPr algn="ctr"/>
              <a:r>
                <a:rPr lang="en-PH" sz="2000" dirty="0">
                  <a:latin typeface="Century Gothic" panose="020B0502020202020204" pitchFamily="34" charset="0"/>
                  <a:sym typeface="+mn-ea"/>
                </a:rPr>
                <a:t>Spearman Rho </a:t>
              </a:r>
              <a:endParaRPr lang="en-PH" sz="2000" dirty="0">
                <a:latin typeface="Century Gothic" panose="020B0502020202020204" pitchFamily="34" charset="0"/>
              </a:endParaRPr>
            </a:p>
            <a:p>
              <a:pPr algn="ctr"/>
              <a:r>
                <a:rPr lang="en-PH" sz="2000" dirty="0">
                  <a:latin typeface="Century Gothic" panose="020B0502020202020204" pitchFamily="34" charset="0"/>
                  <a:sym typeface="+mn-ea"/>
                </a:rPr>
                <a:t>Correlation</a:t>
              </a:r>
              <a:endParaRPr lang="en-PH" sz="2000" dirty="0">
                <a:latin typeface="Century Gothic" panose="020B0502020202020204" pitchFamily="34" charset="0"/>
              </a:endParaRPr>
            </a:p>
            <a:p>
              <a:pPr algn="ctr"/>
              <a:endParaRPr lang="en-US" altLang="en-PH" sz="2000" dirty="0">
                <a:latin typeface="Century Gothic" panose="020B0502020202020204" pitchFamily="34" charset="0"/>
              </a:endParaRPr>
            </a:p>
          </p:txBody>
        </p:sp>
      </p:gr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515440" y="238894"/>
            <a:ext cx="7041298" cy="5876877"/>
            <a:chOff x="4515440" y="238894"/>
            <a:chExt cx="7041298" cy="5876877"/>
          </a:xfrm>
        </p:grpSpPr>
        <p:sp>
          <p:nvSpPr>
            <p:cNvPr id="5" name="Title 1"/>
            <p:cNvSpPr txBox="1"/>
            <p:nvPr/>
          </p:nvSpPr>
          <p:spPr>
            <a:xfrm>
              <a:off x="4515440" y="238894"/>
              <a:ext cx="6856793" cy="98804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PH" sz="5400" dirty="0">
                  <a:ln w="19050">
                    <a:noFill/>
                  </a:ln>
                  <a:solidFill>
                    <a:srgbClr val="0066CC"/>
                  </a:solidFill>
                  <a:latin typeface="Impact" panose="020B0806030902050204" pitchFamily="34" charset="0"/>
                </a:rPr>
                <a:t>Result and Discussions</a:t>
              </a:r>
            </a:p>
          </p:txBody>
        </p:sp>
        <p:sp>
          <p:nvSpPr>
            <p:cNvPr id="2" name="Rectangle 1"/>
            <p:cNvSpPr/>
            <p:nvPr/>
          </p:nvSpPr>
          <p:spPr>
            <a:xfrm>
              <a:off x="4671370" y="1284691"/>
              <a:ext cx="6885368" cy="4831080"/>
            </a:xfrm>
            <a:prstGeom prst="rect">
              <a:avLst/>
            </a:prstGeom>
          </p:spPr>
          <p:txBody>
            <a:bodyPr wrap="square">
              <a:spAutoFit/>
            </a:bodyPr>
            <a:lstStyle/>
            <a:p>
              <a:pPr lvl="0"/>
              <a:r>
                <a:rPr lang="en-US" altLang="en-US" sz="4400" dirty="0">
                  <a:latin typeface="Franklin Gothic Medium Cond" panose="020B0606030402020204" pitchFamily="34" charset="0"/>
                </a:rPr>
                <a:t>1.What is the level of acceptability of the application to learners and educators with respect to:</a:t>
              </a:r>
            </a:p>
            <a:p>
              <a:pPr lvl="0"/>
              <a:r>
                <a:rPr lang="en-US" altLang="en-US" sz="4400" dirty="0">
                  <a:latin typeface="Franklin Gothic Medium Cond" panose="020B0606030402020204" pitchFamily="34" charset="0"/>
                </a:rPr>
                <a:t>1.1.usability;</a:t>
              </a:r>
            </a:p>
            <a:p>
              <a:pPr lvl="0"/>
              <a:r>
                <a:rPr lang="en-US" altLang="en-US" sz="4400" dirty="0">
                  <a:latin typeface="Franklin Gothic Medium Cond" panose="020B0606030402020204" pitchFamily="34" charset="0"/>
                </a:rPr>
                <a:t>1.2.design; and</a:t>
              </a:r>
            </a:p>
            <a:p>
              <a:pPr lvl="0"/>
              <a:r>
                <a:rPr lang="en-US" altLang="en-US" sz="4400" dirty="0">
                  <a:latin typeface="Franklin Gothic Medium Cond" panose="020B0606030402020204" pitchFamily="34" charset="0"/>
                </a:rPr>
                <a:t>1.3.security?</a:t>
              </a:r>
            </a:p>
          </p:txBody>
        </p:sp>
      </p:grpSp>
      <p:sp>
        <p:nvSpPr>
          <p:cNvPr id="9" name="Rectangle 8"/>
          <p:cNvSpPr/>
          <p:nvPr/>
        </p:nvSpPr>
        <p:spPr>
          <a:xfrm>
            <a:off x="5104434" y="5556883"/>
            <a:ext cx="6782765" cy="523220"/>
          </a:xfrm>
          <a:prstGeom prst="rect">
            <a:avLst/>
          </a:prstGeom>
        </p:spPr>
        <p:txBody>
          <a:bodyPr wrap="square">
            <a:spAutoFit/>
          </a:bodyPr>
          <a:lstStyle/>
          <a:p>
            <a:endParaRPr lang="en-PH" sz="2800" dirty="0">
              <a:solidFill>
                <a:srgbClr val="2DE3F0"/>
              </a:solidFill>
              <a:latin typeface="Cambria Math" panose="02040503050406030204" pitchFamily="18" charset="0"/>
              <a:ea typeface="Cambria Math" panose="02040503050406030204" pitchFamily="18" charset="0"/>
            </a:endParaRPr>
          </a:p>
        </p:txBody>
      </p:sp>
      <p:grpSp>
        <p:nvGrpSpPr>
          <p:cNvPr id="8" name="Group 7">
            <a:extLst>
              <a:ext uri="{FF2B5EF4-FFF2-40B4-BE49-F238E27FC236}">
                <a16:creationId xmlns:a16="http://schemas.microsoft.com/office/drawing/2014/main" id="{60F90A39-646A-2549-17E6-DCEA1A3583B5}"/>
              </a:ext>
            </a:extLst>
          </p:cNvPr>
          <p:cNvGrpSpPr/>
          <p:nvPr/>
        </p:nvGrpSpPr>
        <p:grpSpPr>
          <a:xfrm>
            <a:off x="-8100766" y="-2462"/>
            <a:ext cx="12921615" cy="6858000"/>
            <a:chOff x="-8065741" y="-2462"/>
            <a:chExt cx="12921615" cy="6858000"/>
          </a:xfrm>
        </p:grpSpPr>
        <p:grpSp>
          <p:nvGrpSpPr>
            <p:cNvPr id="30" name="Group 29"/>
            <p:cNvGrpSpPr/>
            <p:nvPr/>
          </p:nvGrpSpPr>
          <p:grpSpPr>
            <a:xfrm>
              <a:off x="-8065741" y="-2462"/>
              <a:ext cx="12921615" cy="6858000"/>
              <a:chOff x="-1011266" y="0"/>
              <a:chExt cx="12921615" cy="6858000"/>
            </a:xfrm>
            <a:solidFill>
              <a:srgbClr val="0066CC"/>
            </a:solidFill>
          </p:grpSpPr>
          <p:grpSp>
            <p:nvGrpSpPr>
              <p:cNvPr id="23" name="Group 22"/>
              <p:cNvGrpSpPr/>
              <p:nvPr/>
            </p:nvGrpSpPr>
            <p:grpSpPr>
              <a:xfrm>
                <a:off x="-1011266" y="0"/>
                <a:ext cx="12921615" cy="6858000"/>
                <a:chOff x="-7993090" y="0"/>
                <a:chExt cx="12921615" cy="6858000"/>
              </a:xfrm>
              <a:grpFill/>
            </p:grpSpPr>
            <p:sp>
              <p:nvSpPr>
                <p:cNvPr id="11" name="Freeform 10"/>
                <p:cNvSpPr/>
                <p:nvPr/>
              </p:nvSpPr>
              <p:spPr>
                <a:xfrm>
                  <a:off x="-7993090" y="0"/>
                  <a:ext cx="12921615" cy="6858000"/>
                </a:xfrm>
                <a:custGeom>
                  <a:avLst/>
                  <a:gdLst>
                    <a:gd name="connsiteX0" fmla="*/ 0 w 12921615"/>
                    <a:gd name="connsiteY0" fmla="*/ 0 h 6858000"/>
                    <a:gd name="connsiteX1" fmla="*/ 12192000 w 12921615"/>
                    <a:gd name="connsiteY1" fmla="*/ 0 h 6858000"/>
                    <a:gd name="connsiteX2" fmla="*/ 12192000 w 12921615"/>
                    <a:gd name="connsiteY2" fmla="*/ 5631180 h 6858000"/>
                    <a:gd name="connsiteX3" fmla="*/ 12776832 w 12921615"/>
                    <a:gd name="connsiteY3" fmla="*/ 5631180 h 6858000"/>
                    <a:gd name="connsiteX4" fmla="*/ 12921615 w 12921615"/>
                    <a:gd name="connsiteY4" fmla="*/ 5775963 h 6858000"/>
                    <a:gd name="connsiteX5" fmla="*/ 12921615 w 12921615"/>
                    <a:gd name="connsiteY5" fmla="*/ 6355077 h 6858000"/>
                    <a:gd name="connsiteX6" fmla="*/ 12776832 w 12921615"/>
                    <a:gd name="connsiteY6" fmla="*/ 6499860 h 6858000"/>
                    <a:gd name="connsiteX7" fmla="*/ 12192000 w 12921615"/>
                    <a:gd name="connsiteY7" fmla="*/ 6499860 h 6858000"/>
                    <a:gd name="connsiteX8" fmla="*/ 12192000 w 12921615"/>
                    <a:gd name="connsiteY8" fmla="*/ 6858000 h 6858000"/>
                    <a:gd name="connsiteX9" fmla="*/ 0 w 1292161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21615" h="6858000">
                      <a:moveTo>
                        <a:pt x="0" y="0"/>
                      </a:moveTo>
                      <a:lnTo>
                        <a:pt x="12192000" y="0"/>
                      </a:lnTo>
                      <a:lnTo>
                        <a:pt x="12192000" y="5631180"/>
                      </a:lnTo>
                      <a:lnTo>
                        <a:pt x="12776832" y="5631180"/>
                      </a:lnTo>
                      <a:cubicBezTo>
                        <a:pt x="12856793" y="5631180"/>
                        <a:pt x="12921615" y="5696002"/>
                        <a:pt x="12921615" y="5775963"/>
                      </a:cubicBezTo>
                      <a:lnTo>
                        <a:pt x="12921615" y="6355077"/>
                      </a:lnTo>
                      <a:cubicBezTo>
                        <a:pt x="12921615" y="6435038"/>
                        <a:pt x="12856793" y="6499860"/>
                        <a:pt x="12776832" y="6499860"/>
                      </a:cubicBezTo>
                      <a:lnTo>
                        <a:pt x="12192000" y="6499860"/>
                      </a:lnTo>
                      <a:lnTo>
                        <a:pt x="12192000" y="6858000"/>
                      </a:lnTo>
                      <a:lnTo>
                        <a:pt x="0" y="6858000"/>
                      </a:lnTo>
                      <a:close/>
                    </a:path>
                  </a:pathLst>
                </a:custGeom>
                <a:grpFill/>
                <a:ln>
                  <a:noFill/>
                </a:ln>
                <a:effectLst>
                  <a:outerShdw blurRad="50800" dist="127000" algn="l"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2" name="TextBox 21"/>
                <p:cNvSpPr txBox="1"/>
                <p:nvPr/>
              </p:nvSpPr>
              <p:spPr>
                <a:xfrm>
                  <a:off x="4201610" y="5544273"/>
                  <a:ext cx="679976" cy="1015663"/>
                </a:xfrm>
                <a:prstGeom prst="rect">
                  <a:avLst/>
                </a:prstGeom>
                <a:noFill/>
              </p:spPr>
              <p:txBody>
                <a:bodyPr wrap="square" rtlCol="0">
                  <a:spAutoFit/>
                </a:bodyPr>
                <a:lstStyle/>
                <a:p>
                  <a:r>
                    <a:rPr lang="en-PH" sz="6000" dirty="0">
                      <a:solidFill>
                        <a:srgbClr val="EEF0F2"/>
                      </a:solidFill>
                      <a:effectLst>
                        <a:outerShdw blurRad="50800" dist="38100" algn="l" rotWithShape="0">
                          <a:prstClr val="black">
                            <a:alpha val="40000"/>
                          </a:prstClr>
                        </a:outerShdw>
                      </a:effectLst>
                      <a:latin typeface="Franklin Gothic Demi" panose="020B0703020102020204" pitchFamily="34" charset="0"/>
                    </a:rPr>
                    <a:t>F</a:t>
                  </a:r>
                </a:p>
              </p:txBody>
            </p:sp>
          </p:grpSp>
          <p:sp>
            <p:nvSpPr>
              <p:cNvPr id="28" name="TextBox 27"/>
              <p:cNvSpPr txBox="1"/>
              <p:nvPr/>
            </p:nvSpPr>
            <p:spPr>
              <a:xfrm>
                <a:off x="3602581" y="129228"/>
                <a:ext cx="6342926" cy="830997"/>
              </a:xfrm>
              <a:prstGeom prst="rect">
                <a:avLst/>
              </a:prstGeom>
              <a:grpFill/>
            </p:spPr>
            <p:txBody>
              <a:bodyPr wrap="square" rtlCol="0">
                <a:spAutoFit/>
              </a:bodyPr>
              <a:lstStyle/>
              <a:p>
                <a:r>
                  <a:rPr lang="en-PH" sz="4800" dirty="0">
                    <a:solidFill>
                      <a:schemeClr val="bg1"/>
                    </a:solidFill>
                    <a:latin typeface="Franklin Gothic Demi" panose="020B0703020102020204" pitchFamily="34" charset="0"/>
                  </a:rPr>
                  <a:t>Findings</a:t>
                </a:r>
              </a:p>
            </p:txBody>
          </p:sp>
        </p:grpSp>
        <p:pic>
          <p:nvPicPr>
            <p:cNvPr id="7" name="Picture 6">
              <a:extLst>
                <a:ext uri="{FF2B5EF4-FFF2-40B4-BE49-F238E27FC236}">
                  <a16:creationId xmlns:a16="http://schemas.microsoft.com/office/drawing/2014/main" id="{0038974C-F787-84F9-CDEA-850E3FD66B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2273" y="957763"/>
              <a:ext cx="9389941" cy="5599711"/>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4.79167E-6 2.96296E-6 L 0.66433 0.00046 " pathEditMode="relative" rAng="0" ptsTypes="AA">
                                      <p:cBhvr>
                                        <p:cTn id="6" dur="500" fill="hold"/>
                                        <p:tgtEl>
                                          <p:spTgt spid="8"/>
                                        </p:tgtEl>
                                        <p:attrNameLst>
                                          <p:attrName>ppt_x</p:attrName>
                                          <p:attrName>ppt_y</p:attrName>
                                        </p:attrNameLst>
                                      </p:cBhvr>
                                      <p:rCtr x="33216"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69CB5-55D0-91CE-64DD-A7216295EACF}"/>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C8AAA9BB-6542-4422-4D92-DE248F8E9367}"/>
              </a:ext>
            </a:extLst>
          </p:cNvPr>
          <p:cNvGrpSpPr/>
          <p:nvPr/>
        </p:nvGrpSpPr>
        <p:grpSpPr>
          <a:xfrm>
            <a:off x="4515440" y="238894"/>
            <a:ext cx="7041298" cy="5876877"/>
            <a:chOff x="4515440" y="238894"/>
            <a:chExt cx="7041298" cy="5876877"/>
          </a:xfrm>
        </p:grpSpPr>
        <p:sp>
          <p:nvSpPr>
            <p:cNvPr id="5" name="Title 1">
              <a:extLst>
                <a:ext uri="{FF2B5EF4-FFF2-40B4-BE49-F238E27FC236}">
                  <a16:creationId xmlns:a16="http://schemas.microsoft.com/office/drawing/2014/main" id="{50030A0A-457C-3E7D-49A3-F282135DF01B}"/>
                </a:ext>
              </a:extLst>
            </p:cNvPr>
            <p:cNvSpPr txBox="1"/>
            <p:nvPr/>
          </p:nvSpPr>
          <p:spPr>
            <a:xfrm>
              <a:off x="4515440" y="238894"/>
              <a:ext cx="6856793" cy="98804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PH" sz="5400" dirty="0">
                  <a:ln w="19050">
                    <a:noFill/>
                  </a:ln>
                  <a:solidFill>
                    <a:srgbClr val="0066CC"/>
                  </a:solidFill>
                  <a:latin typeface="Impact" panose="020B0806030902050204" pitchFamily="34" charset="0"/>
                </a:rPr>
                <a:t>Result and Discussions</a:t>
              </a:r>
            </a:p>
          </p:txBody>
        </p:sp>
        <p:sp>
          <p:nvSpPr>
            <p:cNvPr id="2" name="Rectangle 1">
              <a:extLst>
                <a:ext uri="{FF2B5EF4-FFF2-40B4-BE49-F238E27FC236}">
                  <a16:creationId xmlns:a16="http://schemas.microsoft.com/office/drawing/2014/main" id="{37462C2F-9DCD-42B0-DFC2-6436EBD64983}"/>
                </a:ext>
              </a:extLst>
            </p:cNvPr>
            <p:cNvSpPr/>
            <p:nvPr/>
          </p:nvSpPr>
          <p:spPr>
            <a:xfrm>
              <a:off x="4671370" y="1284691"/>
              <a:ext cx="6885368" cy="4831080"/>
            </a:xfrm>
            <a:prstGeom prst="rect">
              <a:avLst/>
            </a:prstGeom>
          </p:spPr>
          <p:txBody>
            <a:bodyPr wrap="square">
              <a:spAutoFit/>
            </a:bodyPr>
            <a:lstStyle/>
            <a:p>
              <a:pPr lvl="0"/>
              <a:r>
                <a:rPr lang="en-US" altLang="en-US" sz="4400" dirty="0">
                  <a:latin typeface="Franklin Gothic Medium Cond" panose="020B0606030402020204" pitchFamily="34" charset="0"/>
                </a:rPr>
                <a:t>1.What is the level of acceptability of the application to learners and educators with respect to:</a:t>
              </a:r>
            </a:p>
            <a:p>
              <a:pPr lvl="0"/>
              <a:r>
                <a:rPr lang="en-US" altLang="en-US" sz="4400" dirty="0">
                  <a:latin typeface="Franklin Gothic Medium Cond" panose="020B0606030402020204" pitchFamily="34" charset="0"/>
                </a:rPr>
                <a:t>1.1.usability;</a:t>
              </a:r>
            </a:p>
            <a:p>
              <a:pPr lvl="0"/>
              <a:r>
                <a:rPr lang="en-US" altLang="en-US" sz="4400" dirty="0">
                  <a:latin typeface="Franklin Gothic Medium Cond" panose="020B0606030402020204" pitchFamily="34" charset="0"/>
                </a:rPr>
                <a:t>1.2.design; and</a:t>
              </a:r>
            </a:p>
            <a:p>
              <a:pPr lvl="0"/>
              <a:r>
                <a:rPr lang="en-US" altLang="en-US" sz="4400" dirty="0">
                  <a:latin typeface="Franklin Gothic Medium Cond" panose="020B0606030402020204" pitchFamily="34" charset="0"/>
                </a:rPr>
                <a:t>1.3.security?</a:t>
              </a:r>
            </a:p>
          </p:txBody>
        </p:sp>
      </p:grpSp>
      <p:sp>
        <p:nvSpPr>
          <p:cNvPr id="9" name="Rectangle 8">
            <a:extLst>
              <a:ext uri="{FF2B5EF4-FFF2-40B4-BE49-F238E27FC236}">
                <a16:creationId xmlns:a16="http://schemas.microsoft.com/office/drawing/2014/main" id="{68C7D0E0-A4CD-326F-E650-7006FBC08401}"/>
              </a:ext>
            </a:extLst>
          </p:cNvPr>
          <p:cNvSpPr/>
          <p:nvPr/>
        </p:nvSpPr>
        <p:spPr>
          <a:xfrm>
            <a:off x="5104434" y="5556883"/>
            <a:ext cx="6782765" cy="523220"/>
          </a:xfrm>
          <a:prstGeom prst="rect">
            <a:avLst/>
          </a:prstGeom>
        </p:spPr>
        <p:txBody>
          <a:bodyPr wrap="square">
            <a:spAutoFit/>
          </a:bodyPr>
          <a:lstStyle/>
          <a:p>
            <a:endParaRPr lang="en-PH" sz="2800" dirty="0">
              <a:solidFill>
                <a:srgbClr val="2DE3F0"/>
              </a:solidFill>
              <a:latin typeface="Cambria Math" panose="02040503050406030204" pitchFamily="18" charset="0"/>
              <a:ea typeface="Cambria Math" panose="02040503050406030204" pitchFamily="18" charset="0"/>
            </a:endParaRPr>
          </a:p>
        </p:txBody>
      </p:sp>
      <p:grpSp>
        <p:nvGrpSpPr>
          <p:cNvPr id="7" name="Group 6">
            <a:extLst>
              <a:ext uri="{FF2B5EF4-FFF2-40B4-BE49-F238E27FC236}">
                <a16:creationId xmlns:a16="http://schemas.microsoft.com/office/drawing/2014/main" id="{426BCED3-564F-0566-932E-2ECB68072C7C}"/>
              </a:ext>
            </a:extLst>
          </p:cNvPr>
          <p:cNvGrpSpPr/>
          <p:nvPr/>
        </p:nvGrpSpPr>
        <p:grpSpPr>
          <a:xfrm>
            <a:off x="-8065741" y="-2462"/>
            <a:ext cx="12921615" cy="6858000"/>
            <a:chOff x="-8065741" y="-2462"/>
            <a:chExt cx="12921615" cy="6858000"/>
          </a:xfrm>
        </p:grpSpPr>
        <p:grpSp>
          <p:nvGrpSpPr>
            <p:cNvPr id="30" name="Group 29">
              <a:extLst>
                <a:ext uri="{FF2B5EF4-FFF2-40B4-BE49-F238E27FC236}">
                  <a16:creationId xmlns:a16="http://schemas.microsoft.com/office/drawing/2014/main" id="{604FFFE9-7708-7675-45F6-02F84521E4D0}"/>
                </a:ext>
              </a:extLst>
            </p:cNvPr>
            <p:cNvGrpSpPr/>
            <p:nvPr/>
          </p:nvGrpSpPr>
          <p:grpSpPr>
            <a:xfrm>
              <a:off x="-8065741" y="-2462"/>
              <a:ext cx="12921615" cy="6858000"/>
              <a:chOff x="-1011266" y="0"/>
              <a:chExt cx="12921615" cy="6858000"/>
            </a:xfrm>
            <a:solidFill>
              <a:srgbClr val="0066CC"/>
            </a:solidFill>
          </p:grpSpPr>
          <p:grpSp>
            <p:nvGrpSpPr>
              <p:cNvPr id="23" name="Group 22">
                <a:extLst>
                  <a:ext uri="{FF2B5EF4-FFF2-40B4-BE49-F238E27FC236}">
                    <a16:creationId xmlns:a16="http://schemas.microsoft.com/office/drawing/2014/main" id="{CF5BF773-6227-F0DB-27CF-D58CE14EA6AE}"/>
                  </a:ext>
                </a:extLst>
              </p:cNvPr>
              <p:cNvGrpSpPr/>
              <p:nvPr/>
            </p:nvGrpSpPr>
            <p:grpSpPr>
              <a:xfrm>
                <a:off x="-1011266" y="0"/>
                <a:ext cx="12921615" cy="6858000"/>
                <a:chOff x="-7993090" y="0"/>
                <a:chExt cx="12921615" cy="6858000"/>
              </a:xfrm>
              <a:grpFill/>
            </p:grpSpPr>
            <p:sp>
              <p:nvSpPr>
                <p:cNvPr id="11" name="Freeform 10">
                  <a:extLst>
                    <a:ext uri="{FF2B5EF4-FFF2-40B4-BE49-F238E27FC236}">
                      <a16:creationId xmlns:a16="http://schemas.microsoft.com/office/drawing/2014/main" id="{7B276F12-EF76-30D2-8FD9-7AC2B42F6BE7}"/>
                    </a:ext>
                  </a:extLst>
                </p:cNvPr>
                <p:cNvSpPr/>
                <p:nvPr/>
              </p:nvSpPr>
              <p:spPr>
                <a:xfrm>
                  <a:off x="-7993090" y="0"/>
                  <a:ext cx="12921615" cy="6858000"/>
                </a:xfrm>
                <a:custGeom>
                  <a:avLst/>
                  <a:gdLst>
                    <a:gd name="connsiteX0" fmla="*/ 0 w 12921615"/>
                    <a:gd name="connsiteY0" fmla="*/ 0 h 6858000"/>
                    <a:gd name="connsiteX1" fmla="*/ 12192000 w 12921615"/>
                    <a:gd name="connsiteY1" fmla="*/ 0 h 6858000"/>
                    <a:gd name="connsiteX2" fmla="*/ 12192000 w 12921615"/>
                    <a:gd name="connsiteY2" fmla="*/ 5631180 h 6858000"/>
                    <a:gd name="connsiteX3" fmla="*/ 12776832 w 12921615"/>
                    <a:gd name="connsiteY3" fmla="*/ 5631180 h 6858000"/>
                    <a:gd name="connsiteX4" fmla="*/ 12921615 w 12921615"/>
                    <a:gd name="connsiteY4" fmla="*/ 5775963 h 6858000"/>
                    <a:gd name="connsiteX5" fmla="*/ 12921615 w 12921615"/>
                    <a:gd name="connsiteY5" fmla="*/ 6355077 h 6858000"/>
                    <a:gd name="connsiteX6" fmla="*/ 12776832 w 12921615"/>
                    <a:gd name="connsiteY6" fmla="*/ 6499860 h 6858000"/>
                    <a:gd name="connsiteX7" fmla="*/ 12192000 w 12921615"/>
                    <a:gd name="connsiteY7" fmla="*/ 6499860 h 6858000"/>
                    <a:gd name="connsiteX8" fmla="*/ 12192000 w 12921615"/>
                    <a:gd name="connsiteY8" fmla="*/ 6858000 h 6858000"/>
                    <a:gd name="connsiteX9" fmla="*/ 0 w 1292161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21615" h="6858000">
                      <a:moveTo>
                        <a:pt x="0" y="0"/>
                      </a:moveTo>
                      <a:lnTo>
                        <a:pt x="12192000" y="0"/>
                      </a:lnTo>
                      <a:lnTo>
                        <a:pt x="12192000" y="5631180"/>
                      </a:lnTo>
                      <a:lnTo>
                        <a:pt x="12776832" y="5631180"/>
                      </a:lnTo>
                      <a:cubicBezTo>
                        <a:pt x="12856793" y="5631180"/>
                        <a:pt x="12921615" y="5696002"/>
                        <a:pt x="12921615" y="5775963"/>
                      </a:cubicBezTo>
                      <a:lnTo>
                        <a:pt x="12921615" y="6355077"/>
                      </a:lnTo>
                      <a:cubicBezTo>
                        <a:pt x="12921615" y="6435038"/>
                        <a:pt x="12856793" y="6499860"/>
                        <a:pt x="12776832" y="6499860"/>
                      </a:cubicBezTo>
                      <a:lnTo>
                        <a:pt x="12192000" y="6499860"/>
                      </a:lnTo>
                      <a:lnTo>
                        <a:pt x="12192000" y="6858000"/>
                      </a:lnTo>
                      <a:lnTo>
                        <a:pt x="0" y="6858000"/>
                      </a:lnTo>
                      <a:close/>
                    </a:path>
                  </a:pathLst>
                </a:custGeom>
                <a:grpFill/>
                <a:ln>
                  <a:noFill/>
                </a:ln>
                <a:effectLst>
                  <a:outerShdw blurRad="50800" dist="127000" algn="l"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2" name="TextBox 21">
                  <a:extLst>
                    <a:ext uri="{FF2B5EF4-FFF2-40B4-BE49-F238E27FC236}">
                      <a16:creationId xmlns:a16="http://schemas.microsoft.com/office/drawing/2014/main" id="{FC62BF02-6CD5-78D2-2512-CCCC9888B8FE}"/>
                    </a:ext>
                  </a:extLst>
                </p:cNvPr>
                <p:cNvSpPr txBox="1"/>
                <p:nvPr/>
              </p:nvSpPr>
              <p:spPr>
                <a:xfrm>
                  <a:off x="4201610" y="5544273"/>
                  <a:ext cx="679976" cy="1015663"/>
                </a:xfrm>
                <a:prstGeom prst="rect">
                  <a:avLst/>
                </a:prstGeom>
                <a:noFill/>
              </p:spPr>
              <p:txBody>
                <a:bodyPr wrap="square" rtlCol="0">
                  <a:spAutoFit/>
                </a:bodyPr>
                <a:lstStyle/>
                <a:p>
                  <a:r>
                    <a:rPr lang="en-PH" sz="6000" dirty="0">
                      <a:solidFill>
                        <a:srgbClr val="EEF0F2"/>
                      </a:solidFill>
                      <a:effectLst>
                        <a:outerShdw blurRad="50800" dist="38100" algn="l" rotWithShape="0">
                          <a:prstClr val="black">
                            <a:alpha val="40000"/>
                          </a:prstClr>
                        </a:outerShdw>
                      </a:effectLst>
                      <a:latin typeface="Franklin Gothic Demi" panose="020B0703020102020204" pitchFamily="34" charset="0"/>
                    </a:rPr>
                    <a:t>F</a:t>
                  </a:r>
                </a:p>
              </p:txBody>
            </p:sp>
          </p:grpSp>
          <p:sp>
            <p:nvSpPr>
              <p:cNvPr id="28" name="TextBox 27">
                <a:extLst>
                  <a:ext uri="{FF2B5EF4-FFF2-40B4-BE49-F238E27FC236}">
                    <a16:creationId xmlns:a16="http://schemas.microsoft.com/office/drawing/2014/main" id="{CD324E22-CBC5-2294-C6A4-A9953C015A38}"/>
                  </a:ext>
                </a:extLst>
              </p:cNvPr>
              <p:cNvSpPr txBox="1"/>
              <p:nvPr/>
            </p:nvSpPr>
            <p:spPr>
              <a:xfrm>
                <a:off x="3602581" y="129228"/>
                <a:ext cx="6342926" cy="830997"/>
              </a:xfrm>
              <a:prstGeom prst="rect">
                <a:avLst/>
              </a:prstGeom>
              <a:grpFill/>
            </p:spPr>
            <p:txBody>
              <a:bodyPr wrap="square" rtlCol="0">
                <a:spAutoFit/>
              </a:bodyPr>
              <a:lstStyle/>
              <a:p>
                <a:r>
                  <a:rPr lang="en-PH" sz="4800" dirty="0">
                    <a:solidFill>
                      <a:schemeClr val="bg1"/>
                    </a:solidFill>
                    <a:latin typeface="Franklin Gothic Demi" panose="020B0703020102020204" pitchFamily="34" charset="0"/>
                  </a:rPr>
                  <a:t>Findings</a:t>
                </a:r>
              </a:p>
            </p:txBody>
          </p:sp>
        </p:grpSp>
        <p:pic>
          <p:nvPicPr>
            <p:cNvPr id="6" name="Picture 5">
              <a:extLst>
                <a:ext uri="{FF2B5EF4-FFF2-40B4-BE49-F238E27FC236}">
                  <a16:creationId xmlns:a16="http://schemas.microsoft.com/office/drawing/2014/main" id="{A53F42AA-6A3B-EE2A-7B48-7EE2C14CB5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5197" y="1086991"/>
              <a:ext cx="9542864" cy="5470483"/>
            </a:xfrm>
            <a:prstGeom prst="rect">
              <a:avLst/>
            </a:prstGeom>
          </p:spPr>
        </p:pic>
      </p:grpSp>
    </p:spTree>
    <p:extLst>
      <p:ext uri="{BB962C8B-B14F-4D97-AF65-F5344CB8AC3E}">
        <p14:creationId xmlns:p14="http://schemas.microsoft.com/office/powerpoint/2010/main" val="12068998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6.25E-7 2.96296E-6 L 0.66055 0.00046 " pathEditMode="relative" rAng="0" ptsTypes="AA">
                                      <p:cBhvr>
                                        <p:cTn id="6" dur="500" fill="hold"/>
                                        <p:tgtEl>
                                          <p:spTgt spid="7"/>
                                        </p:tgtEl>
                                        <p:attrNameLst>
                                          <p:attrName>ppt_x</p:attrName>
                                          <p:attrName>ppt_y</p:attrName>
                                        </p:attrNameLst>
                                      </p:cBhvr>
                                      <p:rCtr x="33021"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8F3CA-3AAD-7029-AB69-015B07062B2E}"/>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29BEC2D2-4AB2-FE6D-16D4-DEB6B39D2710}"/>
              </a:ext>
            </a:extLst>
          </p:cNvPr>
          <p:cNvGrpSpPr/>
          <p:nvPr/>
        </p:nvGrpSpPr>
        <p:grpSpPr>
          <a:xfrm>
            <a:off x="4515440" y="238894"/>
            <a:ext cx="7041298" cy="5876877"/>
            <a:chOff x="4515440" y="238894"/>
            <a:chExt cx="7041298" cy="5876877"/>
          </a:xfrm>
        </p:grpSpPr>
        <p:sp>
          <p:nvSpPr>
            <p:cNvPr id="5" name="Title 1">
              <a:extLst>
                <a:ext uri="{FF2B5EF4-FFF2-40B4-BE49-F238E27FC236}">
                  <a16:creationId xmlns:a16="http://schemas.microsoft.com/office/drawing/2014/main" id="{73CCD565-4A1D-FD6D-B800-41835D1C9738}"/>
                </a:ext>
              </a:extLst>
            </p:cNvPr>
            <p:cNvSpPr txBox="1"/>
            <p:nvPr/>
          </p:nvSpPr>
          <p:spPr>
            <a:xfrm>
              <a:off x="4515440" y="238894"/>
              <a:ext cx="6856793" cy="98804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PH" sz="5400" dirty="0">
                  <a:ln w="19050">
                    <a:noFill/>
                  </a:ln>
                  <a:solidFill>
                    <a:srgbClr val="0066CC"/>
                  </a:solidFill>
                  <a:latin typeface="Impact" panose="020B0806030902050204" pitchFamily="34" charset="0"/>
                </a:rPr>
                <a:t>Result and Discussions</a:t>
              </a:r>
            </a:p>
          </p:txBody>
        </p:sp>
        <p:sp>
          <p:nvSpPr>
            <p:cNvPr id="2" name="Rectangle 1">
              <a:extLst>
                <a:ext uri="{FF2B5EF4-FFF2-40B4-BE49-F238E27FC236}">
                  <a16:creationId xmlns:a16="http://schemas.microsoft.com/office/drawing/2014/main" id="{5656BC55-E143-40FB-B99E-845CEF84499A}"/>
                </a:ext>
              </a:extLst>
            </p:cNvPr>
            <p:cNvSpPr/>
            <p:nvPr/>
          </p:nvSpPr>
          <p:spPr>
            <a:xfrm>
              <a:off x="4671370" y="1284691"/>
              <a:ext cx="6885368" cy="4831080"/>
            </a:xfrm>
            <a:prstGeom prst="rect">
              <a:avLst/>
            </a:prstGeom>
          </p:spPr>
          <p:txBody>
            <a:bodyPr wrap="square">
              <a:spAutoFit/>
            </a:bodyPr>
            <a:lstStyle/>
            <a:p>
              <a:pPr lvl="0"/>
              <a:r>
                <a:rPr lang="en-US" altLang="en-US" sz="4400" dirty="0">
                  <a:latin typeface="Franklin Gothic Medium Cond" panose="020B0606030402020204" pitchFamily="34" charset="0"/>
                </a:rPr>
                <a:t>1.What is the level of acceptability of the application to learners and educators with respect to:</a:t>
              </a:r>
            </a:p>
            <a:p>
              <a:pPr lvl="0"/>
              <a:r>
                <a:rPr lang="en-US" altLang="en-US" sz="4400" dirty="0">
                  <a:latin typeface="Franklin Gothic Medium Cond" panose="020B0606030402020204" pitchFamily="34" charset="0"/>
                </a:rPr>
                <a:t>1.1.usability;</a:t>
              </a:r>
            </a:p>
            <a:p>
              <a:pPr lvl="0"/>
              <a:r>
                <a:rPr lang="en-US" altLang="en-US" sz="4400" dirty="0">
                  <a:latin typeface="Franklin Gothic Medium Cond" panose="020B0606030402020204" pitchFamily="34" charset="0"/>
                </a:rPr>
                <a:t>1.2.design; and</a:t>
              </a:r>
            </a:p>
            <a:p>
              <a:pPr lvl="0"/>
              <a:r>
                <a:rPr lang="en-US" altLang="en-US" sz="4400" dirty="0">
                  <a:latin typeface="Franklin Gothic Medium Cond" panose="020B0606030402020204" pitchFamily="34" charset="0"/>
                </a:rPr>
                <a:t>1.3.security?</a:t>
              </a:r>
            </a:p>
          </p:txBody>
        </p:sp>
      </p:grpSp>
      <p:sp>
        <p:nvSpPr>
          <p:cNvPr id="9" name="Rectangle 8">
            <a:extLst>
              <a:ext uri="{FF2B5EF4-FFF2-40B4-BE49-F238E27FC236}">
                <a16:creationId xmlns:a16="http://schemas.microsoft.com/office/drawing/2014/main" id="{07A90A82-B9F1-C72E-A8A7-3F0AFE366E17}"/>
              </a:ext>
            </a:extLst>
          </p:cNvPr>
          <p:cNvSpPr/>
          <p:nvPr/>
        </p:nvSpPr>
        <p:spPr>
          <a:xfrm>
            <a:off x="5104434" y="5556883"/>
            <a:ext cx="6782765" cy="523220"/>
          </a:xfrm>
          <a:prstGeom prst="rect">
            <a:avLst/>
          </a:prstGeom>
        </p:spPr>
        <p:txBody>
          <a:bodyPr wrap="square">
            <a:spAutoFit/>
          </a:bodyPr>
          <a:lstStyle/>
          <a:p>
            <a:endParaRPr lang="en-PH" sz="2800" dirty="0">
              <a:solidFill>
                <a:srgbClr val="2DE3F0"/>
              </a:solidFill>
              <a:latin typeface="Cambria Math" panose="02040503050406030204" pitchFamily="18" charset="0"/>
              <a:ea typeface="Cambria Math" panose="02040503050406030204" pitchFamily="18" charset="0"/>
            </a:endParaRPr>
          </a:p>
        </p:txBody>
      </p:sp>
      <p:grpSp>
        <p:nvGrpSpPr>
          <p:cNvPr id="7" name="Group 6">
            <a:extLst>
              <a:ext uri="{FF2B5EF4-FFF2-40B4-BE49-F238E27FC236}">
                <a16:creationId xmlns:a16="http://schemas.microsoft.com/office/drawing/2014/main" id="{B5121101-DB05-2818-CB96-7C02C056F3B1}"/>
              </a:ext>
            </a:extLst>
          </p:cNvPr>
          <p:cNvGrpSpPr/>
          <p:nvPr/>
        </p:nvGrpSpPr>
        <p:grpSpPr>
          <a:xfrm>
            <a:off x="-8065741" y="-2462"/>
            <a:ext cx="12921615" cy="6858000"/>
            <a:chOff x="-8065741" y="-2462"/>
            <a:chExt cx="12921615" cy="6858000"/>
          </a:xfrm>
        </p:grpSpPr>
        <p:grpSp>
          <p:nvGrpSpPr>
            <p:cNvPr id="30" name="Group 29">
              <a:extLst>
                <a:ext uri="{FF2B5EF4-FFF2-40B4-BE49-F238E27FC236}">
                  <a16:creationId xmlns:a16="http://schemas.microsoft.com/office/drawing/2014/main" id="{55939C79-6851-15FC-A553-82271D1ED4B2}"/>
                </a:ext>
              </a:extLst>
            </p:cNvPr>
            <p:cNvGrpSpPr/>
            <p:nvPr/>
          </p:nvGrpSpPr>
          <p:grpSpPr>
            <a:xfrm>
              <a:off x="-8065741" y="-2462"/>
              <a:ext cx="12921615" cy="6858000"/>
              <a:chOff x="-1011266" y="0"/>
              <a:chExt cx="12921615" cy="6858000"/>
            </a:xfrm>
            <a:solidFill>
              <a:srgbClr val="0066CC"/>
            </a:solidFill>
          </p:grpSpPr>
          <p:grpSp>
            <p:nvGrpSpPr>
              <p:cNvPr id="23" name="Group 22">
                <a:extLst>
                  <a:ext uri="{FF2B5EF4-FFF2-40B4-BE49-F238E27FC236}">
                    <a16:creationId xmlns:a16="http://schemas.microsoft.com/office/drawing/2014/main" id="{7A95615A-1A97-44F0-DCC1-4766EE66C3EE}"/>
                  </a:ext>
                </a:extLst>
              </p:cNvPr>
              <p:cNvGrpSpPr/>
              <p:nvPr/>
            </p:nvGrpSpPr>
            <p:grpSpPr>
              <a:xfrm>
                <a:off x="-1011266" y="0"/>
                <a:ext cx="12921615" cy="6858000"/>
                <a:chOff x="-7993090" y="0"/>
                <a:chExt cx="12921615" cy="6858000"/>
              </a:xfrm>
              <a:grpFill/>
            </p:grpSpPr>
            <p:sp>
              <p:nvSpPr>
                <p:cNvPr id="11" name="Freeform 10">
                  <a:extLst>
                    <a:ext uri="{FF2B5EF4-FFF2-40B4-BE49-F238E27FC236}">
                      <a16:creationId xmlns:a16="http://schemas.microsoft.com/office/drawing/2014/main" id="{1DB55793-4CC6-AA32-6B99-59597CA20559}"/>
                    </a:ext>
                  </a:extLst>
                </p:cNvPr>
                <p:cNvSpPr/>
                <p:nvPr/>
              </p:nvSpPr>
              <p:spPr>
                <a:xfrm>
                  <a:off x="-7993090" y="0"/>
                  <a:ext cx="12921615" cy="6858000"/>
                </a:xfrm>
                <a:custGeom>
                  <a:avLst/>
                  <a:gdLst>
                    <a:gd name="connsiteX0" fmla="*/ 0 w 12921615"/>
                    <a:gd name="connsiteY0" fmla="*/ 0 h 6858000"/>
                    <a:gd name="connsiteX1" fmla="*/ 12192000 w 12921615"/>
                    <a:gd name="connsiteY1" fmla="*/ 0 h 6858000"/>
                    <a:gd name="connsiteX2" fmla="*/ 12192000 w 12921615"/>
                    <a:gd name="connsiteY2" fmla="*/ 5631180 h 6858000"/>
                    <a:gd name="connsiteX3" fmla="*/ 12776832 w 12921615"/>
                    <a:gd name="connsiteY3" fmla="*/ 5631180 h 6858000"/>
                    <a:gd name="connsiteX4" fmla="*/ 12921615 w 12921615"/>
                    <a:gd name="connsiteY4" fmla="*/ 5775963 h 6858000"/>
                    <a:gd name="connsiteX5" fmla="*/ 12921615 w 12921615"/>
                    <a:gd name="connsiteY5" fmla="*/ 6355077 h 6858000"/>
                    <a:gd name="connsiteX6" fmla="*/ 12776832 w 12921615"/>
                    <a:gd name="connsiteY6" fmla="*/ 6499860 h 6858000"/>
                    <a:gd name="connsiteX7" fmla="*/ 12192000 w 12921615"/>
                    <a:gd name="connsiteY7" fmla="*/ 6499860 h 6858000"/>
                    <a:gd name="connsiteX8" fmla="*/ 12192000 w 12921615"/>
                    <a:gd name="connsiteY8" fmla="*/ 6858000 h 6858000"/>
                    <a:gd name="connsiteX9" fmla="*/ 0 w 1292161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21615" h="6858000">
                      <a:moveTo>
                        <a:pt x="0" y="0"/>
                      </a:moveTo>
                      <a:lnTo>
                        <a:pt x="12192000" y="0"/>
                      </a:lnTo>
                      <a:lnTo>
                        <a:pt x="12192000" y="5631180"/>
                      </a:lnTo>
                      <a:lnTo>
                        <a:pt x="12776832" y="5631180"/>
                      </a:lnTo>
                      <a:cubicBezTo>
                        <a:pt x="12856793" y="5631180"/>
                        <a:pt x="12921615" y="5696002"/>
                        <a:pt x="12921615" y="5775963"/>
                      </a:cubicBezTo>
                      <a:lnTo>
                        <a:pt x="12921615" y="6355077"/>
                      </a:lnTo>
                      <a:cubicBezTo>
                        <a:pt x="12921615" y="6435038"/>
                        <a:pt x="12856793" y="6499860"/>
                        <a:pt x="12776832" y="6499860"/>
                      </a:cubicBezTo>
                      <a:lnTo>
                        <a:pt x="12192000" y="6499860"/>
                      </a:lnTo>
                      <a:lnTo>
                        <a:pt x="12192000" y="6858000"/>
                      </a:lnTo>
                      <a:lnTo>
                        <a:pt x="0" y="6858000"/>
                      </a:lnTo>
                      <a:close/>
                    </a:path>
                  </a:pathLst>
                </a:custGeom>
                <a:grpFill/>
                <a:ln>
                  <a:noFill/>
                </a:ln>
                <a:effectLst>
                  <a:outerShdw blurRad="50800" dist="127000" algn="l"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2" name="TextBox 21">
                  <a:extLst>
                    <a:ext uri="{FF2B5EF4-FFF2-40B4-BE49-F238E27FC236}">
                      <a16:creationId xmlns:a16="http://schemas.microsoft.com/office/drawing/2014/main" id="{48C5E66E-DC6D-3DBA-F3CB-849BCC453ACC}"/>
                    </a:ext>
                  </a:extLst>
                </p:cNvPr>
                <p:cNvSpPr txBox="1"/>
                <p:nvPr/>
              </p:nvSpPr>
              <p:spPr>
                <a:xfrm>
                  <a:off x="4201610" y="5544273"/>
                  <a:ext cx="679976" cy="1015663"/>
                </a:xfrm>
                <a:prstGeom prst="rect">
                  <a:avLst/>
                </a:prstGeom>
                <a:noFill/>
              </p:spPr>
              <p:txBody>
                <a:bodyPr wrap="square" rtlCol="0">
                  <a:spAutoFit/>
                </a:bodyPr>
                <a:lstStyle/>
                <a:p>
                  <a:r>
                    <a:rPr lang="en-PH" sz="6000" dirty="0">
                      <a:solidFill>
                        <a:srgbClr val="EEF0F2"/>
                      </a:solidFill>
                      <a:effectLst>
                        <a:outerShdw blurRad="50800" dist="38100" algn="l" rotWithShape="0">
                          <a:prstClr val="black">
                            <a:alpha val="40000"/>
                          </a:prstClr>
                        </a:outerShdw>
                      </a:effectLst>
                      <a:latin typeface="Franklin Gothic Demi" panose="020B0703020102020204" pitchFamily="34" charset="0"/>
                    </a:rPr>
                    <a:t>F</a:t>
                  </a:r>
                </a:p>
              </p:txBody>
            </p:sp>
          </p:grpSp>
          <p:sp>
            <p:nvSpPr>
              <p:cNvPr id="28" name="TextBox 27">
                <a:extLst>
                  <a:ext uri="{FF2B5EF4-FFF2-40B4-BE49-F238E27FC236}">
                    <a16:creationId xmlns:a16="http://schemas.microsoft.com/office/drawing/2014/main" id="{747A4111-705B-B65D-58C3-441BEE3CD37E}"/>
                  </a:ext>
                </a:extLst>
              </p:cNvPr>
              <p:cNvSpPr txBox="1"/>
              <p:nvPr/>
            </p:nvSpPr>
            <p:spPr>
              <a:xfrm>
                <a:off x="3602581" y="129228"/>
                <a:ext cx="6342926" cy="830997"/>
              </a:xfrm>
              <a:prstGeom prst="rect">
                <a:avLst/>
              </a:prstGeom>
              <a:grpFill/>
            </p:spPr>
            <p:txBody>
              <a:bodyPr wrap="square" rtlCol="0">
                <a:spAutoFit/>
              </a:bodyPr>
              <a:lstStyle/>
              <a:p>
                <a:r>
                  <a:rPr lang="en-PH" sz="4800" dirty="0">
                    <a:solidFill>
                      <a:schemeClr val="bg1"/>
                    </a:solidFill>
                    <a:latin typeface="Franklin Gothic Demi" panose="020B0703020102020204" pitchFamily="34" charset="0"/>
                  </a:rPr>
                  <a:t>Findings</a:t>
                </a:r>
              </a:p>
            </p:txBody>
          </p:sp>
        </p:grpSp>
        <p:pic>
          <p:nvPicPr>
            <p:cNvPr id="6" name="Picture 5">
              <a:extLst>
                <a:ext uri="{FF2B5EF4-FFF2-40B4-BE49-F238E27FC236}">
                  <a16:creationId xmlns:a16="http://schemas.microsoft.com/office/drawing/2014/main" id="{9F3867B0-D17C-889A-CCD4-6B77B02B36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0219" y="957763"/>
              <a:ext cx="9766125" cy="5599711"/>
            </a:xfrm>
            <a:prstGeom prst="rect">
              <a:avLst/>
            </a:prstGeom>
          </p:spPr>
        </p:pic>
      </p:grpSp>
    </p:spTree>
    <p:extLst>
      <p:ext uri="{BB962C8B-B14F-4D97-AF65-F5344CB8AC3E}">
        <p14:creationId xmlns:p14="http://schemas.microsoft.com/office/powerpoint/2010/main" val="36069540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6.25E-7 2.96296E-6 L 0.66055 0.00046 " pathEditMode="relative" rAng="0" ptsTypes="AA">
                                      <p:cBhvr>
                                        <p:cTn id="6" dur="500" fill="hold"/>
                                        <p:tgtEl>
                                          <p:spTgt spid="7"/>
                                        </p:tgtEl>
                                        <p:attrNameLst>
                                          <p:attrName>ppt_x</p:attrName>
                                          <p:attrName>ppt_y</p:attrName>
                                        </p:attrNameLst>
                                      </p:cBhvr>
                                      <p:rCtr x="33021"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515440" y="238894"/>
            <a:ext cx="7041298" cy="5568902"/>
            <a:chOff x="4515440" y="238894"/>
            <a:chExt cx="7041298" cy="5568902"/>
          </a:xfrm>
        </p:grpSpPr>
        <p:sp>
          <p:nvSpPr>
            <p:cNvPr id="5" name="Title 1"/>
            <p:cNvSpPr txBox="1"/>
            <p:nvPr/>
          </p:nvSpPr>
          <p:spPr>
            <a:xfrm>
              <a:off x="4515440" y="238894"/>
              <a:ext cx="6856793" cy="98804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PH" sz="5400" dirty="0">
                  <a:ln w="19050">
                    <a:noFill/>
                  </a:ln>
                  <a:solidFill>
                    <a:srgbClr val="A80400"/>
                  </a:solidFill>
                  <a:latin typeface="Impact" panose="020B0806030902050204" pitchFamily="34" charset="0"/>
                </a:rPr>
                <a:t>Result and Discussions</a:t>
              </a:r>
            </a:p>
          </p:txBody>
        </p:sp>
        <p:sp>
          <p:nvSpPr>
            <p:cNvPr id="2" name="Rectangle 1"/>
            <p:cNvSpPr/>
            <p:nvPr/>
          </p:nvSpPr>
          <p:spPr>
            <a:xfrm>
              <a:off x="4671370" y="1284691"/>
              <a:ext cx="6885368" cy="4523105"/>
            </a:xfrm>
            <a:prstGeom prst="rect">
              <a:avLst/>
            </a:prstGeom>
          </p:spPr>
          <p:txBody>
            <a:bodyPr wrap="square">
              <a:spAutoFit/>
            </a:bodyPr>
            <a:lstStyle/>
            <a:p>
              <a:pPr lvl="0"/>
              <a:r>
                <a:rPr lang="en-US" altLang="en-US" sz="4800" dirty="0">
                  <a:latin typeface="Franklin Gothic Medium Cond" panose="020B0606030402020204" pitchFamily="34" charset="0"/>
                </a:rPr>
                <a:t>2.What is the level of performance of the application with respect to:</a:t>
              </a:r>
            </a:p>
            <a:p>
              <a:pPr lvl="0"/>
              <a:r>
                <a:rPr lang="en-US" altLang="en-US" sz="4800" dirty="0">
                  <a:latin typeface="Franklin Gothic Medium Cond" panose="020B0606030402020204" pitchFamily="34" charset="0"/>
                </a:rPr>
                <a:t>2.1.graphical performance; and</a:t>
              </a:r>
            </a:p>
            <a:p>
              <a:pPr lvl="0"/>
              <a:r>
                <a:rPr lang="en-US" altLang="en-US" sz="4800" dirty="0">
                  <a:latin typeface="Franklin Gothic Medium Cond" panose="020B0606030402020204" pitchFamily="34" charset="0"/>
                </a:rPr>
                <a:t>2.2.transmission continuity?</a:t>
              </a:r>
            </a:p>
          </p:txBody>
        </p:sp>
      </p:grpSp>
      <p:sp>
        <p:nvSpPr>
          <p:cNvPr id="9" name="Rectangle 8"/>
          <p:cNvSpPr/>
          <p:nvPr/>
        </p:nvSpPr>
        <p:spPr>
          <a:xfrm>
            <a:off x="5104434" y="5556883"/>
            <a:ext cx="6782765" cy="523220"/>
          </a:xfrm>
          <a:prstGeom prst="rect">
            <a:avLst/>
          </a:prstGeom>
        </p:spPr>
        <p:txBody>
          <a:bodyPr wrap="square">
            <a:spAutoFit/>
          </a:bodyPr>
          <a:lstStyle/>
          <a:p>
            <a:endParaRPr lang="en-PH" sz="2800" dirty="0">
              <a:solidFill>
                <a:srgbClr val="2DE3F0"/>
              </a:solidFill>
              <a:latin typeface="Cambria Math" panose="02040503050406030204" pitchFamily="18" charset="0"/>
              <a:ea typeface="Cambria Math" panose="02040503050406030204" pitchFamily="18" charset="0"/>
            </a:endParaRPr>
          </a:p>
        </p:txBody>
      </p:sp>
      <p:grpSp>
        <p:nvGrpSpPr>
          <p:cNvPr id="12" name="Group 11">
            <a:extLst>
              <a:ext uri="{FF2B5EF4-FFF2-40B4-BE49-F238E27FC236}">
                <a16:creationId xmlns:a16="http://schemas.microsoft.com/office/drawing/2014/main" id="{882E7745-9F6F-9855-A2ED-9188A6036A7B}"/>
              </a:ext>
            </a:extLst>
          </p:cNvPr>
          <p:cNvGrpSpPr/>
          <p:nvPr/>
        </p:nvGrpSpPr>
        <p:grpSpPr>
          <a:xfrm>
            <a:off x="-7826806" y="0"/>
            <a:ext cx="12921615" cy="6858000"/>
            <a:chOff x="-7817181" y="0"/>
            <a:chExt cx="12921615" cy="6858000"/>
          </a:xfrm>
        </p:grpSpPr>
        <p:grpSp>
          <p:nvGrpSpPr>
            <p:cNvPr id="30" name="Group 29"/>
            <p:cNvGrpSpPr/>
            <p:nvPr/>
          </p:nvGrpSpPr>
          <p:grpSpPr>
            <a:xfrm>
              <a:off x="-7817181" y="0"/>
              <a:ext cx="12921615" cy="6858000"/>
              <a:chOff x="-1011266" y="0"/>
              <a:chExt cx="12921615" cy="6858000"/>
            </a:xfrm>
            <a:solidFill>
              <a:srgbClr val="A80400"/>
            </a:solidFill>
          </p:grpSpPr>
          <p:grpSp>
            <p:nvGrpSpPr>
              <p:cNvPr id="23" name="Group 22"/>
              <p:cNvGrpSpPr/>
              <p:nvPr/>
            </p:nvGrpSpPr>
            <p:grpSpPr>
              <a:xfrm>
                <a:off x="-1011266" y="0"/>
                <a:ext cx="12921615" cy="6858000"/>
                <a:chOff x="-7993090" y="0"/>
                <a:chExt cx="12921615" cy="6858000"/>
              </a:xfrm>
              <a:grpFill/>
            </p:grpSpPr>
            <p:sp>
              <p:nvSpPr>
                <p:cNvPr id="11" name="Freeform 10"/>
                <p:cNvSpPr/>
                <p:nvPr/>
              </p:nvSpPr>
              <p:spPr>
                <a:xfrm>
                  <a:off x="-7993090" y="0"/>
                  <a:ext cx="12921615" cy="6858000"/>
                </a:xfrm>
                <a:custGeom>
                  <a:avLst/>
                  <a:gdLst>
                    <a:gd name="connsiteX0" fmla="*/ 0 w 12921615"/>
                    <a:gd name="connsiteY0" fmla="*/ 0 h 6858000"/>
                    <a:gd name="connsiteX1" fmla="*/ 12192000 w 12921615"/>
                    <a:gd name="connsiteY1" fmla="*/ 0 h 6858000"/>
                    <a:gd name="connsiteX2" fmla="*/ 12192000 w 12921615"/>
                    <a:gd name="connsiteY2" fmla="*/ 5631180 h 6858000"/>
                    <a:gd name="connsiteX3" fmla="*/ 12776832 w 12921615"/>
                    <a:gd name="connsiteY3" fmla="*/ 5631180 h 6858000"/>
                    <a:gd name="connsiteX4" fmla="*/ 12921615 w 12921615"/>
                    <a:gd name="connsiteY4" fmla="*/ 5775963 h 6858000"/>
                    <a:gd name="connsiteX5" fmla="*/ 12921615 w 12921615"/>
                    <a:gd name="connsiteY5" fmla="*/ 6355077 h 6858000"/>
                    <a:gd name="connsiteX6" fmla="*/ 12776832 w 12921615"/>
                    <a:gd name="connsiteY6" fmla="*/ 6499860 h 6858000"/>
                    <a:gd name="connsiteX7" fmla="*/ 12192000 w 12921615"/>
                    <a:gd name="connsiteY7" fmla="*/ 6499860 h 6858000"/>
                    <a:gd name="connsiteX8" fmla="*/ 12192000 w 12921615"/>
                    <a:gd name="connsiteY8" fmla="*/ 6858000 h 6858000"/>
                    <a:gd name="connsiteX9" fmla="*/ 0 w 1292161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21615" h="6858000">
                      <a:moveTo>
                        <a:pt x="0" y="0"/>
                      </a:moveTo>
                      <a:lnTo>
                        <a:pt x="12192000" y="0"/>
                      </a:lnTo>
                      <a:lnTo>
                        <a:pt x="12192000" y="5631180"/>
                      </a:lnTo>
                      <a:lnTo>
                        <a:pt x="12776832" y="5631180"/>
                      </a:lnTo>
                      <a:cubicBezTo>
                        <a:pt x="12856793" y="5631180"/>
                        <a:pt x="12921615" y="5696002"/>
                        <a:pt x="12921615" y="5775963"/>
                      </a:cubicBezTo>
                      <a:lnTo>
                        <a:pt x="12921615" y="6355077"/>
                      </a:lnTo>
                      <a:cubicBezTo>
                        <a:pt x="12921615" y="6435038"/>
                        <a:pt x="12856793" y="6499860"/>
                        <a:pt x="12776832" y="6499860"/>
                      </a:cubicBezTo>
                      <a:lnTo>
                        <a:pt x="12192000" y="6499860"/>
                      </a:lnTo>
                      <a:lnTo>
                        <a:pt x="12192000" y="6858000"/>
                      </a:lnTo>
                      <a:lnTo>
                        <a:pt x="0" y="6858000"/>
                      </a:lnTo>
                      <a:close/>
                    </a:path>
                  </a:pathLst>
                </a:custGeom>
                <a:grpFill/>
                <a:ln>
                  <a:noFill/>
                </a:ln>
                <a:effectLst>
                  <a:outerShdw blurRad="50800" dist="127000" algn="l"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2" name="TextBox 21"/>
                <p:cNvSpPr txBox="1"/>
                <p:nvPr/>
              </p:nvSpPr>
              <p:spPr>
                <a:xfrm>
                  <a:off x="4201610" y="5544273"/>
                  <a:ext cx="679976" cy="1015663"/>
                </a:xfrm>
                <a:prstGeom prst="rect">
                  <a:avLst/>
                </a:prstGeom>
                <a:noFill/>
              </p:spPr>
              <p:txBody>
                <a:bodyPr wrap="square" rtlCol="0">
                  <a:spAutoFit/>
                </a:bodyPr>
                <a:lstStyle/>
                <a:p>
                  <a:r>
                    <a:rPr lang="en-PH" sz="6000" dirty="0">
                      <a:solidFill>
                        <a:srgbClr val="EEF0F2"/>
                      </a:solidFill>
                      <a:effectLst>
                        <a:outerShdw blurRad="50800" dist="38100" algn="l" rotWithShape="0">
                          <a:prstClr val="black">
                            <a:alpha val="40000"/>
                          </a:prstClr>
                        </a:outerShdw>
                      </a:effectLst>
                      <a:latin typeface="Franklin Gothic Demi" panose="020B0703020102020204" pitchFamily="34" charset="0"/>
                    </a:rPr>
                    <a:t>F</a:t>
                  </a:r>
                </a:p>
              </p:txBody>
            </p:sp>
          </p:grpSp>
          <p:sp>
            <p:nvSpPr>
              <p:cNvPr id="28" name="TextBox 27"/>
              <p:cNvSpPr txBox="1"/>
              <p:nvPr/>
            </p:nvSpPr>
            <p:spPr>
              <a:xfrm>
                <a:off x="3602581" y="129228"/>
                <a:ext cx="6342926" cy="830997"/>
              </a:xfrm>
              <a:prstGeom prst="rect">
                <a:avLst/>
              </a:prstGeom>
              <a:grpFill/>
            </p:spPr>
            <p:txBody>
              <a:bodyPr wrap="square" rtlCol="0">
                <a:spAutoFit/>
              </a:bodyPr>
              <a:lstStyle/>
              <a:p>
                <a:r>
                  <a:rPr lang="en-PH" sz="4800" dirty="0">
                    <a:solidFill>
                      <a:srgbClr val="EEF0F2"/>
                    </a:solidFill>
                    <a:latin typeface="Franklin Gothic Demi" panose="020B0703020102020204" pitchFamily="34" charset="0"/>
                  </a:rPr>
                  <a:t>Findings</a:t>
                </a:r>
              </a:p>
            </p:txBody>
          </p:sp>
        </p:grpSp>
        <p:pic>
          <p:nvPicPr>
            <p:cNvPr id="6" name="Picture 5">
              <a:extLst>
                <a:ext uri="{FF2B5EF4-FFF2-40B4-BE49-F238E27FC236}">
                  <a16:creationId xmlns:a16="http://schemas.microsoft.com/office/drawing/2014/main" id="{D1930D32-B248-99B5-125A-E96D72E148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2445" y="1089453"/>
              <a:ext cx="9802250" cy="5470483"/>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8.33333E-7 0 L 0.64193 0 " pathEditMode="relative" rAng="0" ptsTypes="AA">
                                      <p:cBhvr>
                                        <p:cTn id="6" dur="500" fill="hold"/>
                                        <p:tgtEl>
                                          <p:spTgt spid="12"/>
                                        </p:tgtEl>
                                        <p:attrNameLst>
                                          <p:attrName>ppt_x</p:attrName>
                                          <p:attrName>ppt_y</p:attrName>
                                        </p:attrNameLst>
                                      </p:cBhvr>
                                      <p:rCtr x="3209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C588D-C261-05CB-AA01-C7FED4F74884}"/>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4EF8ADD0-816F-8C87-C23A-CE7870BFF636}"/>
              </a:ext>
            </a:extLst>
          </p:cNvPr>
          <p:cNvGrpSpPr/>
          <p:nvPr/>
        </p:nvGrpSpPr>
        <p:grpSpPr>
          <a:xfrm>
            <a:off x="4515440" y="238894"/>
            <a:ext cx="7041298" cy="5568902"/>
            <a:chOff x="4515440" y="238894"/>
            <a:chExt cx="7041298" cy="5568902"/>
          </a:xfrm>
        </p:grpSpPr>
        <p:sp>
          <p:nvSpPr>
            <p:cNvPr id="5" name="Title 1">
              <a:extLst>
                <a:ext uri="{FF2B5EF4-FFF2-40B4-BE49-F238E27FC236}">
                  <a16:creationId xmlns:a16="http://schemas.microsoft.com/office/drawing/2014/main" id="{3DC54360-10F7-548B-C2BC-FCB80A7C0487}"/>
                </a:ext>
              </a:extLst>
            </p:cNvPr>
            <p:cNvSpPr txBox="1"/>
            <p:nvPr/>
          </p:nvSpPr>
          <p:spPr>
            <a:xfrm>
              <a:off x="4515440" y="238894"/>
              <a:ext cx="6856793" cy="98804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PH" sz="5400" dirty="0">
                  <a:ln w="19050">
                    <a:noFill/>
                  </a:ln>
                  <a:solidFill>
                    <a:srgbClr val="A80400"/>
                  </a:solidFill>
                  <a:latin typeface="Impact" panose="020B0806030902050204" pitchFamily="34" charset="0"/>
                </a:rPr>
                <a:t>Result and Discussions</a:t>
              </a:r>
            </a:p>
          </p:txBody>
        </p:sp>
        <p:sp>
          <p:nvSpPr>
            <p:cNvPr id="2" name="Rectangle 1">
              <a:extLst>
                <a:ext uri="{FF2B5EF4-FFF2-40B4-BE49-F238E27FC236}">
                  <a16:creationId xmlns:a16="http://schemas.microsoft.com/office/drawing/2014/main" id="{D70889DB-06DF-44C0-5A51-7F47BECA335F}"/>
                </a:ext>
              </a:extLst>
            </p:cNvPr>
            <p:cNvSpPr/>
            <p:nvPr/>
          </p:nvSpPr>
          <p:spPr>
            <a:xfrm>
              <a:off x="4671370" y="1284691"/>
              <a:ext cx="6885368" cy="4523105"/>
            </a:xfrm>
            <a:prstGeom prst="rect">
              <a:avLst/>
            </a:prstGeom>
          </p:spPr>
          <p:txBody>
            <a:bodyPr wrap="square">
              <a:spAutoFit/>
            </a:bodyPr>
            <a:lstStyle/>
            <a:p>
              <a:pPr lvl="0"/>
              <a:r>
                <a:rPr lang="en-US" altLang="en-US" sz="4800" dirty="0">
                  <a:latin typeface="Franklin Gothic Medium Cond" panose="020B0606030402020204" pitchFamily="34" charset="0"/>
                </a:rPr>
                <a:t>2.What is the level of performance of the application with respect to:</a:t>
              </a:r>
            </a:p>
            <a:p>
              <a:pPr lvl="0"/>
              <a:r>
                <a:rPr lang="en-US" altLang="en-US" sz="4800" dirty="0">
                  <a:latin typeface="Franklin Gothic Medium Cond" panose="020B0606030402020204" pitchFamily="34" charset="0"/>
                </a:rPr>
                <a:t>2.1.graphical performance; and</a:t>
              </a:r>
            </a:p>
            <a:p>
              <a:pPr lvl="0"/>
              <a:r>
                <a:rPr lang="en-US" altLang="en-US" sz="4800" dirty="0">
                  <a:latin typeface="Franklin Gothic Medium Cond" panose="020B0606030402020204" pitchFamily="34" charset="0"/>
                </a:rPr>
                <a:t>2.2.transmission continuity?</a:t>
              </a:r>
            </a:p>
          </p:txBody>
        </p:sp>
      </p:grpSp>
      <p:sp>
        <p:nvSpPr>
          <p:cNvPr id="9" name="Rectangle 8">
            <a:extLst>
              <a:ext uri="{FF2B5EF4-FFF2-40B4-BE49-F238E27FC236}">
                <a16:creationId xmlns:a16="http://schemas.microsoft.com/office/drawing/2014/main" id="{1B10E7FF-9E69-2955-699D-F6747FB62165}"/>
              </a:ext>
            </a:extLst>
          </p:cNvPr>
          <p:cNvSpPr/>
          <p:nvPr/>
        </p:nvSpPr>
        <p:spPr>
          <a:xfrm>
            <a:off x="5104434" y="5556883"/>
            <a:ext cx="6782765" cy="523220"/>
          </a:xfrm>
          <a:prstGeom prst="rect">
            <a:avLst/>
          </a:prstGeom>
        </p:spPr>
        <p:txBody>
          <a:bodyPr wrap="square">
            <a:spAutoFit/>
          </a:bodyPr>
          <a:lstStyle/>
          <a:p>
            <a:endParaRPr lang="en-PH" sz="2800" dirty="0">
              <a:solidFill>
                <a:srgbClr val="2DE3F0"/>
              </a:solidFill>
              <a:latin typeface="Cambria Math" panose="02040503050406030204" pitchFamily="18" charset="0"/>
              <a:ea typeface="Cambria Math" panose="02040503050406030204" pitchFamily="18" charset="0"/>
            </a:endParaRPr>
          </a:p>
        </p:txBody>
      </p:sp>
      <p:grpSp>
        <p:nvGrpSpPr>
          <p:cNvPr id="8" name="Group 7">
            <a:extLst>
              <a:ext uri="{FF2B5EF4-FFF2-40B4-BE49-F238E27FC236}">
                <a16:creationId xmlns:a16="http://schemas.microsoft.com/office/drawing/2014/main" id="{A5926C72-BC5E-F5E5-A463-5AE993C101B6}"/>
              </a:ext>
            </a:extLst>
          </p:cNvPr>
          <p:cNvGrpSpPr/>
          <p:nvPr/>
        </p:nvGrpSpPr>
        <p:grpSpPr>
          <a:xfrm>
            <a:off x="-7846056" y="0"/>
            <a:ext cx="12921615" cy="6858000"/>
            <a:chOff x="-7826806" y="0"/>
            <a:chExt cx="12921615" cy="6858000"/>
          </a:xfrm>
        </p:grpSpPr>
        <p:grpSp>
          <p:nvGrpSpPr>
            <p:cNvPr id="30" name="Group 29">
              <a:extLst>
                <a:ext uri="{FF2B5EF4-FFF2-40B4-BE49-F238E27FC236}">
                  <a16:creationId xmlns:a16="http://schemas.microsoft.com/office/drawing/2014/main" id="{ABC2DF72-4CA7-42DE-A1D5-F3F5CE9DFC32}"/>
                </a:ext>
              </a:extLst>
            </p:cNvPr>
            <p:cNvGrpSpPr/>
            <p:nvPr/>
          </p:nvGrpSpPr>
          <p:grpSpPr>
            <a:xfrm>
              <a:off x="-7826806" y="0"/>
              <a:ext cx="12921615" cy="6858000"/>
              <a:chOff x="-1020891" y="0"/>
              <a:chExt cx="12921615" cy="6858000"/>
            </a:xfrm>
            <a:solidFill>
              <a:srgbClr val="A80400"/>
            </a:solidFill>
          </p:grpSpPr>
          <p:grpSp>
            <p:nvGrpSpPr>
              <p:cNvPr id="23" name="Group 22">
                <a:extLst>
                  <a:ext uri="{FF2B5EF4-FFF2-40B4-BE49-F238E27FC236}">
                    <a16:creationId xmlns:a16="http://schemas.microsoft.com/office/drawing/2014/main" id="{0B7452D9-2643-C4D3-5C7D-CA8C28E06D3E}"/>
                  </a:ext>
                </a:extLst>
              </p:cNvPr>
              <p:cNvGrpSpPr/>
              <p:nvPr/>
            </p:nvGrpSpPr>
            <p:grpSpPr>
              <a:xfrm>
                <a:off x="-1020891" y="0"/>
                <a:ext cx="12921615" cy="6858000"/>
                <a:chOff x="-8002715" y="0"/>
                <a:chExt cx="12921615" cy="6858000"/>
              </a:xfrm>
              <a:grpFill/>
            </p:grpSpPr>
            <p:sp>
              <p:nvSpPr>
                <p:cNvPr id="11" name="Freeform 10">
                  <a:extLst>
                    <a:ext uri="{FF2B5EF4-FFF2-40B4-BE49-F238E27FC236}">
                      <a16:creationId xmlns:a16="http://schemas.microsoft.com/office/drawing/2014/main" id="{EA4EEB11-EA48-6DD6-4D66-83EB617E7CC1}"/>
                    </a:ext>
                  </a:extLst>
                </p:cNvPr>
                <p:cNvSpPr/>
                <p:nvPr/>
              </p:nvSpPr>
              <p:spPr>
                <a:xfrm>
                  <a:off x="-8002715" y="0"/>
                  <a:ext cx="12921615" cy="6858000"/>
                </a:xfrm>
                <a:custGeom>
                  <a:avLst/>
                  <a:gdLst>
                    <a:gd name="connsiteX0" fmla="*/ 0 w 12921615"/>
                    <a:gd name="connsiteY0" fmla="*/ 0 h 6858000"/>
                    <a:gd name="connsiteX1" fmla="*/ 12192000 w 12921615"/>
                    <a:gd name="connsiteY1" fmla="*/ 0 h 6858000"/>
                    <a:gd name="connsiteX2" fmla="*/ 12192000 w 12921615"/>
                    <a:gd name="connsiteY2" fmla="*/ 5631180 h 6858000"/>
                    <a:gd name="connsiteX3" fmla="*/ 12776832 w 12921615"/>
                    <a:gd name="connsiteY3" fmla="*/ 5631180 h 6858000"/>
                    <a:gd name="connsiteX4" fmla="*/ 12921615 w 12921615"/>
                    <a:gd name="connsiteY4" fmla="*/ 5775963 h 6858000"/>
                    <a:gd name="connsiteX5" fmla="*/ 12921615 w 12921615"/>
                    <a:gd name="connsiteY5" fmla="*/ 6355077 h 6858000"/>
                    <a:gd name="connsiteX6" fmla="*/ 12776832 w 12921615"/>
                    <a:gd name="connsiteY6" fmla="*/ 6499860 h 6858000"/>
                    <a:gd name="connsiteX7" fmla="*/ 12192000 w 12921615"/>
                    <a:gd name="connsiteY7" fmla="*/ 6499860 h 6858000"/>
                    <a:gd name="connsiteX8" fmla="*/ 12192000 w 12921615"/>
                    <a:gd name="connsiteY8" fmla="*/ 6858000 h 6858000"/>
                    <a:gd name="connsiteX9" fmla="*/ 0 w 1292161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21615" h="6858000">
                      <a:moveTo>
                        <a:pt x="0" y="0"/>
                      </a:moveTo>
                      <a:lnTo>
                        <a:pt x="12192000" y="0"/>
                      </a:lnTo>
                      <a:lnTo>
                        <a:pt x="12192000" y="5631180"/>
                      </a:lnTo>
                      <a:lnTo>
                        <a:pt x="12776832" y="5631180"/>
                      </a:lnTo>
                      <a:cubicBezTo>
                        <a:pt x="12856793" y="5631180"/>
                        <a:pt x="12921615" y="5696002"/>
                        <a:pt x="12921615" y="5775963"/>
                      </a:cubicBezTo>
                      <a:lnTo>
                        <a:pt x="12921615" y="6355077"/>
                      </a:lnTo>
                      <a:cubicBezTo>
                        <a:pt x="12921615" y="6435038"/>
                        <a:pt x="12856793" y="6499860"/>
                        <a:pt x="12776832" y="6499860"/>
                      </a:cubicBezTo>
                      <a:lnTo>
                        <a:pt x="12192000" y="6499860"/>
                      </a:lnTo>
                      <a:lnTo>
                        <a:pt x="12192000" y="6858000"/>
                      </a:lnTo>
                      <a:lnTo>
                        <a:pt x="0" y="6858000"/>
                      </a:lnTo>
                      <a:close/>
                    </a:path>
                  </a:pathLst>
                </a:custGeom>
                <a:grpFill/>
                <a:ln>
                  <a:noFill/>
                </a:ln>
                <a:effectLst>
                  <a:outerShdw blurRad="50800" dist="127000" algn="l"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2" name="TextBox 21">
                  <a:extLst>
                    <a:ext uri="{FF2B5EF4-FFF2-40B4-BE49-F238E27FC236}">
                      <a16:creationId xmlns:a16="http://schemas.microsoft.com/office/drawing/2014/main" id="{A87DEAD3-86C4-AA07-5595-29194648615D}"/>
                    </a:ext>
                  </a:extLst>
                </p:cNvPr>
                <p:cNvSpPr txBox="1"/>
                <p:nvPr/>
              </p:nvSpPr>
              <p:spPr>
                <a:xfrm>
                  <a:off x="4201610" y="5544273"/>
                  <a:ext cx="679976" cy="1015663"/>
                </a:xfrm>
                <a:prstGeom prst="rect">
                  <a:avLst/>
                </a:prstGeom>
                <a:noFill/>
              </p:spPr>
              <p:txBody>
                <a:bodyPr wrap="square" rtlCol="0">
                  <a:spAutoFit/>
                </a:bodyPr>
                <a:lstStyle/>
                <a:p>
                  <a:r>
                    <a:rPr lang="en-PH" sz="6000" dirty="0">
                      <a:solidFill>
                        <a:srgbClr val="EEF0F2"/>
                      </a:solidFill>
                      <a:effectLst>
                        <a:outerShdw blurRad="50800" dist="38100" algn="l" rotWithShape="0">
                          <a:prstClr val="black">
                            <a:alpha val="40000"/>
                          </a:prstClr>
                        </a:outerShdw>
                      </a:effectLst>
                      <a:latin typeface="Franklin Gothic Demi" panose="020B0703020102020204" pitchFamily="34" charset="0"/>
                    </a:rPr>
                    <a:t>F</a:t>
                  </a:r>
                </a:p>
              </p:txBody>
            </p:sp>
          </p:grpSp>
          <p:sp>
            <p:nvSpPr>
              <p:cNvPr id="28" name="TextBox 27">
                <a:extLst>
                  <a:ext uri="{FF2B5EF4-FFF2-40B4-BE49-F238E27FC236}">
                    <a16:creationId xmlns:a16="http://schemas.microsoft.com/office/drawing/2014/main" id="{82D3C836-2654-5291-2E56-D8A5F5887C35}"/>
                  </a:ext>
                </a:extLst>
              </p:cNvPr>
              <p:cNvSpPr txBox="1"/>
              <p:nvPr/>
            </p:nvSpPr>
            <p:spPr>
              <a:xfrm>
                <a:off x="3602581" y="129228"/>
                <a:ext cx="6342926" cy="830997"/>
              </a:xfrm>
              <a:prstGeom prst="rect">
                <a:avLst/>
              </a:prstGeom>
              <a:grpFill/>
            </p:spPr>
            <p:txBody>
              <a:bodyPr wrap="square" rtlCol="0">
                <a:spAutoFit/>
              </a:bodyPr>
              <a:lstStyle/>
              <a:p>
                <a:r>
                  <a:rPr lang="en-PH" sz="4800" dirty="0">
                    <a:solidFill>
                      <a:srgbClr val="EEF0F2"/>
                    </a:solidFill>
                    <a:latin typeface="Franklin Gothic Demi" panose="020B0703020102020204" pitchFamily="34" charset="0"/>
                  </a:rPr>
                  <a:t>Findings</a:t>
                </a:r>
              </a:p>
            </p:txBody>
          </p:sp>
        </p:grpSp>
        <p:pic>
          <p:nvPicPr>
            <p:cNvPr id="7" name="Picture 6">
              <a:extLst>
                <a:ext uri="{FF2B5EF4-FFF2-40B4-BE49-F238E27FC236}">
                  <a16:creationId xmlns:a16="http://schemas.microsoft.com/office/drawing/2014/main" id="{90872B6E-5A8C-94F1-812E-E47D7F159E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0942" y="1089453"/>
              <a:ext cx="9289682" cy="5470483"/>
            </a:xfrm>
            <a:prstGeom prst="rect">
              <a:avLst/>
            </a:prstGeom>
          </p:spPr>
        </p:pic>
      </p:grpSp>
    </p:spTree>
    <p:extLst>
      <p:ext uri="{BB962C8B-B14F-4D97-AF65-F5344CB8AC3E}">
        <p14:creationId xmlns:p14="http://schemas.microsoft.com/office/powerpoint/2010/main" val="42688705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1.66667E-6 0 L 0.64388 0 " pathEditMode="relative" rAng="0" ptsTypes="AA">
                                      <p:cBhvr>
                                        <p:cTn id="6" dur="500" fill="hold"/>
                                        <p:tgtEl>
                                          <p:spTgt spid="8"/>
                                        </p:tgtEl>
                                        <p:attrNameLst>
                                          <p:attrName>ppt_x</p:attrName>
                                          <p:attrName>ppt_y</p:attrName>
                                        </p:attrNameLst>
                                      </p:cBhvr>
                                      <p:rCtr x="3218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1F27E-8A23-06C4-C95F-1B73CA32E3F7}"/>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C4520216-F903-022F-27C4-1F9C6A17AEAE}"/>
              </a:ext>
            </a:extLst>
          </p:cNvPr>
          <p:cNvGrpSpPr/>
          <p:nvPr/>
        </p:nvGrpSpPr>
        <p:grpSpPr>
          <a:xfrm>
            <a:off x="4515440" y="238894"/>
            <a:ext cx="7041298" cy="5292042"/>
            <a:chOff x="4515440" y="238894"/>
            <a:chExt cx="7041298" cy="5292042"/>
          </a:xfrm>
        </p:grpSpPr>
        <p:sp>
          <p:nvSpPr>
            <p:cNvPr id="5" name="Title 1">
              <a:extLst>
                <a:ext uri="{FF2B5EF4-FFF2-40B4-BE49-F238E27FC236}">
                  <a16:creationId xmlns:a16="http://schemas.microsoft.com/office/drawing/2014/main" id="{5D568C9F-434D-D37D-8391-1E8ED6F8CC0E}"/>
                </a:ext>
              </a:extLst>
            </p:cNvPr>
            <p:cNvSpPr txBox="1"/>
            <p:nvPr/>
          </p:nvSpPr>
          <p:spPr>
            <a:xfrm>
              <a:off x="4515440" y="238894"/>
              <a:ext cx="6856793" cy="98804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PH" sz="5400" dirty="0">
                  <a:ln w="19050">
                    <a:noFill/>
                  </a:ln>
                  <a:solidFill>
                    <a:srgbClr val="908D02"/>
                  </a:solidFill>
                  <a:latin typeface="Impact" panose="020B0806030902050204" pitchFamily="34" charset="0"/>
                </a:rPr>
                <a:t>Result and Discussions</a:t>
              </a:r>
            </a:p>
          </p:txBody>
        </p:sp>
        <p:sp>
          <p:nvSpPr>
            <p:cNvPr id="2" name="Rectangle 1">
              <a:extLst>
                <a:ext uri="{FF2B5EF4-FFF2-40B4-BE49-F238E27FC236}">
                  <a16:creationId xmlns:a16="http://schemas.microsoft.com/office/drawing/2014/main" id="{39B1FD50-1CF9-EC2F-3CC2-C38C47009F4B}"/>
                </a:ext>
              </a:extLst>
            </p:cNvPr>
            <p:cNvSpPr/>
            <p:nvPr/>
          </p:nvSpPr>
          <p:spPr>
            <a:xfrm>
              <a:off x="4671370" y="1284691"/>
              <a:ext cx="6885368" cy="4246245"/>
            </a:xfrm>
            <a:prstGeom prst="rect">
              <a:avLst/>
            </a:prstGeom>
          </p:spPr>
          <p:txBody>
            <a:bodyPr wrap="square">
              <a:spAutoFit/>
            </a:bodyPr>
            <a:lstStyle/>
            <a:p>
              <a:pPr lvl="0"/>
              <a:r>
                <a:rPr lang="en-US" altLang="en-US" sz="5400" dirty="0">
                  <a:latin typeface="Franklin Gothic Medium Cond" panose="020B0606030402020204" pitchFamily="34" charset="0"/>
                </a:rPr>
                <a:t>3.Is there any significant relationship between the acceptability and performance of the application?</a:t>
              </a:r>
            </a:p>
          </p:txBody>
        </p:sp>
      </p:grpSp>
      <p:sp>
        <p:nvSpPr>
          <p:cNvPr id="9" name="Rectangle 8">
            <a:extLst>
              <a:ext uri="{FF2B5EF4-FFF2-40B4-BE49-F238E27FC236}">
                <a16:creationId xmlns:a16="http://schemas.microsoft.com/office/drawing/2014/main" id="{278A096D-E91C-96B4-8544-C6ECA92E084B}"/>
              </a:ext>
            </a:extLst>
          </p:cNvPr>
          <p:cNvSpPr/>
          <p:nvPr/>
        </p:nvSpPr>
        <p:spPr>
          <a:xfrm>
            <a:off x="5104434" y="5556883"/>
            <a:ext cx="6782765" cy="523220"/>
          </a:xfrm>
          <a:prstGeom prst="rect">
            <a:avLst/>
          </a:prstGeom>
        </p:spPr>
        <p:txBody>
          <a:bodyPr wrap="square">
            <a:spAutoFit/>
          </a:bodyPr>
          <a:lstStyle/>
          <a:p>
            <a:endParaRPr lang="en-PH" sz="2800" dirty="0">
              <a:solidFill>
                <a:srgbClr val="2DE3F0"/>
              </a:solidFill>
              <a:latin typeface="Cambria Math" panose="02040503050406030204" pitchFamily="18" charset="0"/>
              <a:ea typeface="Cambria Math" panose="02040503050406030204" pitchFamily="18" charset="0"/>
            </a:endParaRPr>
          </a:p>
        </p:txBody>
      </p:sp>
      <p:grpSp>
        <p:nvGrpSpPr>
          <p:cNvPr id="8" name="Group 7">
            <a:extLst>
              <a:ext uri="{FF2B5EF4-FFF2-40B4-BE49-F238E27FC236}">
                <a16:creationId xmlns:a16="http://schemas.microsoft.com/office/drawing/2014/main" id="{B02D2ABF-81F8-BDF6-FB9F-5AD2FAB17D46}"/>
              </a:ext>
            </a:extLst>
          </p:cNvPr>
          <p:cNvGrpSpPr/>
          <p:nvPr/>
        </p:nvGrpSpPr>
        <p:grpSpPr>
          <a:xfrm>
            <a:off x="-7928061" y="-30583"/>
            <a:ext cx="12921615" cy="6858000"/>
            <a:chOff x="-7928061" y="-30583"/>
            <a:chExt cx="12921615" cy="6858000"/>
          </a:xfrm>
        </p:grpSpPr>
        <p:grpSp>
          <p:nvGrpSpPr>
            <p:cNvPr id="30" name="Group 29">
              <a:extLst>
                <a:ext uri="{FF2B5EF4-FFF2-40B4-BE49-F238E27FC236}">
                  <a16:creationId xmlns:a16="http://schemas.microsoft.com/office/drawing/2014/main" id="{86B097BB-51B0-539E-D1F5-D9F79053C0F6}"/>
                </a:ext>
              </a:extLst>
            </p:cNvPr>
            <p:cNvGrpSpPr/>
            <p:nvPr/>
          </p:nvGrpSpPr>
          <p:grpSpPr>
            <a:xfrm>
              <a:off x="-7928061" y="-30583"/>
              <a:ext cx="12921615" cy="6858000"/>
              <a:chOff x="-1011266" y="0"/>
              <a:chExt cx="12921615" cy="6858000"/>
            </a:xfrm>
            <a:solidFill>
              <a:srgbClr val="908D02"/>
            </a:solidFill>
          </p:grpSpPr>
          <p:grpSp>
            <p:nvGrpSpPr>
              <p:cNvPr id="23" name="Group 22">
                <a:extLst>
                  <a:ext uri="{FF2B5EF4-FFF2-40B4-BE49-F238E27FC236}">
                    <a16:creationId xmlns:a16="http://schemas.microsoft.com/office/drawing/2014/main" id="{8451EF46-9086-E942-CA07-DFA4188BA3A8}"/>
                  </a:ext>
                </a:extLst>
              </p:cNvPr>
              <p:cNvGrpSpPr/>
              <p:nvPr/>
            </p:nvGrpSpPr>
            <p:grpSpPr>
              <a:xfrm>
                <a:off x="-1011266" y="0"/>
                <a:ext cx="12921615" cy="6858000"/>
                <a:chOff x="-7993090" y="0"/>
                <a:chExt cx="12921615" cy="6858000"/>
              </a:xfrm>
              <a:grpFill/>
            </p:grpSpPr>
            <p:sp>
              <p:nvSpPr>
                <p:cNvPr id="11" name="Freeform 10">
                  <a:extLst>
                    <a:ext uri="{FF2B5EF4-FFF2-40B4-BE49-F238E27FC236}">
                      <a16:creationId xmlns:a16="http://schemas.microsoft.com/office/drawing/2014/main" id="{C0A20867-4B63-005F-DBB6-9AE58AD659EB}"/>
                    </a:ext>
                  </a:extLst>
                </p:cNvPr>
                <p:cNvSpPr/>
                <p:nvPr/>
              </p:nvSpPr>
              <p:spPr>
                <a:xfrm>
                  <a:off x="-7993090" y="0"/>
                  <a:ext cx="12921615" cy="6858000"/>
                </a:xfrm>
                <a:custGeom>
                  <a:avLst/>
                  <a:gdLst>
                    <a:gd name="connsiteX0" fmla="*/ 0 w 12921615"/>
                    <a:gd name="connsiteY0" fmla="*/ 0 h 6858000"/>
                    <a:gd name="connsiteX1" fmla="*/ 12192000 w 12921615"/>
                    <a:gd name="connsiteY1" fmla="*/ 0 h 6858000"/>
                    <a:gd name="connsiteX2" fmla="*/ 12192000 w 12921615"/>
                    <a:gd name="connsiteY2" fmla="*/ 5631180 h 6858000"/>
                    <a:gd name="connsiteX3" fmla="*/ 12776832 w 12921615"/>
                    <a:gd name="connsiteY3" fmla="*/ 5631180 h 6858000"/>
                    <a:gd name="connsiteX4" fmla="*/ 12921615 w 12921615"/>
                    <a:gd name="connsiteY4" fmla="*/ 5775963 h 6858000"/>
                    <a:gd name="connsiteX5" fmla="*/ 12921615 w 12921615"/>
                    <a:gd name="connsiteY5" fmla="*/ 6355077 h 6858000"/>
                    <a:gd name="connsiteX6" fmla="*/ 12776832 w 12921615"/>
                    <a:gd name="connsiteY6" fmla="*/ 6499860 h 6858000"/>
                    <a:gd name="connsiteX7" fmla="*/ 12192000 w 12921615"/>
                    <a:gd name="connsiteY7" fmla="*/ 6499860 h 6858000"/>
                    <a:gd name="connsiteX8" fmla="*/ 12192000 w 12921615"/>
                    <a:gd name="connsiteY8" fmla="*/ 6858000 h 6858000"/>
                    <a:gd name="connsiteX9" fmla="*/ 0 w 1292161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21615" h="6858000">
                      <a:moveTo>
                        <a:pt x="0" y="0"/>
                      </a:moveTo>
                      <a:lnTo>
                        <a:pt x="12192000" y="0"/>
                      </a:lnTo>
                      <a:lnTo>
                        <a:pt x="12192000" y="5631180"/>
                      </a:lnTo>
                      <a:lnTo>
                        <a:pt x="12776832" y="5631180"/>
                      </a:lnTo>
                      <a:cubicBezTo>
                        <a:pt x="12856793" y="5631180"/>
                        <a:pt x="12921615" y="5696002"/>
                        <a:pt x="12921615" y="5775963"/>
                      </a:cubicBezTo>
                      <a:lnTo>
                        <a:pt x="12921615" y="6355077"/>
                      </a:lnTo>
                      <a:cubicBezTo>
                        <a:pt x="12921615" y="6435038"/>
                        <a:pt x="12856793" y="6499860"/>
                        <a:pt x="12776832" y="6499860"/>
                      </a:cubicBezTo>
                      <a:lnTo>
                        <a:pt x="12192000" y="6499860"/>
                      </a:lnTo>
                      <a:lnTo>
                        <a:pt x="12192000" y="6858000"/>
                      </a:lnTo>
                      <a:lnTo>
                        <a:pt x="0" y="6858000"/>
                      </a:lnTo>
                      <a:close/>
                    </a:path>
                  </a:pathLst>
                </a:custGeom>
                <a:grpFill/>
                <a:ln>
                  <a:noFill/>
                </a:ln>
                <a:effectLst>
                  <a:outerShdw blurRad="50800" dist="127000" algn="l"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2" name="TextBox 21">
                  <a:extLst>
                    <a:ext uri="{FF2B5EF4-FFF2-40B4-BE49-F238E27FC236}">
                      <a16:creationId xmlns:a16="http://schemas.microsoft.com/office/drawing/2014/main" id="{E369B282-1BB7-0025-49A3-E761103C386A}"/>
                    </a:ext>
                  </a:extLst>
                </p:cNvPr>
                <p:cNvSpPr txBox="1"/>
                <p:nvPr/>
              </p:nvSpPr>
              <p:spPr>
                <a:xfrm>
                  <a:off x="4201610" y="5544273"/>
                  <a:ext cx="679976" cy="1015663"/>
                </a:xfrm>
                <a:prstGeom prst="rect">
                  <a:avLst/>
                </a:prstGeom>
                <a:noFill/>
              </p:spPr>
              <p:txBody>
                <a:bodyPr wrap="square" rtlCol="0">
                  <a:spAutoFit/>
                </a:bodyPr>
                <a:lstStyle/>
                <a:p>
                  <a:r>
                    <a:rPr lang="en-PH" sz="6000" dirty="0">
                      <a:solidFill>
                        <a:srgbClr val="EEF0F2"/>
                      </a:solidFill>
                      <a:effectLst>
                        <a:outerShdw blurRad="50800" dist="38100" algn="l" rotWithShape="0">
                          <a:prstClr val="black">
                            <a:alpha val="40000"/>
                          </a:prstClr>
                        </a:outerShdw>
                      </a:effectLst>
                      <a:latin typeface="Franklin Gothic Demi" panose="020B0703020102020204" pitchFamily="34" charset="0"/>
                    </a:rPr>
                    <a:t>F</a:t>
                  </a:r>
                </a:p>
              </p:txBody>
            </p:sp>
          </p:grpSp>
          <p:sp>
            <p:nvSpPr>
              <p:cNvPr id="28" name="TextBox 27">
                <a:extLst>
                  <a:ext uri="{FF2B5EF4-FFF2-40B4-BE49-F238E27FC236}">
                    <a16:creationId xmlns:a16="http://schemas.microsoft.com/office/drawing/2014/main" id="{0835F150-6411-F29F-1713-06474144E4BA}"/>
                  </a:ext>
                </a:extLst>
              </p:cNvPr>
              <p:cNvSpPr txBox="1"/>
              <p:nvPr/>
            </p:nvSpPr>
            <p:spPr>
              <a:xfrm>
                <a:off x="3602581" y="129228"/>
                <a:ext cx="6342926" cy="830997"/>
              </a:xfrm>
              <a:prstGeom prst="rect">
                <a:avLst/>
              </a:prstGeom>
              <a:grpFill/>
            </p:spPr>
            <p:txBody>
              <a:bodyPr wrap="square" rtlCol="0">
                <a:spAutoFit/>
              </a:bodyPr>
              <a:lstStyle/>
              <a:p>
                <a:r>
                  <a:rPr lang="en-PH" sz="4800" dirty="0">
                    <a:solidFill>
                      <a:srgbClr val="EEF0F2"/>
                    </a:solidFill>
                    <a:latin typeface="Franklin Gothic Demi" panose="020B0703020102020204" pitchFamily="34" charset="0"/>
                  </a:rPr>
                  <a:t>Findings</a:t>
                </a:r>
              </a:p>
            </p:txBody>
          </p:sp>
        </p:grpSp>
        <p:pic>
          <p:nvPicPr>
            <p:cNvPr id="6" name="Picture 5">
              <a:extLst>
                <a:ext uri="{FF2B5EF4-FFF2-40B4-BE49-F238E27FC236}">
                  <a16:creationId xmlns:a16="http://schemas.microsoft.com/office/drawing/2014/main" id="{BFFF03F6-717E-3A98-6F1A-06E13DFB10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8973" y="1348724"/>
              <a:ext cx="11163869" cy="4246246"/>
            </a:xfrm>
            <a:prstGeom prst="rect">
              <a:avLst/>
            </a:prstGeom>
          </p:spPr>
        </p:pic>
      </p:grpSp>
    </p:spTree>
    <p:extLst>
      <p:ext uri="{BB962C8B-B14F-4D97-AF65-F5344CB8AC3E}">
        <p14:creationId xmlns:p14="http://schemas.microsoft.com/office/powerpoint/2010/main" val="10424674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2.5E-6 -1.85185E-6 L 0.64922 0.0044 " pathEditMode="relative" rAng="0" ptsTypes="AA">
                                      <p:cBhvr>
                                        <p:cTn id="6" dur="500" fill="hold"/>
                                        <p:tgtEl>
                                          <p:spTgt spid="8"/>
                                        </p:tgtEl>
                                        <p:attrNameLst>
                                          <p:attrName>ppt_x</p:attrName>
                                          <p:attrName>ppt_y</p:attrName>
                                        </p:attrNameLst>
                                      </p:cBhvr>
                                      <p:rCtr x="32461" y="20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92E7B-F216-DC44-30D6-BD1492AE4CCA}"/>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D504405A-B7C7-E438-8D75-7811775E5223}"/>
              </a:ext>
            </a:extLst>
          </p:cNvPr>
          <p:cNvGrpSpPr/>
          <p:nvPr/>
        </p:nvGrpSpPr>
        <p:grpSpPr>
          <a:xfrm>
            <a:off x="4515440" y="238894"/>
            <a:ext cx="7041298" cy="5292042"/>
            <a:chOff x="4515440" y="238894"/>
            <a:chExt cx="7041298" cy="5292042"/>
          </a:xfrm>
        </p:grpSpPr>
        <p:sp>
          <p:nvSpPr>
            <p:cNvPr id="5" name="Title 1">
              <a:extLst>
                <a:ext uri="{FF2B5EF4-FFF2-40B4-BE49-F238E27FC236}">
                  <a16:creationId xmlns:a16="http://schemas.microsoft.com/office/drawing/2014/main" id="{A1EBED17-C56A-5E48-501C-59C437159E57}"/>
                </a:ext>
              </a:extLst>
            </p:cNvPr>
            <p:cNvSpPr txBox="1"/>
            <p:nvPr/>
          </p:nvSpPr>
          <p:spPr>
            <a:xfrm>
              <a:off x="4515440" y="238894"/>
              <a:ext cx="6856793" cy="98804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PH" sz="5400" dirty="0">
                  <a:ln w="19050">
                    <a:noFill/>
                  </a:ln>
                  <a:solidFill>
                    <a:srgbClr val="908D02"/>
                  </a:solidFill>
                  <a:latin typeface="Impact" panose="020B0806030902050204" pitchFamily="34" charset="0"/>
                </a:rPr>
                <a:t>Result and Discussions</a:t>
              </a:r>
            </a:p>
          </p:txBody>
        </p:sp>
        <p:sp>
          <p:nvSpPr>
            <p:cNvPr id="2" name="Rectangle 1">
              <a:extLst>
                <a:ext uri="{FF2B5EF4-FFF2-40B4-BE49-F238E27FC236}">
                  <a16:creationId xmlns:a16="http://schemas.microsoft.com/office/drawing/2014/main" id="{CC7B7BD7-9D9A-AF10-A663-D540B41371C1}"/>
                </a:ext>
              </a:extLst>
            </p:cNvPr>
            <p:cNvSpPr/>
            <p:nvPr/>
          </p:nvSpPr>
          <p:spPr>
            <a:xfrm>
              <a:off x="4671370" y="1284691"/>
              <a:ext cx="6885368" cy="4246245"/>
            </a:xfrm>
            <a:prstGeom prst="rect">
              <a:avLst/>
            </a:prstGeom>
          </p:spPr>
          <p:txBody>
            <a:bodyPr wrap="square">
              <a:spAutoFit/>
            </a:bodyPr>
            <a:lstStyle/>
            <a:p>
              <a:pPr lvl="0"/>
              <a:r>
                <a:rPr lang="en-US" altLang="en-US" sz="5400" dirty="0">
                  <a:latin typeface="Franklin Gothic Medium Cond" panose="020B0606030402020204" pitchFamily="34" charset="0"/>
                </a:rPr>
                <a:t>3.Is there any significant relationship between the acceptability and performance of the application?</a:t>
              </a:r>
            </a:p>
          </p:txBody>
        </p:sp>
      </p:grpSp>
      <p:sp>
        <p:nvSpPr>
          <p:cNvPr id="9" name="Rectangle 8">
            <a:extLst>
              <a:ext uri="{FF2B5EF4-FFF2-40B4-BE49-F238E27FC236}">
                <a16:creationId xmlns:a16="http://schemas.microsoft.com/office/drawing/2014/main" id="{FBB0921D-16D6-AAB6-D2A2-4650C62EBC88}"/>
              </a:ext>
            </a:extLst>
          </p:cNvPr>
          <p:cNvSpPr/>
          <p:nvPr/>
        </p:nvSpPr>
        <p:spPr>
          <a:xfrm>
            <a:off x="5104434" y="5556883"/>
            <a:ext cx="6782765" cy="523220"/>
          </a:xfrm>
          <a:prstGeom prst="rect">
            <a:avLst/>
          </a:prstGeom>
        </p:spPr>
        <p:txBody>
          <a:bodyPr wrap="square">
            <a:spAutoFit/>
          </a:bodyPr>
          <a:lstStyle/>
          <a:p>
            <a:endParaRPr lang="en-PH" sz="2800" dirty="0">
              <a:solidFill>
                <a:srgbClr val="2DE3F0"/>
              </a:solidFill>
              <a:latin typeface="Cambria Math" panose="02040503050406030204" pitchFamily="18" charset="0"/>
              <a:ea typeface="Cambria Math" panose="02040503050406030204" pitchFamily="18" charset="0"/>
            </a:endParaRPr>
          </a:p>
        </p:txBody>
      </p:sp>
      <p:grpSp>
        <p:nvGrpSpPr>
          <p:cNvPr id="8" name="Group 7">
            <a:extLst>
              <a:ext uri="{FF2B5EF4-FFF2-40B4-BE49-F238E27FC236}">
                <a16:creationId xmlns:a16="http://schemas.microsoft.com/office/drawing/2014/main" id="{1750524E-B9B3-C70D-0D6C-D2AAF383EB2E}"/>
              </a:ext>
            </a:extLst>
          </p:cNvPr>
          <p:cNvGrpSpPr/>
          <p:nvPr/>
        </p:nvGrpSpPr>
        <p:grpSpPr>
          <a:xfrm>
            <a:off x="-7928061" y="-30583"/>
            <a:ext cx="12921615" cy="6858000"/>
            <a:chOff x="-7928061" y="-30583"/>
            <a:chExt cx="12921615" cy="6858000"/>
          </a:xfrm>
        </p:grpSpPr>
        <p:grpSp>
          <p:nvGrpSpPr>
            <p:cNvPr id="30" name="Group 29">
              <a:extLst>
                <a:ext uri="{FF2B5EF4-FFF2-40B4-BE49-F238E27FC236}">
                  <a16:creationId xmlns:a16="http://schemas.microsoft.com/office/drawing/2014/main" id="{4822E7EB-1DA5-1FF9-54CD-028FC74AD597}"/>
                </a:ext>
              </a:extLst>
            </p:cNvPr>
            <p:cNvGrpSpPr/>
            <p:nvPr/>
          </p:nvGrpSpPr>
          <p:grpSpPr>
            <a:xfrm>
              <a:off x="-7928061" y="-30583"/>
              <a:ext cx="12921615" cy="6858000"/>
              <a:chOff x="-1011266" y="0"/>
              <a:chExt cx="12921615" cy="6858000"/>
            </a:xfrm>
            <a:solidFill>
              <a:srgbClr val="908D02"/>
            </a:solidFill>
          </p:grpSpPr>
          <p:grpSp>
            <p:nvGrpSpPr>
              <p:cNvPr id="23" name="Group 22">
                <a:extLst>
                  <a:ext uri="{FF2B5EF4-FFF2-40B4-BE49-F238E27FC236}">
                    <a16:creationId xmlns:a16="http://schemas.microsoft.com/office/drawing/2014/main" id="{FA520E2A-89D8-DB25-B0A1-E7743C2AC021}"/>
                  </a:ext>
                </a:extLst>
              </p:cNvPr>
              <p:cNvGrpSpPr/>
              <p:nvPr/>
            </p:nvGrpSpPr>
            <p:grpSpPr>
              <a:xfrm>
                <a:off x="-1011266" y="0"/>
                <a:ext cx="12921615" cy="6858000"/>
                <a:chOff x="-7993090" y="0"/>
                <a:chExt cx="12921615" cy="6858000"/>
              </a:xfrm>
              <a:grpFill/>
            </p:grpSpPr>
            <p:sp>
              <p:nvSpPr>
                <p:cNvPr id="11" name="Freeform 10">
                  <a:extLst>
                    <a:ext uri="{FF2B5EF4-FFF2-40B4-BE49-F238E27FC236}">
                      <a16:creationId xmlns:a16="http://schemas.microsoft.com/office/drawing/2014/main" id="{6DCEFFEA-E7EE-DCB1-3A61-696FB9746E69}"/>
                    </a:ext>
                  </a:extLst>
                </p:cNvPr>
                <p:cNvSpPr/>
                <p:nvPr/>
              </p:nvSpPr>
              <p:spPr>
                <a:xfrm>
                  <a:off x="-7993090" y="0"/>
                  <a:ext cx="12921615" cy="6858000"/>
                </a:xfrm>
                <a:custGeom>
                  <a:avLst/>
                  <a:gdLst>
                    <a:gd name="connsiteX0" fmla="*/ 0 w 12921615"/>
                    <a:gd name="connsiteY0" fmla="*/ 0 h 6858000"/>
                    <a:gd name="connsiteX1" fmla="*/ 12192000 w 12921615"/>
                    <a:gd name="connsiteY1" fmla="*/ 0 h 6858000"/>
                    <a:gd name="connsiteX2" fmla="*/ 12192000 w 12921615"/>
                    <a:gd name="connsiteY2" fmla="*/ 5631180 h 6858000"/>
                    <a:gd name="connsiteX3" fmla="*/ 12776832 w 12921615"/>
                    <a:gd name="connsiteY3" fmla="*/ 5631180 h 6858000"/>
                    <a:gd name="connsiteX4" fmla="*/ 12921615 w 12921615"/>
                    <a:gd name="connsiteY4" fmla="*/ 5775963 h 6858000"/>
                    <a:gd name="connsiteX5" fmla="*/ 12921615 w 12921615"/>
                    <a:gd name="connsiteY5" fmla="*/ 6355077 h 6858000"/>
                    <a:gd name="connsiteX6" fmla="*/ 12776832 w 12921615"/>
                    <a:gd name="connsiteY6" fmla="*/ 6499860 h 6858000"/>
                    <a:gd name="connsiteX7" fmla="*/ 12192000 w 12921615"/>
                    <a:gd name="connsiteY7" fmla="*/ 6499860 h 6858000"/>
                    <a:gd name="connsiteX8" fmla="*/ 12192000 w 12921615"/>
                    <a:gd name="connsiteY8" fmla="*/ 6858000 h 6858000"/>
                    <a:gd name="connsiteX9" fmla="*/ 0 w 1292161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21615" h="6858000">
                      <a:moveTo>
                        <a:pt x="0" y="0"/>
                      </a:moveTo>
                      <a:lnTo>
                        <a:pt x="12192000" y="0"/>
                      </a:lnTo>
                      <a:lnTo>
                        <a:pt x="12192000" y="5631180"/>
                      </a:lnTo>
                      <a:lnTo>
                        <a:pt x="12776832" y="5631180"/>
                      </a:lnTo>
                      <a:cubicBezTo>
                        <a:pt x="12856793" y="5631180"/>
                        <a:pt x="12921615" y="5696002"/>
                        <a:pt x="12921615" y="5775963"/>
                      </a:cubicBezTo>
                      <a:lnTo>
                        <a:pt x="12921615" y="6355077"/>
                      </a:lnTo>
                      <a:cubicBezTo>
                        <a:pt x="12921615" y="6435038"/>
                        <a:pt x="12856793" y="6499860"/>
                        <a:pt x="12776832" y="6499860"/>
                      </a:cubicBezTo>
                      <a:lnTo>
                        <a:pt x="12192000" y="6499860"/>
                      </a:lnTo>
                      <a:lnTo>
                        <a:pt x="12192000" y="6858000"/>
                      </a:lnTo>
                      <a:lnTo>
                        <a:pt x="0" y="6858000"/>
                      </a:lnTo>
                      <a:close/>
                    </a:path>
                  </a:pathLst>
                </a:custGeom>
                <a:grpFill/>
                <a:ln>
                  <a:noFill/>
                </a:ln>
                <a:effectLst>
                  <a:outerShdw blurRad="50800" dist="127000" algn="l"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2" name="TextBox 21">
                  <a:extLst>
                    <a:ext uri="{FF2B5EF4-FFF2-40B4-BE49-F238E27FC236}">
                      <a16:creationId xmlns:a16="http://schemas.microsoft.com/office/drawing/2014/main" id="{8C94855F-E4A9-108B-00E6-BE514F202A74}"/>
                    </a:ext>
                  </a:extLst>
                </p:cNvPr>
                <p:cNvSpPr txBox="1"/>
                <p:nvPr/>
              </p:nvSpPr>
              <p:spPr>
                <a:xfrm>
                  <a:off x="4201610" y="5544273"/>
                  <a:ext cx="679976" cy="1015663"/>
                </a:xfrm>
                <a:prstGeom prst="rect">
                  <a:avLst/>
                </a:prstGeom>
                <a:noFill/>
              </p:spPr>
              <p:txBody>
                <a:bodyPr wrap="square" rtlCol="0">
                  <a:spAutoFit/>
                </a:bodyPr>
                <a:lstStyle/>
                <a:p>
                  <a:r>
                    <a:rPr lang="en-PH" sz="6000" dirty="0">
                      <a:solidFill>
                        <a:srgbClr val="EEF0F2"/>
                      </a:solidFill>
                      <a:effectLst>
                        <a:outerShdw blurRad="50800" dist="38100" algn="l" rotWithShape="0">
                          <a:prstClr val="black">
                            <a:alpha val="40000"/>
                          </a:prstClr>
                        </a:outerShdw>
                      </a:effectLst>
                      <a:latin typeface="Franklin Gothic Demi" panose="020B0703020102020204" pitchFamily="34" charset="0"/>
                    </a:rPr>
                    <a:t>F</a:t>
                  </a:r>
                </a:p>
              </p:txBody>
            </p:sp>
          </p:grpSp>
          <p:sp>
            <p:nvSpPr>
              <p:cNvPr id="28" name="TextBox 27">
                <a:extLst>
                  <a:ext uri="{FF2B5EF4-FFF2-40B4-BE49-F238E27FC236}">
                    <a16:creationId xmlns:a16="http://schemas.microsoft.com/office/drawing/2014/main" id="{8FCA79C1-1D32-26F4-961C-3552DCCF129C}"/>
                  </a:ext>
                </a:extLst>
              </p:cNvPr>
              <p:cNvSpPr txBox="1"/>
              <p:nvPr/>
            </p:nvSpPr>
            <p:spPr>
              <a:xfrm>
                <a:off x="3602581" y="129228"/>
                <a:ext cx="6342926" cy="830997"/>
              </a:xfrm>
              <a:prstGeom prst="rect">
                <a:avLst/>
              </a:prstGeom>
              <a:grpFill/>
            </p:spPr>
            <p:txBody>
              <a:bodyPr wrap="square" rtlCol="0">
                <a:spAutoFit/>
              </a:bodyPr>
              <a:lstStyle/>
              <a:p>
                <a:r>
                  <a:rPr lang="en-PH" sz="4800" dirty="0">
                    <a:solidFill>
                      <a:srgbClr val="EEF0F2"/>
                    </a:solidFill>
                    <a:latin typeface="Franklin Gothic Demi" panose="020B0703020102020204" pitchFamily="34" charset="0"/>
                  </a:rPr>
                  <a:t>Findings</a:t>
                </a:r>
              </a:p>
            </p:txBody>
          </p:sp>
        </p:grpSp>
        <p:pic>
          <p:nvPicPr>
            <p:cNvPr id="6" name="Picture 5">
              <a:extLst>
                <a:ext uri="{FF2B5EF4-FFF2-40B4-BE49-F238E27FC236}">
                  <a16:creationId xmlns:a16="http://schemas.microsoft.com/office/drawing/2014/main" id="{5D0EBA8F-42D1-7161-6DAB-E47D173852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0734" y="1528548"/>
              <a:ext cx="11068334" cy="3988103"/>
            </a:xfrm>
            <a:prstGeom prst="rect">
              <a:avLst/>
            </a:prstGeom>
          </p:spPr>
        </p:pic>
      </p:grpSp>
    </p:spTree>
    <p:extLst>
      <p:ext uri="{BB962C8B-B14F-4D97-AF65-F5344CB8AC3E}">
        <p14:creationId xmlns:p14="http://schemas.microsoft.com/office/powerpoint/2010/main" val="16748916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2.5E-6 -1.85185E-6 L 0.65104 0.0044 " pathEditMode="relative" rAng="0" ptsTypes="AA">
                                      <p:cBhvr>
                                        <p:cTn id="6" dur="500" fill="hold"/>
                                        <p:tgtEl>
                                          <p:spTgt spid="8"/>
                                        </p:tgtEl>
                                        <p:attrNameLst>
                                          <p:attrName>ppt_x</p:attrName>
                                          <p:attrName>ppt_y</p:attrName>
                                        </p:attrNameLst>
                                      </p:cBhvr>
                                      <p:rCtr x="32552" y="20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515440" y="238894"/>
            <a:ext cx="7041298" cy="5292042"/>
            <a:chOff x="4515440" y="238894"/>
            <a:chExt cx="7041298" cy="5292042"/>
          </a:xfrm>
        </p:grpSpPr>
        <p:sp>
          <p:nvSpPr>
            <p:cNvPr id="5" name="Title 1"/>
            <p:cNvSpPr txBox="1"/>
            <p:nvPr/>
          </p:nvSpPr>
          <p:spPr>
            <a:xfrm>
              <a:off x="4515440" y="238894"/>
              <a:ext cx="6856793" cy="98804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PH" sz="5400" dirty="0">
                  <a:ln w="19050">
                    <a:noFill/>
                  </a:ln>
                  <a:solidFill>
                    <a:srgbClr val="908D02"/>
                  </a:solidFill>
                  <a:latin typeface="Impact" panose="020B0806030902050204" pitchFamily="34" charset="0"/>
                </a:rPr>
                <a:t>Result and Discussions</a:t>
              </a:r>
            </a:p>
          </p:txBody>
        </p:sp>
        <p:sp>
          <p:nvSpPr>
            <p:cNvPr id="2" name="Rectangle 1"/>
            <p:cNvSpPr/>
            <p:nvPr/>
          </p:nvSpPr>
          <p:spPr>
            <a:xfrm>
              <a:off x="4671370" y="1284691"/>
              <a:ext cx="6885368" cy="4246245"/>
            </a:xfrm>
            <a:prstGeom prst="rect">
              <a:avLst/>
            </a:prstGeom>
          </p:spPr>
          <p:txBody>
            <a:bodyPr wrap="square">
              <a:spAutoFit/>
            </a:bodyPr>
            <a:lstStyle/>
            <a:p>
              <a:pPr lvl="0"/>
              <a:r>
                <a:rPr lang="en-US" altLang="en-US" sz="5400" dirty="0">
                  <a:latin typeface="Franklin Gothic Medium Cond" panose="020B0606030402020204" pitchFamily="34" charset="0"/>
                </a:rPr>
                <a:t>3.Is there any significant relationship between the acceptability and performance of the application?</a:t>
              </a:r>
            </a:p>
          </p:txBody>
        </p:sp>
      </p:grpSp>
      <p:sp>
        <p:nvSpPr>
          <p:cNvPr id="9" name="Rectangle 8"/>
          <p:cNvSpPr/>
          <p:nvPr/>
        </p:nvSpPr>
        <p:spPr>
          <a:xfrm>
            <a:off x="5104434" y="5556883"/>
            <a:ext cx="6782765" cy="523220"/>
          </a:xfrm>
          <a:prstGeom prst="rect">
            <a:avLst/>
          </a:prstGeom>
        </p:spPr>
        <p:txBody>
          <a:bodyPr wrap="square">
            <a:spAutoFit/>
          </a:bodyPr>
          <a:lstStyle/>
          <a:p>
            <a:endParaRPr lang="en-PH" sz="2800" dirty="0">
              <a:solidFill>
                <a:srgbClr val="2DE3F0"/>
              </a:solidFill>
              <a:latin typeface="Cambria Math" panose="02040503050406030204" pitchFamily="18" charset="0"/>
              <a:ea typeface="Cambria Math" panose="02040503050406030204" pitchFamily="18" charset="0"/>
            </a:endParaRPr>
          </a:p>
        </p:txBody>
      </p:sp>
      <p:grpSp>
        <p:nvGrpSpPr>
          <p:cNvPr id="8" name="Group 7">
            <a:extLst>
              <a:ext uri="{FF2B5EF4-FFF2-40B4-BE49-F238E27FC236}">
                <a16:creationId xmlns:a16="http://schemas.microsoft.com/office/drawing/2014/main" id="{43088BB8-0FFB-1B40-1A31-8F6B433A43F8}"/>
              </a:ext>
            </a:extLst>
          </p:cNvPr>
          <p:cNvGrpSpPr/>
          <p:nvPr/>
        </p:nvGrpSpPr>
        <p:grpSpPr>
          <a:xfrm>
            <a:off x="-7928061" y="-30583"/>
            <a:ext cx="12921615" cy="6858000"/>
            <a:chOff x="-7928061" y="-30583"/>
            <a:chExt cx="12921615" cy="6858000"/>
          </a:xfrm>
        </p:grpSpPr>
        <p:grpSp>
          <p:nvGrpSpPr>
            <p:cNvPr id="30" name="Group 29"/>
            <p:cNvGrpSpPr/>
            <p:nvPr/>
          </p:nvGrpSpPr>
          <p:grpSpPr>
            <a:xfrm>
              <a:off x="-7928061" y="-30583"/>
              <a:ext cx="12921615" cy="6858000"/>
              <a:chOff x="-1011266" y="0"/>
              <a:chExt cx="12921615" cy="6858000"/>
            </a:xfrm>
            <a:solidFill>
              <a:srgbClr val="908D02"/>
            </a:solidFill>
          </p:grpSpPr>
          <p:grpSp>
            <p:nvGrpSpPr>
              <p:cNvPr id="23" name="Group 22"/>
              <p:cNvGrpSpPr/>
              <p:nvPr/>
            </p:nvGrpSpPr>
            <p:grpSpPr>
              <a:xfrm>
                <a:off x="-1011266" y="0"/>
                <a:ext cx="12921615" cy="6858000"/>
                <a:chOff x="-7993090" y="0"/>
                <a:chExt cx="12921615" cy="6858000"/>
              </a:xfrm>
              <a:grpFill/>
            </p:grpSpPr>
            <p:sp>
              <p:nvSpPr>
                <p:cNvPr id="11" name="Freeform 10"/>
                <p:cNvSpPr/>
                <p:nvPr/>
              </p:nvSpPr>
              <p:spPr>
                <a:xfrm>
                  <a:off x="-7993090" y="0"/>
                  <a:ext cx="12921615" cy="6858000"/>
                </a:xfrm>
                <a:custGeom>
                  <a:avLst/>
                  <a:gdLst>
                    <a:gd name="connsiteX0" fmla="*/ 0 w 12921615"/>
                    <a:gd name="connsiteY0" fmla="*/ 0 h 6858000"/>
                    <a:gd name="connsiteX1" fmla="*/ 12192000 w 12921615"/>
                    <a:gd name="connsiteY1" fmla="*/ 0 h 6858000"/>
                    <a:gd name="connsiteX2" fmla="*/ 12192000 w 12921615"/>
                    <a:gd name="connsiteY2" fmla="*/ 5631180 h 6858000"/>
                    <a:gd name="connsiteX3" fmla="*/ 12776832 w 12921615"/>
                    <a:gd name="connsiteY3" fmla="*/ 5631180 h 6858000"/>
                    <a:gd name="connsiteX4" fmla="*/ 12921615 w 12921615"/>
                    <a:gd name="connsiteY4" fmla="*/ 5775963 h 6858000"/>
                    <a:gd name="connsiteX5" fmla="*/ 12921615 w 12921615"/>
                    <a:gd name="connsiteY5" fmla="*/ 6355077 h 6858000"/>
                    <a:gd name="connsiteX6" fmla="*/ 12776832 w 12921615"/>
                    <a:gd name="connsiteY6" fmla="*/ 6499860 h 6858000"/>
                    <a:gd name="connsiteX7" fmla="*/ 12192000 w 12921615"/>
                    <a:gd name="connsiteY7" fmla="*/ 6499860 h 6858000"/>
                    <a:gd name="connsiteX8" fmla="*/ 12192000 w 12921615"/>
                    <a:gd name="connsiteY8" fmla="*/ 6858000 h 6858000"/>
                    <a:gd name="connsiteX9" fmla="*/ 0 w 12921615"/>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21615" h="6858000">
                      <a:moveTo>
                        <a:pt x="0" y="0"/>
                      </a:moveTo>
                      <a:lnTo>
                        <a:pt x="12192000" y="0"/>
                      </a:lnTo>
                      <a:lnTo>
                        <a:pt x="12192000" y="5631180"/>
                      </a:lnTo>
                      <a:lnTo>
                        <a:pt x="12776832" y="5631180"/>
                      </a:lnTo>
                      <a:cubicBezTo>
                        <a:pt x="12856793" y="5631180"/>
                        <a:pt x="12921615" y="5696002"/>
                        <a:pt x="12921615" y="5775963"/>
                      </a:cubicBezTo>
                      <a:lnTo>
                        <a:pt x="12921615" y="6355077"/>
                      </a:lnTo>
                      <a:cubicBezTo>
                        <a:pt x="12921615" y="6435038"/>
                        <a:pt x="12856793" y="6499860"/>
                        <a:pt x="12776832" y="6499860"/>
                      </a:cubicBezTo>
                      <a:lnTo>
                        <a:pt x="12192000" y="6499860"/>
                      </a:lnTo>
                      <a:lnTo>
                        <a:pt x="12192000" y="6858000"/>
                      </a:lnTo>
                      <a:lnTo>
                        <a:pt x="0" y="6858000"/>
                      </a:lnTo>
                      <a:close/>
                    </a:path>
                  </a:pathLst>
                </a:custGeom>
                <a:grpFill/>
                <a:ln>
                  <a:noFill/>
                </a:ln>
                <a:effectLst>
                  <a:outerShdw blurRad="50800" dist="127000" algn="l"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2" name="TextBox 21"/>
                <p:cNvSpPr txBox="1"/>
                <p:nvPr/>
              </p:nvSpPr>
              <p:spPr>
                <a:xfrm>
                  <a:off x="4201610" y="5544273"/>
                  <a:ext cx="679976" cy="1015663"/>
                </a:xfrm>
                <a:prstGeom prst="rect">
                  <a:avLst/>
                </a:prstGeom>
                <a:noFill/>
              </p:spPr>
              <p:txBody>
                <a:bodyPr wrap="square" rtlCol="0">
                  <a:spAutoFit/>
                </a:bodyPr>
                <a:lstStyle/>
                <a:p>
                  <a:r>
                    <a:rPr lang="en-PH" sz="6000" dirty="0">
                      <a:solidFill>
                        <a:srgbClr val="EEF0F2"/>
                      </a:solidFill>
                      <a:effectLst>
                        <a:outerShdw blurRad="50800" dist="38100" algn="l" rotWithShape="0">
                          <a:prstClr val="black">
                            <a:alpha val="40000"/>
                          </a:prstClr>
                        </a:outerShdw>
                      </a:effectLst>
                      <a:latin typeface="Franklin Gothic Demi" panose="020B0703020102020204" pitchFamily="34" charset="0"/>
                    </a:rPr>
                    <a:t>F</a:t>
                  </a:r>
                </a:p>
              </p:txBody>
            </p:sp>
          </p:grpSp>
          <p:sp>
            <p:nvSpPr>
              <p:cNvPr id="28" name="TextBox 27"/>
              <p:cNvSpPr txBox="1"/>
              <p:nvPr/>
            </p:nvSpPr>
            <p:spPr>
              <a:xfrm>
                <a:off x="3602581" y="129228"/>
                <a:ext cx="6342926" cy="830997"/>
              </a:xfrm>
              <a:prstGeom prst="rect">
                <a:avLst/>
              </a:prstGeom>
              <a:grpFill/>
            </p:spPr>
            <p:txBody>
              <a:bodyPr wrap="square" rtlCol="0">
                <a:spAutoFit/>
              </a:bodyPr>
              <a:lstStyle/>
              <a:p>
                <a:r>
                  <a:rPr lang="en-PH" sz="4800" dirty="0">
                    <a:solidFill>
                      <a:srgbClr val="EEF0F2"/>
                    </a:solidFill>
                    <a:latin typeface="Franklin Gothic Demi" panose="020B0703020102020204" pitchFamily="34" charset="0"/>
                  </a:rPr>
                  <a:t>Findings</a:t>
                </a:r>
              </a:p>
            </p:txBody>
          </p:sp>
        </p:grpSp>
        <p:pic>
          <p:nvPicPr>
            <p:cNvPr id="7" name="Picture 6">
              <a:extLst>
                <a:ext uri="{FF2B5EF4-FFF2-40B4-BE49-F238E27FC236}">
                  <a16:creationId xmlns:a16="http://schemas.microsoft.com/office/drawing/2014/main" id="{789158F6-B027-A127-02DB-F5AD31D6D6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7087" y="1682114"/>
              <a:ext cx="11109278" cy="3874769"/>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2.5E-6 -1.85185E-6 L 0.64922 0.0044 " pathEditMode="relative" rAng="0" ptsTypes="AA">
                                      <p:cBhvr>
                                        <p:cTn id="6" dur="500" fill="hold"/>
                                        <p:tgtEl>
                                          <p:spTgt spid="8"/>
                                        </p:tgtEl>
                                        <p:attrNameLst>
                                          <p:attrName>ppt_x</p:attrName>
                                          <p:attrName>ppt_y</p:attrName>
                                        </p:attrNameLst>
                                      </p:cBhvr>
                                      <p:rCtr x="32461" y="20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5104434" y="5556883"/>
            <a:ext cx="6782765" cy="523220"/>
          </a:xfrm>
          <a:prstGeom prst="rect">
            <a:avLst/>
          </a:prstGeom>
        </p:spPr>
        <p:txBody>
          <a:bodyPr wrap="square">
            <a:spAutoFit/>
          </a:bodyPr>
          <a:lstStyle/>
          <a:p>
            <a:endParaRPr lang="en-PH" sz="2800" dirty="0">
              <a:solidFill>
                <a:srgbClr val="2DE3F0"/>
              </a:solidFill>
              <a:latin typeface="Cambria Math" panose="02040503050406030204" pitchFamily="18" charset="0"/>
              <a:ea typeface="Cambria Math" panose="02040503050406030204" pitchFamily="18" charset="0"/>
            </a:endParaRPr>
          </a:p>
        </p:txBody>
      </p:sp>
      <p:sp>
        <p:nvSpPr>
          <p:cNvPr id="8" name="TextBox 7"/>
          <p:cNvSpPr txBox="1"/>
          <p:nvPr/>
        </p:nvSpPr>
        <p:spPr>
          <a:xfrm>
            <a:off x="598026" y="1439318"/>
            <a:ext cx="10995948" cy="1384995"/>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1. Quieazy is an acceptable digital tool for learners in</a:t>
            </a:r>
            <a:br>
              <a:rPr lang="en-US" altLang="en-US" sz="2800" dirty="0">
                <a:latin typeface="Century Gothic" panose="020B0502020202020204" pitchFamily="34" charset="0"/>
              </a:rPr>
            </a:br>
            <a:r>
              <a:rPr lang="en-US" altLang="en-US" sz="2800" dirty="0">
                <a:latin typeface="Century Gothic" panose="020B0502020202020204" pitchFamily="34" charset="0"/>
              </a:rPr>
              <a:t>    creating, hosting and taking quizzes, regarding its usability,</a:t>
            </a:r>
            <a:br>
              <a:rPr lang="en-US" altLang="en-US" sz="2800" dirty="0">
                <a:latin typeface="Century Gothic" panose="020B0502020202020204" pitchFamily="34" charset="0"/>
              </a:rPr>
            </a:br>
            <a:r>
              <a:rPr lang="en-US" altLang="en-US" sz="2800" dirty="0">
                <a:latin typeface="Century Gothic" panose="020B0502020202020204" pitchFamily="34" charset="0"/>
              </a:rPr>
              <a:t>    design and security.</a:t>
            </a:r>
          </a:p>
        </p:txBody>
      </p:sp>
      <p:sp>
        <p:nvSpPr>
          <p:cNvPr id="6" name="Round Same Side Corner Rectangle 5"/>
          <p:cNvSpPr/>
          <p:nvPr/>
        </p:nvSpPr>
        <p:spPr>
          <a:xfrm rot="5400000">
            <a:off x="2663555" y="-2420304"/>
            <a:ext cx="898529" cy="6217923"/>
          </a:xfrm>
          <a:prstGeom prst="round2SameRect">
            <a:avLst/>
          </a:prstGeom>
          <a:solidFill>
            <a:srgbClr val="29613F"/>
          </a:solidFill>
          <a:ln>
            <a:noFill/>
          </a:ln>
          <a:effectLst>
            <a:outerShdw blurRad="50800" dist="139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itle 7"/>
          <p:cNvSpPr txBox="1"/>
          <p:nvPr/>
        </p:nvSpPr>
        <p:spPr>
          <a:xfrm>
            <a:off x="389299" y="442593"/>
            <a:ext cx="5513662" cy="56324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PH" sz="4400" dirty="0">
                <a:solidFill>
                  <a:schemeClr val="bg1"/>
                </a:solidFill>
                <a:latin typeface="Franklin Gothic Demi Cond" panose="020B0706030402020204" pitchFamily="34" charset="0"/>
              </a:rPr>
              <a:t>Conclusions</a:t>
            </a:r>
          </a:p>
        </p:txBody>
      </p:sp>
      <p:sp>
        <p:nvSpPr>
          <p:cNvPr id="2" name="TextBox 1">
            <a:extLst>
              <a:ext uri="{FF2B5EF4-FFF2-40B4-BE49-F238E27FC236}">
                <a16:creationId xmlns:a16="http://schemas.microsoft.com/office/drawing/2014/main" id="{F5CEF538-BF9E-D0F8-6434-7061B7513221}"/>
              </a:ext>
            </a:extLst>
          </p:cNvPr>
          <p:cNvSpPr txBox="1"/>
          <p:nvPr/>
        </p:nvSpPr>
        <p:spPr>
          <a:xfrm>
            <a:off x="598026" y="2964925"/>
            <a:ext cx="10995948" cy="954107"/>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2. Quieazy is a performant digital tool for learners, based on its</a:t>
            </a:r>
            <a:br>
              <a:rPr lang="en-US" altLang="en-US" sz="2800" dirty="0">
                <a:latin typeface="Century Gothic" panose="020B0502020202020204" pitchFamily="34" charset="0"/>
              </a:rPr>
            </a:br>
            <a:r>
              <a:rPr lang="en-US" altLang="en-US" sz="2800" dirty="0">
                <a:latin typeface="Century Gothic" panose="020B0502020202020204" pitchFamily="34" charset="0"/>
              </a:rPr>
              <a:t>    graphical performance and transmission continuity.</a:t>
            </a:r>
          </a:p>
        </p:txBody>
      </p:sp>
      <p:sp>
        <p:nvSpPr>
          <p:cNvPr id="3" name="TextBox 2">
            <a:extLst>
              <a:ext uri="{FF2B5EF4-FFF2-40B4-BE49-F238E27FC236}">
                <a16:creationId xmlns:a16="http://schemas.microsoft.com/office/drawing/2014/main" id="{C75B0DB5-F9AA-1306-3ED3-598B9B85F0C8}"/>
              </a:ext>
            </a:extLst>
          </p:cNvPr>
          <p:cNvSpPr txBox="1"/>
          <p:nvPr/>
        </p:nvSpPr>
        <p:spPr>
          <a:xfrm>
            <a:off x="598026" y="4110519"/>
            <a:ext cx="10995948" cy="954107"/>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3. There is a significant relationship between the acceptability</a:t>
            </a:r>
            <a:br>
              <a:rPr lang="en-US" altLang="en-US" sz="2800" dirty="0">
                <a:latin typeface="Century Gothic" panose="020B0502020202020204" pitchFamily="34" charset="0"/>
              </a:rPr>
            </a:br>
            <a:r>
              <a:rPr lang="en-US" altLang="en-US" sz="2800" dirty="0">
                <a:latin typeface="Century Gothic" panose="020B0502020202020204" pitchFamily="34" charset="0"/>
              </a:rPr>
              <a:t>    and performance of Quieazy.</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7D4F3-B86D-EC75-D53A-7ED6E18B090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81AAF84-1150-57F5-1167-3DE4F81F74AF}"/>
              </a:ext>
            </a:extLst>
          </p:cNvPr>
          <p:cNvSpPr txBox="1"/>
          <p:nvPr/>
        </p:nvSpPr>
        <p:spPr>
          <a:xfrm>
            <a:off x="598026" y="1248818"/>
            <a:ext cx="10995948" cy="954107"/>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1. The researchers recommend publishing the application on</a:t>
            </a:r>
            <a:br>
              <a:rPr lang="en-US" altLang="en-US" sz="2800" dirty="0">
                <a:latin typeface="Century Gothic" panose="020B0502020202020204" pitchFamily="34" charset="0"/>
              </a:rPr>
            </a:br>
            <a:r>
              <a:rPr lang="en-US" altLang="en-US" sz="2800" dirty="0">
                <a:latin typeface="Century Gothic" panose="020B0502020202020204" pitchFamily="34" charset="0"/>
              </a:rPr>
              <a:t>    common application stores for easier download.</a:t>
            </a:r>
          </a:p>
        </p:txBody>
      </p:sp>
      <p:sp>
        <p:nvSpPr>
          <p:cNvPr id="6" name="Round Same Side Corner Rectangle 5">
            <a:extLst>
              <a:ext uri="{FF2B5EF4-FFF2-40B4-BE49-F238E27FC236}">
                <a16:creationId xmlns:a16="http://schemas.microsoft.com/office/drawing/2014/main" id="{95949DA8-0101-4EA8-9D04-8E08CEB696C5}"/>
              </a:ext>
            </a:extLst>
          </p:cNvPr>
          <p:cNvSpPr/>
          <p:nvPr/>
        </p:nvSpPr>
        <p:spPr>
          <a:xfrm rot="5400000">
            <a:off x="2663555" y="-2420304"/>
            <a:ext cx="898529" cy="6217923"/>
          </a:xfrm>
          <a:prstGeom prst="round2SameRect">
            <a:avLst/>
          </a:prstGeom>
          <a:solidFill>
            <a:srgbClr val="29613F"/>
          </a:solidFill>
          <a:ln>
            <a:noFill/>
          </a:ln>
          <a:effectLst>
            <a:outerShdw blurRad="50800" dist="139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itle 7">
            <a:extLst>
              <a:ext uri="{FF2B5EF4-FFF2-40B4-BE49-F238E27FC236}">
                <a16:creationId xmlns:a16="http://schemas.microsoft.com/office/drawing/2014/main" id="{7F9C6257-0B1F-B04B-39DC-DAA8A9DE2E2D}"/>
              </a:ext>
            </a:extLst>
          </p:cNvPr>
          <p:cNvSpPr txBox="1"/>
          <p:nvPr/>
        </p:nvSpPr>
        <p:spPr>
          <a:xfrm>
            <a:off x="389299" y="442593"/>
            <a:ext cx="5513662" cy="56324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PH" sz="4400" dirty="0">
                <a:solidFill>
                  <a:schemeClr val="bg1"/>
                </a:solidFill>
                <a:latin typeface="Franklin Gothic Demi Cond" panose="020B0706030402020204" pitchFamily="34" charset="0"/>
              </a:rPr>
              <a:t>Recommendations</a:t>
            </a:r>
          </a:p>
        </p:txBody>
      </p:sp>
      <p:sp>
        <p:nvSpPr>
          <p:cNvPr id="2" name="TextBox 1">
            <a:extLst>
              <a:ext uri="{FF2B5EF4-FFF2-40B4-BE49-F238E27FC236}">
                <a16:creationId xmlns:a16="http://schemas.microsoft.com/office/drawing/2014/main" id="{028A884C-361A-1BD5-741C-6C8384CE6422}"/>
              </a:ext>
            </a:extLst>
          </p:cNvPr>
          <p:cNvSpPr txBox="1"/>
          <p:nvPr/>
        </p:nvSpPr>
        <p:spPr>
          <a:xfrm>
            <a:off x="598026" y="2202925"/>
            <a:ext cx="10995948" cy="954107"/>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2. The researchers suggest making the application available</a:t>
            </a:r>
            <a:br>
              <a:rPr lang="en-US" altLang="en-US" sz="2800" dirty="0">
                <a:latin typeface="Century Gothic" panose="020B0502020202020204" pitchFamily="34" charset="0"/>
              </a:rPr>
            </a:br>
            <a:r>
              <a:rPr lang="en-US" altLang="en-US" sz="2800" dirty="0">
                <a:latin typeface="Century Gothic" panose="020B0502020202020204" pitchFamily="34" charset="0"/>
              </a:rPr>
              <a:t>    on iOS and Mac devices.</a:t>
            </a:r>
          </a:p>
        </p:txBody>
      </p:sp>
      <p:sp>
        <p:nvSpPr>
          <p:cNvPr id="3" name="TextBox 2">
            <a:extLst>
              <a:ext uri="{FF2B5EF4-FFF2-40B4-BE49-F238E27FC236}">
                <a16:creationId xmlns:a16="http://schemas.microsoft.com/office/drawing/2014/main" id="{BC378DE3-4F9F-1DF2-AEC2-4C1EC7CD1A40}"/>
              </a:ext>
            </a:extLst>
          </p:cNvPr>
          <p:cNvSpPr txBox="1"/>
          <p:nvPr/>
        </p:nvSpPr>
        <p:spPr>
          <a:xfrm>
            <a:off x="598026" y="3132619"/>
            <a:ext cx="10995948" cy="954107"/>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3. The researchers also recommend implementing tokens and</a:t>
            </a:r>
            <a:br>
              <a:rPr lang="en-US" altLang="en-US" sz="2800" dirty="0">
                <a:latin typeface="Century Gothic" panose="020B0502020202020204" pitchFamily="34" charset="0"/>
              </a:rPr>
            </a:br>
            <a:r>
              <a:rPr lang="en-US" altLang="en-US" sz="2800" dirty="0">
                <a:latin typeface="Century Gothic" panose="020B0502020202020204" pitchFamily="34" charset="0"/>
              </a:rPr>
              <a:t>    moderation tools to quiz sessions to increase security.</a:t>
            </a:r>
          </a:p>
        </p:txBody>
      </p:sp>
      <p:sp>
        <p:nvSpPr>
          <p:cNvPr id="4" name="TextBox 3">
            <a:extLst>
              <a:ext uri="{FF2B5EF4-FFF2-40B4-BE49-F238E27FC236}">
                <a16:creationId xmlns:a16="http://schemas.microsoft.com/office/drawing/2014/main" id="{756A223F-8C77-6EDD-B53C-AB6DC951640F}"/>
              </a:ext>
            </a:extLst>
          </p:cNvPr>
          <p:cNvSpPr txBox="1"/>
          <p:nvPr/>
        </p:nvSpPr>
        <p:spPr>
          <a:xfrm>
            <a:off x="598026" y="4034939"/>
            <a:ext cx="10995948" cy="954107"/>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4. The researchers also recommend the ability to use themes,</a:t>
            </a:r>
            <a:br>
              <a:rPr lang="en-US" altLang="en-US" sz="2800" dirty="0">
                <a:latin typeface="Century Gothic" panose="020B0502020202020204" pitchFamily="34" charset="0"/>
              </a:rPr>
            </a:br>
            <a:r>
              <a:rPr lang="en-US" altLang="en-US" sz="2800" dirty="0">
                <a:latin typeface="Century Gothic" panose="020B0502020202020204" pitchFamily="34" charset="0"/>
              </a:rPr>
              <a:t>    specifically light mode for better visibility.</a:t>
            </a:r>
          </a:p>
        </p:txBody>
      </p:sp>
      <p:sp>
        <p:nvSpPr>
          <p:cNvPr id="5" name="TextBox 4">
            <a:extLst>
              <a:ext uri="{FF2B5EF4-FFF2-40B4-BE49-F238E27FC236}">
                <a16:creationId xmlns:a16="http://schemas.microsoft.com/office/drawing/2014/main" id="{290082C5-63F5-B5F2-B0DC-4E7133028E5B}"/>
              </a:ext>
            </a:extLst>
          </p:cNvPr>
          <p:cNvSpPr txBox="1"/>
          <p:nvPr/>
        </p:nvSpPr>
        <p:spPr>
          <a:xfrm>
            <a:off x="598026" y="4926459"/>
            <a:ext cx="10995948" cy="954107"/>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5. The researchers propose to have tutorials in using the</a:t>
            </a:r>
            <a:br>
              <a:rPr lang="en-US" altLang="en-US" sz="2800" dirty="0">
                <a:latin typeface="Century Gothic" panose="020B0502020202020204" pitchFamily="34" charset="0"/>
              </a:rPr>
            </a:br>
            <a:r>
              <a:rPr lang="en-US" altLang="en-US" sz="2800" dirty="0">
                <a:latin typeface="Century Gothic" panose="020B0502020202020204" pitchFamily="34" charset="0"/>
              </a:rPr>
              <a:t>    application.</a:t>
            </a:r>
          </a:p>
        </p:txBody>
      </p:sp>
      <p:sp>
        <p:nvSpPr>
          <p:cNvPr id="9" name="TextBox 8">
            <a:extLst>
              <a:ext uri="{FF2B5EF4-FFF2-40B4-BE49-F238E27FC236}">
                <a16:creationId xmlns:a16="http://schemas.microsoft.com/office/drawing/2014/main" id="{76504A83-003A-AC94-58C6-AF352E154A3F}"/>
              </a:ext>
            </a:extLst>
          </p:cNvPr>
          <p:cNvSpPr txBox="1"/>
          <p:nvPr/>
        </p:nvSpPr>
        <p:spPr>
          <a:xfrm>
            <a:off x="598026" y="5804292"/>
            <a:ext cx="10995948" cy="954107"/>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6. The researchers recommend the ability to export results as</a:t>
            </a:r>
            <a:br>
              <a:rPr lang="en-US" altLang="en-US" sz="2800" dirty="0">
                <a:latin typeface="Century Gothic" panose="020B0502020202020204" pitchFamily="34" charset="0"/>
              </a:rPr>
            </a:br>
            <a:r>
              <a:rPr lang="en-US" altLang="en-US" sz="2800" dirty="0">
                <a:latin typeface="Century Gothic" panose="020B0502020202020204" pitchFamily="34" charset="0"/>
              </a:rPr>
              <a:t>    an excel spreadsheet for efficient score collection.</a:t>
            </a:r>
          </a:p>
        </p:txBody>
      </p:sp>
    </p:spTree>
    <p:extLst>
      <p:ext uri="{BB962C8B-B14F-4D97-AF65-F5344CB8AC3E}">
        <p14:creationId xmlns:p14="http://schemas.microsoft.com/office/powerpoint/2010/main" val="626398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2" grpId="0"/>
      <p:bldP spid="4" grpId="0"/>
      <p:bldP spid="5"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7AD31-0C68-C1AA-D8CF-92669FEBAC40}"/>
            </a:ext>
          </a:extLst>
        </p:cNvPr>
        <p:cNvGrpSpPr/>
        <p:nvPr/>
      </p:nvGrpSpPr>
      <p:grpSpPr>
        <a:xfrm>
          <a:off x="0" y="0"/>
          <a:ext cx="0" cy="0"/>
          <a:chOff x="0" y="0"/>
          <a:chExt cx="0" cy="0"/>
        </a:xfrm>
      </p:grpSpPr>
      <p:sp>
        <p:nvSpPr>
          <p:cNvPr id="6" name="Round Same Side Corner Rectangle 5">
            <a:extLst>
              <a:ext uri="{FF2B5EF4-FFF2-40B4-BE49-F238E27FC236}">
                <a16:creationId xmlns:a16="http://schemas.microsoft.com/office/drawing/2014/main" id="{964773BC-1543-E167-8F57-DDC0CB10FFF6}"/>
              </a:ext>
            </a:extLst>
          </p:cNvPr>
          <p:cNvSpPr/>
          <p:nvPr/>
        </p:nvSpPr>
        <p:spPr>
          <a:xfrm rot="5400000">
            <a:off x="2663555" y="-2420304"/>
            <a:ext cx="898529" cy="6217923"/>
          </a:xfrm>
          <a:prstGeom prst="round2SameRect">
            <a:avLst/>
          </a:prstGeom>
          <a:solidFill>
            <a:srgbClr val="29613F"/>
          </a:solidFill>
          <a:ln>
            <a:noFill/>
          </a:ln>
          <a:effectLst>
            <a:outerShdw blurRad="50800" dist="139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itle 7">
            <a:extLst>
              <a:ext uri="{FF2B5EF4-FFF2-40B4-BE49-F238E27FC236}">
                <a16:creationId xmlns:a16="http://schemas.microsoft.com/office/drawing/2014/main" id="{29913BD8-2B7D-DE2D-01AD-7B5CA49ED844}"/>
              </a:ext>
            </a:extLst>
          </p:cNvPr>
          <p:cNvSpPr txBox="1"/>
          <p:nvPr/>
        </p:nvSpPr>
        <p:spPr>
          <a:xfrm>
            <a:off x="389299" y="442593"/>
            <a:ext cx="5513662" cy="56324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PH" sz="4400" dirty="0">
                <a:solidFill>
                  <a:schemeClr val="bg1"/>
                </a:solidFill>
                <a:latin typeface="Franklin Gothic Demi Cond" panose="020B0706030402020204" pitchFamily="34" charset="0"/>
              </a:rPr>
              <a:t>Storyboard</a:t>
            </a:r>
          </a:p>
        </p:txBody>
      </p:sp>
      <p:pic>
        <p:nvPicPr>
          <p:cNvPr id="3" name="Picture 2">
            <a:extLst>
              <a:ext uri="{FF2B5EF4-FFF2-40B4-BE49-F238E27FC236}">
                <a16:creationId xmlns:a16="http://schemas.microsoft.com/office/drawing/2014/main" id="{5810F85E-CEE5-046A-EE79-AB2DEC7279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3629" y="107066"/>
            <a:ext cx="3098177" cy="6643868"/>
          </a:xfrm>
          <a:prstGeom prst="rect">
            <a:avLst/>
          </a:prstGeom>
        </p:spPr>
      </p:pic>
      <p:sp>
        <p:nvSpPr>
          <p:cNvPr id="5" name="TextBox 4">
            <a:extLst>
              <a:ext uri="{FF2B5EF4-FFF2-40B4-BE49-F238E27FC236}">
                <a16:creationId xmlns:a16="http://schemas.microsoft.com/office/drawing/2014/main" id="{D3EF0514-31AF-8595-AF4F-77396EF3ADA3}"/>
              </a:ext>
            </a:extLst>
          </p:cNvPr>
          <p:cNvSpPr txBox="1"/>
          <p:nvPr/>
        </p:nvSpPr>
        <p:spPr>
          <a:xfrm>
            <a:off x="634688" y="3167390"/>
            <a:ext cx="7123827" cy="523220"/>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Expected Output from Title Proposal</a:t>
            </a:r>
          </a:p>
        </p:txBody>
      </p:sp>
    </p:spTree>
    <p:extLst>
      <p:ext uri="{BB962C8B-B14F-4D97-AF65-F5344CB8AC3E}">
        <p14:creationId xmlns:p14="http://schemas.microsoft.com/office/powerpoint/2010/main" val="4781283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52E07-3F77-A183-D317-93538C3D8AFA}"/>
            </a:ext>
          </a:extLst>
        </p:cNvPr>
        <p:cNvGrpSpPr/>
        <p:nvPr/>
      </p:nvGrpSpPr>
      <p:grpSpPr>
        <a:xfrm>
          <a:off x="0" y="0"/>
          <a:ext cx="0" cy="0"/>
          <a:chOff x="0" y="0"/>
          <a:chExt cx="0" cy="0"/>
        </a:xfrm>
      </p:grpSpPr>
      <p:sp>
        <p:nvSpPr>
          <p:cNvPr id="6" name="Round Same Side Corner Rectangle 5">
            <a:extLst>
              <a:ext uri="{FF2B5EF4-FFF2-40B4-BE49-F238E27FC236}">
                <a16:creationId xmlns:a16="http://schemas.microsoft.com/office/drawing/2014/main" id="{9E8EC627-C145-2956-8FAF-D39BA9EBA048}"/>
              </a:ext>
            </a:extLst>
          </p:cNvPr>
          <p:cNvSpPr/>
          <p:nvPr/>
        </p:nvSpPr>
        <p:spPr>
          <a:xfrm rot="5400000">
            <a:off x="2663555" y="-2420304"/>
            <a:ext cx="898529" cy="6217923"/>
          </a:xfrm>
          <a:prstGeom prst="round2SameRect">
            <a:avLst/>
          </a:prstGeom>
          <a:solidFill>
            <a:srgbClr val="29613F"/>
          </a:solidFill>
          <a:ln>
            <a:noFill/>
          </a:ln>
          <a:effectLst>
            <a:outerShdw blurRad="50800" dist="139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itle 7">
            <a:extLst>
              <a:ext uri="{FF2B5EF4-FFF2-40B4-BE49-F238E27FC236}">
                <a16:creationId xmlns:a16="http://schemas.microsoft.com/office/drawing/2014/main" id="{D117583C-D1A8-3EB9-EE1D-36B4DBE46F49}"/>
              </a:ext>
            </a:extLst>
          </p:cNvPr>
          <p:cNvSpPr txBox="1"/>
          <p:nvPr/>
        </p:nvSpPr>
        <p:spPr>
          <a:xfrm>
            <a:off x="389299" y="442593"/>
            <a:ext cx="5513662" cy="56324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PH" sz="4400" dirty="0">
                <a:solidFill>
                  <a:schemeClr val="bg1"/>
                </a:solidFill>
                <a:latin typeface="Franklin Gothic Demi Cond" panose="020B0706030402020204" pitchFamily="34" charset="0"/>
              </a:rPr>
              <a:t>Storyboard</a:t>
            </a:r>
          </a:p>
        </p:txBody>
      </p:sp>
      <p:sp>
        <p:nvSpPr>
          <p:cNvPr id="5" name="TextBox 4">
            <a:extLst>
              <a:ext uri="{FF2B5EF4-FFF2-40B4-BE49-F238E27FC236}">
                <a16:creationId xmlns:a16="http://schemas.microsoft.com/office/drawing/2014/main" id="{D7A851AE-04BD-1B43-D710-30E4775F1472}"/>
              </a:ext>
            </a:extLst>
          </p:cNvPr>
          <p:cNvSpPr txBox="1"/>
          <p:nvPr/>
        </p:nvSpPr>
        <p:spPr>
          <a:xfrm>
            <a:off x="7152488" y="482620"/>
            <a:ext cx="3774348" cy="523220"/>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First Stable Prototype</a:t>
            </a:r>
          </a:p>
        </p:txBody>
      </p:sp>
      <p:pic>
        <p:nvPicPr>
          <p:cNvPr id="4" name="Picture 3">
            <a:extLst>
              <a:ext uri="{FF2B5EF4-FFF2-40B4-BE49-F238E27FC236}">
                <a16:creationId xmlns:a16="http://schemas.microsoft.com/office/drawing/2014/main" id="{FA8FCF0E-C871-049E-F29C-CB0DF9E4E5C2}"/>
              </a:ext>
            </a:extLst>
          </p:cNvPr>
          <p:cNvPicPr>
            <a:picLocks noChangeAspect="1"/>
          </p:cNvPicPr>
          <p:nvPr/>
        </p:nvPicPr>
        <p:blipFill>
          <a:blip r:embed="rId2" cstate="print">
            <a:extLst>
              <a:ext uri="{28A0092B-C50C-407E-A947-70E740481C1C}">
                <a14:useLocalDpi xmlns:a14="http://schemas.microsoft.com/office/drawing/2010/main" val="0"/>
              </a:ext>
            </a:extLst>
          </a:blip>
          <a:srcRect t="3518" b="5126"/>
          <a:stretch>
            <a:fillRect/>
          </a:stretch>
        </p:blipFill>
        <p:spPr>
          <a:xfrm>
            <a:off x="850153" y="1137922"/>
            <a:ext cx="2872461" cy="5539906"/>
          </a:xfrm>
          <a:prstGeom prst="rect">
            <a:avLst/>
          </a:prstGeom>
        </p:spPr>
      </p:pic>
      <p:pic>
        <p:nvPicPr>
          <p:cNvPr id="10" name="Picture 9">
            <a:extLst>
              <a:ext uri="{FF2B5EF4-FFF2-40B4-BE49-F238E27FC236}">
                <a16:creationId xmlns:a16="http://schemas.microsoft.com/office/drawing/2014/main" id="{505D96A4-9AB7-D761-1B70-6CE219583628}"/>
              </a:ext>
            </a:extLst>
          </p:cNvPr>
          <p:cNvPicPr>
            <a:picLocks noChangeAspect="1"/>
          </p:cNvPicPr>
          <p:nvPr/>
        </p:nvPicPr>
        <p:blipFill>
          <a:blip r:embed="rId3" cstate="print">
            <a:extLst>
              <a:ext uri="{28A0092B-C50C-407E-A947-70E740481C1C}">
                <a14:useLocalDpi xmlns:a14="http://schemas.microsoft.com/office/drawing/2010/main" val="0"/>
              </a:ext>
            </a:extLst>
          </a:blip>
          <a:srcRect t="3324" b="5321"/>
          <a:stretch>
            <a:fillRect/>
          </a:stretch>
        </p:blipFill>
        <p:spPr>
          <a:xfrm>
            <a:off x="4627934" y="1137922"/>
            <a:ext cx="2872461" cy="5539906"/>
          </a:xfrm>
          <a:prstGeom prst="rect">
            <a:avLst/>
          </a:prstGeom>
        </p:spPr>
      </p:pic>
      <p:pic>
        <p:nvPicPr>
          <p:cNvPr id="12" name="Picture 11">
            <a:extLst>
              <a:ext uri="{FF2B5EF4-FFF2-40B4-BE49-F238E27FC236}">
                <a16:creationId xmlns:a16="http://schemas.microsoft.com/office/drawing/2014/main" id="{1230643F-5596-0540-1DF8-6926A25F184E}"/>
              </a:ext>
            </a:extLst>
          </p:cNvPr>
          <p:cNvPicPr>
            <a:picLocks noChangeAspect="1"/>
          </p:cNvPicPr>
          <p:nvPr/>
        </p:nvPicPr>
        <p:blipFill>
          <a:blip r:embed="rId4" cstate="print">
            <a:extLst>
              <a:ext uri="{28A0092B-C50C-407E-A947-70E740481C1C}">
                <a14:useLocalDpi xmlns:a14="http://schemas.microsoft.com/office/drawing/2010/main" val="0"/>
              </a:ext>
            </a:extLst>
          </a:blip>
          <a:srcRect t="4456" b="1198"/>
          <a:stretch>
            <a:fillRect/>
          </a:stretch>
        </p:blipFill>
        <p:spPr>
          <a:xfrm>
            <a:off x="8256027" y="1224357"/>
            <a:ext cx="2589786" cy="5511013"/>
          </a:xfrm>
          <a:prstGeom prst="rect">
            <a:avLst/>
          </a:prstGeom>
        </p:spPr>
      </p:pic>
    </p:spTree>
    <p:extLst>
      <p:ext uri="{BB962C8B-B14F-4D97-AF65-F5344CB8AC3E}">
        <p14:creationId xmlns:p14="http://schemas.microsoft.com/office/powerpoint/2010/main" val="752736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931AE-23CA-CA90-8184-F5C8DAAF29FE}"/>
            </a:ext>
          </a:extLst>
        </p:cNvPr>
        <p:cNvGrpSpPr/>
        <p:nvPr/>
      </p:nvGrpSpPr>
      <p:grpSpPr>
        <a:xfrm>
          <a:off x="0" y="0"/>
          <a:ext cx="0" cy="0"/>
          <a:chOff x="0" y="0"/>
          <a:chExt cx="0" cy="0"/>
        </a:xfrm>
      </p:grpSpPr>
      <p:sp>
        <p:nvSpPr>
          <p:cNvPr id="6" name="Round Same Side Corner Rectangle 5">
            <a:extLst>
              <a:ext uri="{FF2B5EF4-FFF2-40B4-BE49-F238E27FC236}">
                <a16:creationId xmlns:a16="http://schemas.microsoft.com/office/drawing/2014/main" id="{C2F2CA8D-AD88-84EC-43D0-7C28744DE4A3}"/>
              </a:ext>
            </a:extLst>
          </p:cNvPr>
          <p:cNvSpPr/>
          <p:nvPr/>
        </p:nvSpPr>
        <p:spPr>
          <a:xfrm rot="5400000">
            <a:off x="2663555" y="-2420304"/>
            <a:ext cx="898529" cy="6217923"/>
          </a:xfrm>
          <a:prstGeom prst="round2SameRect">
            <a:avLst/>
          </a:prstGeom>
          <a:solidFill>
            <a:srgbClr val="29613F"/>
          </a:solidFill>
          <a:ln>
            <a:noFill/>
          </a:ln>
          <a:effectLst>
            <a:outerShdw blurRad="50800" dist="139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itle 7">
            <a:extLst>
              <a:ext uri="{FF2B5EF4-FFF2-40B4-BE49-F238E27FC236}">
                <a16:creationId xmlns:a16="http://schemas.microsoft.com/office/drawing/2014/main" id="{84818276-5922-B8FE-2D3B-2F096AC8E217}"/>
              </a:ext>
            </a:extLst>
          </p:cNvPr>
          <p:cNvSpPr txBox="1"/>
          <p:nvPr/>
        </p:nvSpPr>
        <p:spPr>
          <a:xfrm>
            <a:off x="389299" y="442593"/>
            <a:ext cx="5513662" cy="56324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PH" sz="4400" dirty="0">
                <a:solidFill>
                  <a:schemeClr val="bg1"/>
                </a:solidFill>
                <a:latin typeface="Franklin Gothic Demi Cond" panose="020B0706030402020204" pitchFamily="34" charset="0"/>
              </a:rPr>
              <a:t>Storyboard</a:t>
            </a:r>
          </a:p>
        </p:txBody>
      </p:sp>
      <p:sp>
        <p:nvSpPr>
          <p:cNvPr id="5" name="TextBox 4">
            <a:extLst>
              <a:ext uri="{FF2B5EF4-FFF2-40B4-BE49-F238E27FC236}">
                <a16:creationId xmlns:a16="http://schemas.microsoft.com/office/drawing/2014/main" id="{3617ECF7-BA63-A263-67E5-22E608B16A50}"/>
              </a:ext>
            </a:extLst>
          </p:cNvPr>
          <p:cNvSpPr txBox="1"/>
          <p:nvPr/>
        </p:nvSpPr>
        <p:spPr>
          <a:xfrm>
            <a:off x="7584884" y="4946264"/>
            <a:ext cx="3774349" cy="954107"/>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Development of the Application</a:t>
            </a:r>
          </a:p>
        </p:txBody>
      </p:sp>
      <p:pic>
        <p:nvPicPr>
          <p:cNvPr id="3" name="Picture 2">
            <a:extLst>
              <a:ext uri="{FF2B5EF4-FFF2-40B4-BE49-F238E27FC236}">
                <a16:creationId xmlns:a16="http://schemas.microsoft.com/office/drawing/2014/main" id="{1305536F-3588-B72B-9FB9-2BEFE799EA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20917" y="1309514"/>
            <a:ext cx="3774349" cy="2830762"/>
          </a:xfrm>
          <a:prstGeom prst="rect">
            <a:avLst/>
          </a:prstGeom>
        </p:spPr>
      </p:pic>
      <p:pic>
        <p:nvPicPr>
          <p:cNvPr id="11" name="Picture 10">
            <a:extLst>
              <a:ext uri="{FF2B5EF4-FFF2-40B4-BE49-F238E27FC236}">
                <a16:creationId xmlns:a16="http://schemas.microsoft.com/office/drawing/2014/main" id="{E57DE3FA-9880-467E-0821-85C1144EFD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2193" y="1309514"/>
            <a:ext cx="3428556" cy="2571417"/>
          </a:xfrm>
          <a:prstGeom prst="rect">
            <a:avLst/>
          </a:prstGeom>
        </p:spPr>
      </p:pic>
      <p:pic>
        <p:nvPicPr>
          <p:cNvPr id="14" name="Picture 13">
            <a:extLst>
              <a:ext uri="{FF2B5EF4-FFF2-40B4-BE49-F238E27FC236}">
                <a16:creationId xmlns:a16="http://schemas.microsoft.com/office/drawing/2014/main" id="{79575EFD-A7E1-2181-38CD-EF68224E31EA}"/>
              </a:ext>
            </a:extLst>
          </p:cNvPr>
          <p:cNvPicPr>
            <a:picLocks noChangeAspect="1"/>
          </p:cNvPicPr>
          <p:nvPr/>
        </p:nvPicPr>
        <p:blipFill>
          <a:blip r:embed="rId4" cstate="print">
            <a:extLst>
              <a:ext uri="{28A0092B-C50C-407E-A947-70E740481C1C}">
                <a14:useLocalDpi xmlns:a14="http://schemas.microsoft.com/office/drawing/2010/main" val="0"/>
              </a:ext>
            </a:extLst>
          </a:blip>
          <a:srcRect b="28592"/>
          <a:stretch>
            <a:fillRect/>
          </a:stretch>
        </p:blipFill>
        <p:spPr>
          <a:xfrm>
            <a:off x="1304596" y="4140276"/>
            <a:ext cx="4791404" cy="2566084"/>
          </a:xfrm>
          <a:prstGeom prst="rect">
            <a:avLst/>
          </a:prstGeom>
        </p:spPr>
      </p:pic>
      <p:pic>
        <p:nvPicPr>
          <p:cNvPr id="16" name="Picture 15">
            <a:extLst>
              <a:ext uri="{FF2B5EF4-FFF2-40B4-BE49-F238E27FC236}">
                <a16:creationId xmlns:a16="http://schemas.microsoft.com/office/drawing/2014/main" id="{7586B668-9876-C581-C2B8-B4E5733953B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56328" y="1309514"/>
            <a:ext cx="3428556" cy="2571417"/>
          </a:xfrm>
          <a:prstGeom prst="rect">
            <a:avLst/>
          </a:prstGeom>
        </p:spPr>
      </p:pic>
    </p:spTree>
    <p:extLst>
      <p:ext uri="{BB962C8B-B14F-4D97-AF65-F5344CB8AC3E}">
        <p14:creationId xmlns:p14="http://schemas.microsoft.com/office/powerpoint/2010/main" val="28353108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16629-051C-2A6C-69B5-A01BC98F120B}"/>
            </a:ext>
          </a:extLst>
        </p:cNvPr>
        <p:cNvGrpSpPr/>
        <p:nvPr/>
      </p:nvGrpSpPr>
      <p:grpSpPr>
        <a:xfrm>
          <a:off x="0" y="0"/>
          <a:ext cx="0" cy="0"/>
          <a:chOff x="0" y="0"/>
          <a:chExt cx="0" cy="0"/>
        </a:xfrm>
      </p:grpSpPr>
      <p:sp>
        <p:nvSpPr>
          <p:cNvPr id="6" name="Round Same Side Corner Rectangle 5">
            <a:extLst>
              <a:ext uri="{FF2B5EF4-FFF2-40B4-BE49-F238E27FC236}">
                <a16:creationId xmlns:a16="http://schemas.microsoft.com/office/drawing/2014/main" id="{4C1A4271-44A2-8641-105D-0222AC29EA7A}"/>
              </a:ext>
            </a:extLst>
          </p:cNvPr>
          <p:cNvSpPr/>
          <p:nvPr/>
        </p:nvSpPr>
        <p:spPr>
          <a:xfrm rot="5400000">
            <a:off x="2663555" y="-2420304"/>
            <a:ext cx="898529" cy="6217923"/>
          </a:xfrm>
          <a:prstGeom prst="round2SameRect">
            <a:avLst/>
          </a:prstGeom>
          <a:solidFill>
            <a:srgbClr val="29613F"/>
          </a:solidFill>
          <a:ln>
            <a:noFill/>
          </a:ln>
          <a:effectLst>
            <a:outerShdw blurRad="50800" dist="139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itle 7">
            <a:extLst>
              <a:ext uri="{FF2B5EF4-FFF2-40B4-BE49-F238E27FC236}">
                <a16:creationId xmlns:a16="http://schemas.microsoft.com/office/drawing/2014/main" id="{00606B7B-6736-379E-14C6-206E543E57D9}"/>
              </a:ext>
            </a:extLst>
          </p:cNvPr>
          <p:cNvSpPr txBox="1"/>
          <p:nvPr/>
        </p:nvSpPr>
        <p:spPr>
          <a:xfrm>
            <a:off x="389299" y="442593"/>
            <a:ext cx="5513662" cy="56324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PH" sz="4400" dirty="0">
                <a:solidFill>
                  <a:schemeClr val="bg1"/>
                </a:solidFill>
                <a:latin typeface="Franklin Gothic Demi Cond" panose="020B0706030402020204" pitchFamily="34" charset="0"/>
              </a:rPr>
              <a:t>Storyboard</a:t>
            </a:r>
          </a:p>
        </p:txBody>
      </p:sp>
      <p:sp>
        <p:nvSpPr>
          <p:cNvPr id="5" name="TextBox 4">
            <a:extLst>
              <a:ext uri="{FF2B5EF4-FFF2-40B4-BE49-F238E27FC236}">
                <a16:creationId xmlns:a16="http://schemas.microsoft.com/office/drawing/2014/main" id="{1EB31D93-4830-C06E-7F8C-599FFF4025DA}"/>
              </a:ext>
            </a:extLst>
          </p:cNvPr>
          <p:cNvSpPr txBox="1"/>
          <p:nvPr/>
        </p:nvSpPr>
        <p:spPr>
          <a:xfrm>
            <a:off x="846873" y="3134426"/>
            <a:ext cx="4530169" cy="1384995"/>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Repository Commits within the Development of the Application</a:t>
            </a:r>
          </a:p>
        </p:txBody>
      </p:sp>
      <p:pic>
        <p:nvPicPr>
          <p:cNvPr id="18" name="Picture 17">
            <a:extLst>
              <a:ext uri="{FF2B5EF4-FFF2-40B4-BE49-F238E27FC236}">
                <a16:creationId xmlns:a16="http://schemas.microsoft.com/office/drawing/2014/main" id="{9EE59235-C783-DD01-E857-67ED42305C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13616" y="119696"/>
            <a:ext cx="2589085" cy="6555342"/>
          </a:xfrm>
          <a:prstGeom prst="rect">
            <a:avLst/>
          </a:prstGeom>
        </p:spPr>
      </p:pic>
      <p:pic>
        <p:nvPicPr>
          <p:cNvPr id="20" name="Picture 19">
            <a:extLst>
              <a:ext uri="{FF2B5EF4-FFF2-40B4-BE49-F238E27FC236}">
                <a16:creationId xmlns:a16="http://schemas.microsoft.com/office/drawing/2014/main" id="{AF8F8B24-C42A-6340-9415-D742FD8A5D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0575" y="119696"/>
            <a:ext cx="2614247" cy="6618607"/>
          </a:xfrm>
          <a:prstGeom prst="rect">
            <a:avLst/>
          </a:prstGeom>
        </p:spPr>
      </p:pic>
    </p:spTree>
    <p:extLst>
      <p:ext uri="{BB962C8B-B14F-4D97-AF65-F5344CB8AC3E}">
        <p14:creationId xmlns:p14="http://schemas.microsoft.com/office/powerpoint/2010/main" val="5334248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D49E0-A5CC-83D3-606D-E94C153F497B}"/>
            </a:ext>
          </a:extLst>
        </p:cNvPr>
        <p:cNvGrpSpPr/>
        <p:nvPr/>
      </p:nvGrpSpPr>
      <p:grpSpPr>
        <a:xfrm>
          <a:off x="0" y="0"/>
          <a:ext cx="0" cy="0"/>
          <a:chOff x="0" y="0"/>
          <a:chExt cx="0" cy="0"/>
        </a:xfrm>
      </p:grpSpPr>
      <p:sp>
        <p:nvSpPr>
          <p:cNvPr id="6" name="Round Same Side Corner Rectangle 5">
            <a:extLst>
              <a:ext uri="{FF2B5EF4-FFF2-40B4-BE49-F238E27FC236}">
                <a16:creationId xmlns:a16="http://schemas.microsoft.com/office/drawing/2014/main" id="{1099C6CB-5E11-3810-1E15-F932BC88B158}"/>
              </a:ext>
            </a:extLst>
          </p:cNvPr>
          <p:cNvSpPr/>
          <p:nvPr/>
        </p:nvSpPr>
        <p:spPr>
          <a:xfrm rot="5400000">
            <a:off x="2663555" y="-2420304"/>
            <a:ext cx="898529" cy="6217923"/>
          </a:xfrm>
          <a:prstGeom prst="round2SameRect">
            <a:avLst/>
          </a:prstGeom>
          <a:solidFill>
            <a:srgbClr val="29613F"/>
          </a:solidFill>
          <a:ln>
            <a:noFill/>
          </a:ln>
          <a:effectLst>
            <a:outerShdw blurRad="50800" dist="139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itle 7">
            <a:extLst>
              <a:ext uri="{FF2B5EF4-FFF2-40B4-BE49-F238E27FC236}">
                <a16:creationId xmlns:a16="http://schemas.microsoft.com/office/drawing/2014/main" id="{021450EB-A35A-1138-04C6-4E7ABD6DB21D}"/>
              </a:ext>
            </a:extLst>
          </p:cNvPr>
          <p:cNvSpPr txBox="1"/>
          <p:nvPr/>
        </p:nvSpPr>
        <p:spPr>
          <a:xfrm>
            <a:off x="389299" y="442593"/>
            <a:ext cx="5513662" cy="56324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PH" sz="4400" dirty="0">
                <a:solidFill>
                  <a:schemeClr val="bg1"/>
                </a:solidFill>
                <a:latin typeface="Franklin Gothic Demi Cond" panose="020B0706030402020204" pitchFamily="34" charset="0"/>
              </a:rPr>
              <a:t>Storyboard</a:t>
            </a:r>
          </a:p>
        </p:txBody>
      </p:sp>
      <p:sp>
        <p:nvSpPr>
          <p:cNvPr id="5" name="TextBox 4">
            <a:extLst>
              <a:ext uri="{FF2B5EF4-FFF2-40B4-BE49-F238E27FC236}">
                <a16:creationId xmlns:a16="http://schemas.microsoft.com/office/drawing/2014/main" id="{FF92A60B-581D-DCE8-E2D9-84F07A6CA57D}"/>
              </a:ext>
            </a:extLst>
          </p:cNvPr>
          <p:cNvSpPr txBox="1"/>
          <p:nvPr/>
        </p:nvSpPr>
        <p:spPr>
          <a:xfrm>
            <a:off x="6757682" y="441329"/>
            <a:ext cx="4530169" cy="523220"/>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Final Output</a:t>
            </a:r>
          </a:p>
        </p:txBody>
      </p:sp>
      <p:pic>
        <p:nvPicPr>
          <p:cNvPr id="3" name="Picture 2">
            <a:extLst>
              <a:ext uri="{FF2B5EF4-FFF2-40B4-BE49-F238E27FC236}">
                <a16:creationId xmlns:a16="http://schemas.microsoft.com/office/drawing/2014/main" id="{722DE4AB-2945-EBFF-6E8A-20EF58D48AA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000" y="3164245"/>
            <a:ext cx="5853534" cy="3454362"/>
          </a:xfrm>
          <a:prstGeom prst="rect">
            <a:avLst/>
          </a:prstGeom>
        </p:spPr>
      </p:pic>
      <p:pic>
        <p:nvPicPr>
          <p:cNvPr id="8" name="Picture 7">
            <a:extLst>
              <a:ext uri="{FF2B5EF4-FFF2-40B4-BE49-F238E27FC236}">
                <a16:creationId xmlns:a16="http://schemas.microsoft.com/office/drawing/2014/main" id="{EAB3B06A-93A5-EE51-3E25-BB60F8224D9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6905" y="1455002"/>
            <a:ext cx="5571969" cy="3284678"/>
          </a:xfrm>
          <a:prstGeom prst="rect">
            <a:avLst/>
          </a:prstGeom>
        </p:spPr>
      </p:pic>
    </p:spTree>
    <p:extLst>
      <p:ext uri="{BB962C8B-B14F-4D97-AF65-F5344CB8AC3E}">
        <p14:creationId xmlns:p14="http://schemas.microsoft.com/office/powerpoint/2010/main" val="38320310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2421E-8C61-7B6A-AA7D-778A139847CE}"/>
            </a:ext>
          </a:extLst>
        </p:cNvPr>
        <p:cNvGrpSpPr/>
        <p:nvPr/>
      </p:nvGrpSpPr>
      <p:grpSpPr>
        <a:xfrm>
          <a:off x="0" y="0"/>
          <a:ext cx="0" cy="0"/>
          <a:chOff x="0" y="0"/>
          <a:chExt cx="0" cy="0"/>
        </a:xfrm>
      </p:grpSpPr>
      <p:sp>
        <p:nvSpPr>
          <p:cNvPr id="6" name="Round Same Side Corner Rectangle 5">
            <a:extLst>
              <a:ext uri="{FF2B5EF4-FFF2-40B4-BE49-F238E27FC236}">
                <a16:creationId xmlns:a16="http://schemas.microsoft.com/office/drawing/2014/main" id="{FC492A6F-82D5-519A-C6BD-8F344E67C3B5}"/>
              </a:ext>
            </a:extLst>
          </p:cNvPr>
          <p:cNvSpPr/>
          <p:nvPr/>
        </p:nvSpPr>
        <p:spPr>
          <a:xfrm rot="5400000">
            <a:off x="2663555" y="-2420304"/>
            <a:ext cx="898529" cy="6217923"/>
          </a:xfrm>
          <a:prstGeom prst="round2SameRect">
            <a:avLst/>
          </a:prstGeom>
          <a:solidFill>
            <a:srgbClr val="29613F"/>
          </a:solidFill>
          <a:ln>
            <a:noFill/>
          </a:ln>
          <a:effectLst>
            <a:outerShdw blurRad="50800" dist="139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itle 7">
            <a:extLst>
              <a:ext uri="{FF2B5EF4-FFF2-40B4-BE49-F238E27FC236}">
                <a16:creationId xmlns:a16="http://schemas.microsoft.com/office/drawing/2014/main" id="{207AA1BD-22CC-3794-8D7B-9F1D14E4B317}"/>
              </a:ext>
            </a:extLst>
          </p:cNvPr>
          <p:cNvSpPr txBox="1"/>
          <p:nvPr/>
        </p:nvSpPr>
        <p:spPr>
          <a:xfrm>
            <a:off x="389299" y="442593"/>
            <a:ext cx="5513662" cy="56324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PH" sz="4400" dirty="0">
                <a:solidFill>
                  <a:schemeClr val="bg1"/>
                </a:solidFill>
                <a:latin typeface="Franklin Gothic Demi Cond" panose="020B0706030402020204" pitchFamily="34" charset="0"/>
              </a:rPr>
              <a:t>Storyboard</a:t>
            </a:r>
          </a:p>
        </p:txBody>
      </p:sp>
      <p:sp>
        <p:nvSpPr>
          <p:cNvPr id="5" name="TextBox 4">
            <a:extLst>
              <a:ext uri="{FF2B5EF4-FFF2-40B4-BE49-F238E27FC236}">
                <a16:creationId xmlns:a16="http://schemas.microsoft.com/office/drawing/2014/main" id="{326F92AC-60C9-EC03-C246-F752C2EFBB06}"/>
              </a:ext>
            </a:extLst>
          </p:cNvPr>
          <p:cNvSpPr txBox="1"/>
          <p:nvPr/>
        </p:nvSpPr>
        <p:spPr>
          <a:xfrm>
            <a:off x="6757682" y="441329"/>
            <a:ext cx="4530169" cy="523220"/>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Final Output</a:t>
            </a:r>
          </a:p>
        </p:txBody>
      </p:sp>
      <p:pic>
        <p:nvPicPr>
          <p:cNvPr id="10" name="Picture 9">
            <a:extLst>
              <a:ext uri="{FF2B5EF4-FFF2-40B4-BE49-F238E27FC236}">
                <a16:creationId xmlns:a16="http://schemas.microsoft.com/office/drawing/2014/main" id="{CCE84E49-BD65-8C3B-9F6C-9DEFD776E5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5445" y="1425633"/>
            <a:ext cx="5594969" cy="3287044"/>
          </a:xfrm>
          <a:prstGeom prst="rect">
            <a:avLst/>
          </a:prstGeom>
        </p:spPr>
      </p:pic>
      <p:pic>
        <p:nvPicPr>
          <p:cNvPr id="12" name="Picture 11">
            <a:extLst>
              <a:ext uri="{FF2B5EF4-FFF2-40B4-BE49-F238E27FC236}">
                <a16:creationId xmlns:a16="http://schemas.microsoft.com/office/drawing/2014/main" id="{D5FF56E2-2153-4B37-D380-E31A182CB4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8976" y="2919899"/>
            <a:ext cx="5647579" cy="3698708"/>
          </a:xfrm>
          <a:prstGeom prst="rect">
            <a:avLst/>
          </a:prstGeom>
        </p:spPr>
      </p:pic>
    </p:spTree>
    <p:extLst>
      <p:ext uri="{BB962C8B-B14F-4D97-AF65-F5344CB8AC3E}">
        <p14:creationId xmlns:p14="http://schemas.microsoft.com/office/powerpoint/2010/main" val="310396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BD304-C357-4160-3FE1-14152EEE65F4}"/>
            </a:ext>
          </a:extLst>
        </p:cNvPr>
        <p:cNvGrpSpPr/>
        <p:nvPr/>
      </p:nvGrpSpPr>
      <p:grpSpPr>
        <a:xfrm>
          <a:off x="0" y="0"/>
          <a:ext cx="0" cy="0"/>
          <a:chOff x="0" y="0"/>
          <a:chExt cx="0" cy="0"/>
        </a:xfrm>
      </p:grpSpPr>
      <p:sp>
        <p:nvSpPr>
          <p:cNvPr id="6" name="Round Same Side Corner Rectangle 5">
            <a:extLst>
              <a:ext uri="{FF2B5EF4-FFF2-40B4-BE49-F238E27FC236}">
                <a16:creationId xmlns:a16="http://schemas.microsoft.com/office/drawing/2014/main" id="{3872B091-9EC9-DC83-43F1-D982C30E81D4}"/>
              </a:ext>
            </a:extLst>
          </p:cNvPr>
          <p:cNvSpPr/>
          <p:nvPr/>
        </p:nvSpPr>
        <p:spPr>
          <a:xfrm rot="5400000">
            <a:off x="2663555" y="-2420304"/>
            <a:ext cx="898529" cy="6217923"/>
          </a:xfrm>
          <a:prstGeom prst="round2SameRect">
            <a:avLst/>
          </a:prstGeom>
          <a:solidFill>
            <a:srgbClr val="29613F"/>
          </a:solidFill>
          <a:ln>
            <a:noFill/>
          </a:ln>
          <a:effectLst>
            <a:outerShdw blurRad="50800" dist="139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itle 7">
            <a:extLst>
              <a:ext uri="{FF2B5EF4-FFF2-40B4-BE49-F238E27FC236}">
                <a16:creationId xmlns:a16="http://schemas.microsoft.com/office/drawing/2014/main" id="{8E48E23A-95A7-44AB-C8A7-88C2521F7A75}"/>
              </a:ext>
            </a:extLst>
          </p:cNvPr>
          <p:cNvSpPr txBox="1"/>
          <p:nvPr/>
        </p:nvSpPr>
        <p:spPr>
          <a:xfrm>
            <a:off x="389299" y="442593"/>
            <a:ext cx="5513662" cy="56324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PH" sz="4400" dirty="0">
                <a:solidFill>
                  <a:schemeClr val="bg1"/>
                </a:solidFill>
                <a:latin typeface="Franklin Gothic Demi Cond" panose="020B0706030402020204" pitchFamily="34" charset="0"/>
              </a:rPr>
              <a:t>Storyboard</a:t>
            </a:r>
          </a:p>
        </p:txBody>
      </p:sp>
      <p:sp>
        <p:nvSpPr>
          <p:cNvPr id="5" name="TextBox 4">
            <a:extLst>
              <a:ext uri="{FF2B5EF4-FFF2-40B4-BE49-F238E27FC236}">
                <a16:creationId xmlns:a16="http://schemas.microsoft.com/office/drawing/2014/main" id="{0A17E86D-B6E7-BDA0-F27A-6A7BD8971453}"/>
              </a:ext>
            </a:extLst>
          </p:cNvPr>
          <p:cNvSpPr txBox="1"/>
          <p:nvPr/>
        </p:nvSpPr>
        <p:spPr>
          <a:xfrm>
            <a:off x="6757682" y="441329"/>
            <a:ext cx="4530169" cy="523220"/>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Final Output</a:t>
            </a:r>
          </a:p>
        </p:txBody>
      </p:sp>
      <p:pic>
        <p:nvPicPr>
          <p:cNvPr id="14" name="Picture 13">
            <a:extLst>
              <a:ext uri="{FF2B5EF4-FFF2-40B4-BE49-F238E27FC236}">
                <a16:creationId xmlns:a16="http://schemas.microsoft.com/office/drawing/2014/main" id="{A083F4A0-AF8F-9E36-1C5C-01D402E409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2961" y="2596404"/>
            <a:ext cx="6141525" cy="4022203"/>
          </a:xfrm>
          <a:prstGeom prst="rect">
            <a:avLst/>
          </a:prstGeom>
        </p:spPr>
      </p:pic>
      <p:pic>
        <p:nvPicPr>
          <p:cNvPr id="16" name="Picture 15">
            <a:extLst>
              <a:ext uri="{FF2B5EF4-FFF2-40B4-BE49-F238E27FC236}">
                <a16:creationId xmlns:a16="http://schemas.microsoft.com/office/drawing/2014/main" id="{642F1FAC-77C3-11A1-C7D2-80F57BFD6D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7515" y="1341122"/>
            <a:ext cx="5573348" cy="3650093"/>
          </a:xfrm>
          <a:prstGeom prst="rect">
            <a:avLst/>
          </a:prstGeom>
        </p:spPr>
      </p:pic>
    </p:spTree>
    <p:extLst>
      <p:ext uri="{BB962C8B-B14F-4D97-AF65-F5344CB8AC3E}">
        <p14:creationId xmlns:p14="http://schemas.microsoft.com/office/powerpoint/2010/main" val="16058991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5556A-C190-5FD3-8FBB-350375FB5D7E}"/>
            </a:ext>
          </a:extLst>
        </p:cNvPr>
        <p:cNvGrpSpPr/>
        <p:nvPr/>
      </p:nvGrpSpPr>
      <p:grpSpPr>
        <a:xfrm>
          <a:off x="0" y="0"/>
          <a:ext cx="0" cy="0"/>
          <a:chOff x="0" y="0"/>
          <a:chExt cx="0" cy="0"/>
        </a:xfrm>
      </p:grpSpPr>
      <p:sp>
        <p:nvSpPr>
          <p:cNvPr id="6" name="Round Same Side Corner Rectangle 5">
            <a:extLst>
              <a:ext uri="{FF2B5EF4-FFF2-40B4-BE49-F238E27FC236}">
                <a16:creationId xmlns:a16="http://schemas.microsoft.com/office/drawing/2014/main" id="{40DFA881-A83B-60A7-7A46-0C32289D2291}"/>
              </a:ext>
            </a:extLst>
          </p:cNvPr>
          <p:cNvSpPr/>
          <p:nvPr/>
        </p:nvSpPr>
        <p:spPr>
          <a:xfrm rot="5400000">
            <a:off x="2663555" y="-2420304"/>
            <a:ext cx="898529" cy="6217923"/>
          </a:xfrm>
          <a:prstGeom prst="round2SameRect">
            <a:avLst/>
          </a:prstGeom>
          <a:solidFill>
            <a:srgbClr val="29613F"/>
          </a:solidFill>
          <a:ln>
            <a:noFill/>
          </a:ln>
          <a:effectLst>
            <a:outerShdw blurRad="50800" dist="139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itle 7">
            <a:extLst>
              <a:ext uri="{FF2B5EF4-FFF2-40B4-BE49-F238E27FC236}">
                <a16:creationId xmlns:a16="http://schemas.microsoft.com/office/drawing/2014/main" id="{569278C6-250A-FCF7-17B5-D4C15B7E7C44}"/>
              </a:ext>
            </a:extLst>
          </p:cNvPr>
          <p:cNvSpPr txBox="1"/>
          <p:nvPr/>
        </p:nvSpPr>
        <p:spPr>
          <a:xfrm>
            <a:off x="389299" y="442593"/>
            <a:ext cx="5513662" cy="56324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PH" sz="4400" dirty="0">
                <a:solidFill>
                  <a:schemeClr val="bg1"/>
                </a:solidFill>
                <a:latin typeface="Franklin Gothic Demi Cond" panose="020B0706030402020204" pitchFamily="34" charset="0"/>
              </a:rPr>
              <a:t>Storyboard</a:t>
            </a:r>
          </a:p>
        </p:txBody>
      </p:sp>
      <p:sp>
        <p:nvSpPr>
          <p:cNvPr id="5" name="TextBox 4">
            <a:extLst>
              <a:ext uri="{FF2B5EF4-FFF2-40B4-BE49-F238E27FC236}">
                <a16:creationId xmlns:a16="http://schemas.microsoft.com/office/drawing/2014/main" id="{43AB20D7-0733-D543-6E18-A0A2099BEA19}"/>
              </a:ext>
            </a:extLst>
          </p:cNvPr>
          <p:cNvSpPr txBox="1"/>
          <p:nvPr/>
        </p:nvSpPr>
        <p:spPr>
          <a:xfrm>
            <a:off x="6757682" y="441329"/>
            <a:ext cx="4530169" cy="523220"/>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Final Output</a:t>
            </a:r>
          </a:p>
        </p:txBody>
      </p:sp>
      <p:pic>
        <p:nvPicPr>
          <p:cNvPr id="3" name="Picture 2">
            <a:extLst>
              <a:ext uri="{FF2B5EF4-FFF2-40B4-BE49-F238E27FC236}">
                <a16:creationId xmlns:a16="http://schemas.microsoft.com/office/drawing/2014/main" id="{329A3024-60A4-1064-5E27-3757E901220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2139" y="1831684"/>
            <a:ext cx="3437792" cy="4583723"/>
          </a:xfrm>
          <a:prstGeom prst="rect">
            <a:avLst/>
          </a:prstGeom>
        </p:spPr>
      </p:pic>
      <p:pic>
        <p:nvPicPr>
          <p:cNvPr id="15" name="Picture 14">
            <a:extLst>
              <a:ext uri="{FF2B5EF4-FFF2-40B4-BE49-F238E27FC236}">
                <a16:creationId xmlns:a16="http://schemas.microsoft.com/office/drawing/2014/main" id="{DD4344CA-860F-79FF-7E0A-C127BA835C02}"/>
              </a:ext>
            </a:extLst>
          </p:cNvPr>
          <p:cNvPicPr>
            <a:picLocks noChangeAspect="1"/>
          </p:cNvPicPr>
          <p:nvPr/>
        </p:nvPicPr>
        <p:blipFill>
          <a:blip r:embed="rId3" cstate="print">
            <a:extLst>
              <a:ext uri="{28A0092B-C50C-407E-A947-70E740481C1C}">
                <a14:useLocalDpi xmlns:a14="http://schemas.microsoft.com/office/drawing/2010/main" val="0"/>
              </a:ext>
            </a:extLst>
          </a:blip>
          <a:srcRect t="3449" b="2148"/>
          <a:stretch>
            <a:fillRect/>
          </a:stretch>
        </p:blipFill>
        <p:spPr>
          <a:xfrm>
            <a:off x="3955150" y="1209040"/>
            <a:ext cx="2543451" cy="5415668"/>
          </a:xfrm>
          <a:prstGeom prst="rect">
            <a:avLst/>
          </a:prstGeom>
        </p:spPr>
      </p:pic>
      <p:pic>
        <p:nvPicPr>
          <p:cNvPr id="18" name="Picture 17">
            <a:extLst>
              <a:ext uri="{FF2B5EF4-FFF2-40B4-BE49-F238E27FC236}">
                <a16:creationId xmlns:a16="http://schemas.microsoft.com/office/drawing/2014/main" id="{29B68F71-B522-B131-CF94-5553D9B28DA8}"/>
              </a:ext>
            </a:extLst>
          </p:cNvPr>
          <p:cNvPicPr>
            <a:picLocks noChangeAspect="1"/>
          </p:cNvPicPr>
          <p:nvPr/>
        </p:nvPicPr>
        <p:blipFill>
          <a:blip r:embed="rId4" cstate="print">
            <a:extLst>
              <a:ext uri="{28A0092B-C50C-407E-A947-70E740481C1C}">
                <a14:useLocalDpi xmlns:a14="http://schemas.microsoft.com/office/drawing/2010/main" val="0"/>
              </a:ext>
            </a:extLst>
          </a:blip>
          <a:srcRect t="3778" b="1619"/>
          <a:stretch>
            <a:fillRect/>
          </a:stretch>
        </p:blipFill>
        <p:spPr>
          <a:xfrm>
            <a:off x="6687611" y="1357743"/>
            <a:ext cx="2468372" cy="5266965"/>
          </a:xfrm>
          <a:prstGeom prst="rect">
            <a:avLst/>
          </a:prstGeom>
        </p:spPr>
      </p:pic>
      <p:pic>
        <p:nvPicPr>
          <p:cNvPr id="20" name="Picture 19">
            <a:extLst>
              <a:ext uri="{FF2B5EF4-FFF2-40B4-BE49-F238E27FC236}">
                <a16:creationId xmlns:a16="http://schemas.microsoft.com/office/drawing/2014/main" id="{F7CA3928-17B3-A7D6-9A37-465FAD26A3AD}"/>
              </a:ext>
            </a:extLst>
          </p:cNvPr>
          <p:cNvPicPr>
            <a:picLocks noChangeAspect="1"/>
          </p:cNvPicPr>
          <p:nvPr/>
        </p:nvPicPr>
        <p:blipFill>
          <a:blip r:embed="rId5" cstate="print">
            <a:extLst>
              <a:ext uri="{28A0092B-C50C-407E-A947-70E740481C1C}">
                <a14:useLocalDpi xmlns:a14="http://schemas.microsoft.com/office/drawing/2010/main" val="0"/>
              </a:ext>
            </a:extLst>
          </a:blip>
          <a:srcRect l="-516" t="2964" r="516" b="2444"/>
          <a:stretch>
            <a:fillRect/>
          </a:stretch>
        </p:blipFill>
        <p:spPr>
          <a:xfrm>
            <a:off x="9343371" y="747645"/>
            <a:ext cx="2754604" cy="5877063"/>
          </a:xfrm>
          <a:prstGeom prst="rect">
            <a:avLst/>
          </a:prstGeom>
        </p:spPr>
      </p:pic>
    </p:spTree>
    <p:extLst>
      <p:ext uri="{BB962C8B-B14F-4D97-AF65-F5344CB8AC3E}">
        <p14:creationId xmlns:p14="http://schemas.microsoft.com/office/powerpoint/2010/main" val="14323518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0867A-F5CA-A9EE-4CB7-70CE735FD81B}"/>
            </a:ext>
          </a:extLst>
        </p:cNvPr>
        <p:cNvGrpSpPr/>
        <p:nvPr/>
      </p:nvGrpSpPr>
      <p:grpSpPr>
        <a:xfrm>
          <a:off x="0" y="0"/>
          <a:ext cx="0" cy="0"/>
          <a:chOff x="0" y="0"/>
          <a:chExt cx="0" cy="0"/>
        </a:xfrm>
      </p:grpSpPr>
      <p:sp>
        <p:nvSpPr>
          <p:cNvPr id="6" name="Round Same Side Corner Rectangle 5">
            <a:extLst>
              <a:ext uri="{FF2B5EF4-FFF2-40B4-BE49-F238E27FC236}">
                <a16:creationId xmlns:a16="http://schemas.microsoft.com/office/drawing/2014/main" id="{A2DCD460-B059-9A6C-F186-C99855C8980C}"/>
              </a:ext>
            </a:extLst>
          </p:cNvPr>
          <p:cNvSpPr/>
          <p:nvPr/>
        </p:nvSpPr>
        <p:spPr>
          <a:xfrm rot="5400000">
            <a:off x="2663555" y="-2420304"/>
            <a:ext cx="898529" cy="6217923"/>
          </a:xfrm>
          <a:prstGeom prst="round2SameRect">
            <a:avLst/>
          </a:prstGeom>
          <a:solidFill>
            <a:srgbClr val="29613F"/>
          </a:solidFill>
          <a:ln>
            <a:noFill/>
          </a:ln>
          <a:effectLst>
            <a:outerShdw blurRad="50800" dist="139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itle 7">
            <a:extLst>
              <a:ext uri="{FF2B5EF4-FFF2-40B4-BE49-F238E27FC236}">
                <a16:creationId xmlns:a16="http://schemas.microsoft.com/office/drawing/2014/main" id="{38DEBA73-3680-8F43-752B-110F327182AD}"/>
              </a:ext>
            </a:extLst>
          </p:cNvPr>
          <p:cNvSpPr txBox="1"/>
          <p:nvPr/>
        </p:nvSpPr>
        <p:spPr>
          <a:xfrm>
            <a:off x="389299" y="442593"/>
            <a:ext cx="5513662" cy="56324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PH" sz="4400" dirty="0">
                <a:solidFill>
                  <a:schemeClr val="bg1"/>
                </a:solidFill>
                <a:latin typeface="Franklin Gothic Demi Cond" panose="020B0706030402020204" pitchFamily="34" charset="0"/>
              </a:rPr>
              <a:t>Storyboard</a:t>
            </a:r>
          </a:p>
        </p:txBody>
      </p:sp>
      <p:sp>
        <p:nvSpPr>
          <p:cNvPr id="5" name="TextBox 4">
            <a:extLst>
              <a:ext uri="{FF2B5EF4-FFF2-40B4-BE49-F238E27FC236}">
                <a16:creationId xmlns:a16="http://schemas.microsoft.com/office/drawing/2014/main" id="{F99CFC31-1E30-8458-A964-50EB86BC5DF9}"/>
              </a:ext>
            </a:extLst>
          </p:cNvPr>
          <p:cNvSpPr txBox="1"/>
          <p:nvPr/>
        </p:nvSpPr>
        <p:spPr>
          <a:xfrm>
            <a:off x="6757682" y="441329"/>
            <a:ext cx="4530169" cy="523220"/>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Final Output</a:t>
            </a:r>
          </a:p>
        </p:txBody>
      </p:sp>
      <p:pic>
        <p:nvPicPr>
          <p:cNvPr id="12" name="Picture 11">
            <a:extLst>
              <a:ext uri="{FF2B5EF4-FFF2-40B4-BE49-F238E27FC236}">
                <a16:creationId xmlns:a16="http://schemas.microsoft.com/office/drawing/2014/main" id="{61026566-FE4B-94AB-BC81-6B880272A850}"/>
              </a:ext>
            </a:extLst>
          </p:cNvPr>
          <p:cNvPicPr>
            <a:picLocks noChangeAspect="1"/>
          </p:cNvPicPr>
          <p:nvPr/>
        </p:nvPicPr>
        <p:blipFill>
          <a:blip r:embed="rId2" cstate="print">
            <a:extLst>
              <a:ext uri="{28A0092B-C50C-407E-A947-70E740481C1C}">
                <a14:useLocalDpi xmlns:a14="http://schemas.microsoft.com/office/drawing/2010/main" val="0"/>
              </a:ext>
            </a:extLst>
          </a:blip>
          <a:srcRect t="2906" b="3760"/>
          <a:stretch>
            <a:fillRect/>
          </a:stretch>
        </p:blipFill>
        <p:spPr>
          <a:xfrm>
            <a:off x="9206175" y="1234146"/>
            <a:ext cx="2605677" cy="5485313"/>
          </a:xfrm>
          <a:prstGeom prst="rect">
            <a:avLst/>
          </a:prstGeom>
        </p:spPr>
      </p:pic>
      <p:pic>
        <p:nvPicPr>
          <p:cNvPr id="24" name="Picture 23">
            <a:extLst>
              <a:ext uri="{FF2B5EF4-FFF2-40B4-BE49-F238E27FC236}">
                <a16:creationId xmlns:a16="http://schemas.microsoft.com/office/drawing/2014/main" id="{F4373C95-6DA5-8B06-3ADE-9D35D9B9F7DD}"/>
              </a:ext>
            </a:extLst>
          </p:cNvPr>
          <p:cNvPicPr>
            <a:picLocks noChangeAspect="1"/>
          </p:cNvPicPr>
          <p:nvPr/>
        </p:nvPicPr>
        <p:blipFill>
          <a:blip r:embed="rId3" cstate="print">
            <a:extLst>
              <a:ext uri="{28A0092B-C50C-407E-A947-70E740481C1C}">
                <a14:useLocalDpi xmlns:a14="http://schemas.microsoft.com/office/drawing/2010/main" val="0"/>
              </a:ext>
            </a:extLst>
          </a:blip>
          <a:srcRect t="3505" b="2148"/>
          <a:stretch>
            <a:fillRect/>
          </a:stretch>
        </p:blipFill>
        <p:spPr>
          <a:xfrm>
            <a:off x="6202854" y="1265711"/>
            <a:ext cx="2577709" cy="5485313"/>
          </a:xfrm>
          <a:prstGeom prst="rect">
            <a:avLst/>
          </a:prstGeom>
        </p:spPr>
      </p:pic>
      <p:pic>
        <p:nvPicPr>
          <p:cNvPr id="26" name="Picture 25">
            <a:extLst>
              <a:ext uri="{FF2B5EF4-FFF2-40B4-BE49-F238E27FC236}">
                <a16:creationId xmlns:a16="http://schemas.microsoft.com/office/drawing/2014/main" id="{6CD6B43C-F918-A4D8-3807-8BF15E0707D4}"/>
              </a:ext>
            </a:extLst>
          </p:cNvPr>
          <p:cNvPicPr>
            <a:picLocks noChangeAspect="1"/>
          </p:cNvPicPr>
          <p:nvPr/>
        </p:nvPicPr>
        <p:blipFill>
          <a:blip r:embed="rId4" cstate="print">
            <a:extLst>
              <a:ext uri="{28A0092B-C50C-407E-A947-70E740481C1C}">
                <a14:useLocalDpi xmlns:a14="http://schemas.microsoft.com/office/drawing/2010/main" val="0"/>
              </a:ext>
            </a:extLst>
          </a:blip>
          <a:srcRect t="3665" b="1447"/>
          <a:stretch>
            <a:fillRect/>
          </a:stretch>
        </p:blipFill>
        <p:spPr>
          <a:xfrm>
            <a:off x="3234323" y="1234147"/>
            <a:ext cx="2577709" cy="5516878"/>
          </a:xfrm>
          <a:prstGeom prst="rect">
            <a:avLst/>
          </a:prstGeom>
        </p:spPr>
      </p:pic>
      <p:pic>
        <p:nvPicPr>
          <p:cNvPr id="2" name="Picture 1">
            <a:extLst>
              <a:ext uri="{FF2B5EF4-FFF2-40B4-BE49-F238E27FC236}">
                <a16:creationId xmlns:a16="http://schemas.microsoft.com/office/drawing/2014/main" id="{E7C8FBBA-C96F-6F5F-B3DD-C08DBC5BDB78}"/>
              </a:ext>
            </a:extLst>
          </p:cNvPr>
          <p:cNvPicPr>
            <a:picLocks noChangeAspect="1"/>
          </p:cNvPicPr>
          <p:nvPr/>
        </p:nvPicPr>
        <p:blipFill>
          <a:blip r:embed="rId5" cstate="print">
            <a:extLst>
              <a:ext uri="{28A0092B-C50C-407E-A947-70E740481C1C}">
                <a14:useLocalDpi xmlns:a14="http://schemas.microsoft.com/office/drawing/2010/main" val="0"/>
              </a:ext>
            </a:extLst>
          </a:blip>
          <a:srcRect t="2924" b="2187"/>
          <a:stretch>
            <a:fillRect/>
          </a:stretch>
        </p:blipFill>
        <p:spPr>
          <a:xfrm>
            <a:off x="238828" y="1234146"/>
            <a:ext cx="2577709" cy="5516878"/>
          </a:xfrm>
          <a:prstGeom prst="rect">
            <a:avLst/>
          </a:prstGeom>
        </p:spPr>
      </p:pic>
    </p:spTree>
    <p:extLst>
      <p:ext uri="{BB962C8B-B14F-4D97-AF65-F5344CB8AC3E}">
        <p14:creationId xmlns:p14="http://schemas.microsoft.com/office/powerpoint/2010/main" val="29603477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2D8BA-3AE0-9464-81C1-866EE69A75B3}"/>
            </a:ext>
          </a:extLst>
        </p:cNvPr>
        <p:cNvGrpSpPr/>
        <p:nvPr/>
      </p:nvGrpSpPr>
      <p:grpSpPr>
        <a:xfrm>
          <a:off x="0" y="0"/>
          <a:ext cx="0" cy="0"/>
          <a:chOff x="0" y="0"/>
          <a:chExt cx="0" cy="0"/>
        </a:xfrm>
      </p:grpSpPr>
      <p:sp>
        <p:nvSpPr>
          <p:cNvPr id="6" name="Round Same Side Corner Rectangle 5">
            <a:extLst>
              <a:ext uri="{FF2B5EF4-FFF2-40B4-BE49-F238E27FC236}">
                <a16:creationId xmlns:a16="http://schemas.microsoft.com/office/drawing/2014/main" id="{0462179D-74B9-7AFA-5944-7F0ED7449925}"/>
              </a:ext>
            </a:extLst>
          </p:cNvPr>
          <p:cNvSpPr/>
          <p:nvPr/>
        </p:nvSpPr>
        <p:spPr>
          <a:xfrm rot="5400000">
            <a:off x="2663555" y="-2420304"/>
            <a:ext cx="898529" cy="6217923"/>
          </a:xfrm>
          <a:prstGeom prst="round2SameRect">
            <a:avLst/>
          </a:prstGeom>
          <a:solidFill>
            <a:srgbClr val="29613F"/>
          </a:solidFill>
          <a:ln>
            <a:noFill/>
          </a:ln>
          <a:effectLst>
            <a:outerShdw blurRad="50800" dist="139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7" name="Title 7">
            <a:extLst>
              <a:ext uri="{FF2B5EF4-FFF2-40B4-BE49-F238E27FC236}">
                <a16:creationId xmlns:a16="http://schemas.microsoft.com/office/drawing/2014/main" id="{2EEC2DA1-F58B-C958-7DF1-3FC59D4EE2BF}"/>
              </a:ext>
            </a:extLst>
          </p:cNvPr>
          <p:cNvSpPr txBox="1"/>
          <p:nvPr/>
        </p:nvSpPr>
        <p:spPr>
          <a:xfrm>
            <a:off x="389299" y="442593"/>
            <a:ext cx="5513662" cy="56324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PH" sz="4400" dirty="0">
                <a:solidFill>
                  <a:schemeClr val="bg1"/>
                </a:solidFill>
                <a:latin typeface="Franklin Gothic Demi Cond" panose="020B0706030402020204" pitchFamily="34" charset="0"/>
              </a:rPr>
              <a:t>Storyboard</a:t>
            </a:r>
          </a:p>
        </p:txBody>
      </p:sp>
      <p:sp>
        <p:nvSpPr>
          <p:cNvPr id="5" name="TextBox 4">
            <a:extLst>
              <a:ext uri="{FF2B5EF4-FFF2-40B4-BE49-F238E27FC236}">
                <a16:creationId xmlns:a16="http://schemas.microsoft.com/office/drawing/2014/main" id="{4FA4ADE9-C70B-DC4A-C36B-609080BD3E3F}"/>
              </a:ext>
            </a:extLst>
          </p:cNvPr>
          <p:cNvSpPr txBox="1"/>
          <p:nvPr/>
        </p:nvSpPr>
        <p:spPr>
          <a:xfrm>
            <a:off x="6757682" y="441329"/>
            <a:ext cx="4530169" cy="523220"/>
          </a:xfrm>
          <a:prstGeom prst="rect">
            <a:avLst/>
          </a:prstGeom>
          <a:noFill/>
        </p:spPr>
        <p:txBody>
          <a:bodyPr wrap="square" rtlCol="0">
            <a:spAutoFit/>
          </a:bodyPr>
          <a:lstStyle/>
          <a:p>
            <a:pPr>
              <a:lnSpc>
                <a:spcPct val="100000"/>
              </a:lnSpc>
            </a:pPr>
            <a:r>
              <a:rPr lang="en-US" altLang="en-US" sz="2800" dirty="0">
                <a:latin typeface="Century Gothic" panose="020B0502020202020204" pitchFamily="34" charset="0"/>
              </a:rPr>
              <a:t>Final Output</a:t>
            </a:r>
          </a:p>
        </p:txBody>
      </p:sp>
      <p:pic>
        <p:nvPicPr>
          <p:cNvPr id="8" name="Picture 7">
            <a:extLst>
              <a:ext uri="{FF2B5EF4-FFF2-40B4-BE49-F238E27FC236}">
                <a16:creationId xmlns:a16="http://schemas.microsoft.com/office/drawing/2014/main" id="{66D58F6C-9D50-15E3-F2A1-2D3559A01D43}"/>
              </a:ext>
            </a:extLst>
          </p:cNvPr>
          <p:cNvPicPr>
            <a:picLocks noChangeAspect="1"/>
          </p:cNvPicPr>
          <p:nvPr/>
        </p:nvPicPr>
        <p:blipFill>
          <a:blip r:embed="rId2" cstate="print">
            <a:extLst>
              <a:ext uri="{28A0092B-C50C-407E-A947-70E740481C1C}">
                <a14:useLocalDpi xmlns:a14="http://schemas.microsoft.com/office/drawing/2010/main" val="0"/>
              </a:ext>
            </a:extLst>
          </a:blip>
          <a:srcRect t="3489" b="2065"/>
          <a:stretch>
            <a:fillRect/>
          </a:stretch>
        </p:blipFill>
        <p:spPr>
          <a:xfrm>
            <a:off x="337280" y="1137922"/>
            <a:ext cx="2685230" cy="5720078"/>
          </a:xfrm>
          <a:prstGeom prst="rect">
            <a:avLst/>
          </a:prstGeom>
        </p:spPr>
      </p:pic>
      <p:pic>
        <p:nvPicPr>
          <p:cNvPr id="10" name="Picture 9">
            <a:extLst>
              <a:ext uri="{FF2B5EF4-FFF2-40B4-BE49-F238E27FC236}">
                <a16:creationId xmlns:a16="http://schemas.microsoft.com/office/drawing/2014/main" id="{E039CB88-9642-AB21-7401-F3854F7BC68C}"/>
              </a:ext>
            </a:extLst>
          </p:cNvPr>
          <p:cNvPicPr>
            <a:picLocks noChangeAspect="1"/>
          </p:cNvPicPr>
          <p:nvPr/>
        </p:nvPicPr>
        <p:blipFill>
          <a:blip r:embed="rId3" cstate="print">
            <a:extLst>
              <a:ext uri="{28A0092B-C50C-407E-A947-70E740481C1C}">
                <a14:useLocalDpi xmlns:a14="http://schemas.microsoft.com/office/drawing/2010/main" val="0"/>
              </a:ext>
            </a:extLst>
          </a:blip>
          <a:srcRect t="3351" b="2426"/>
          <a:stretch>
            <a:fillRect/>
          </a:stretch>
        </p:blipFill>
        <p:spPr>
          <a:xfrm>
            <a:off x="3217731" y="1151380"/>
            <a:ext cx="2685230" cy="5706620"/>
          </a:xfrm>
          <a:prstGeom prst="rect">
            <a:avLst/>
          </a:prstGeom>
        </p:spPr>
      </p:pic>
      <p:pic>
        <p:nvPicPr>
          <p:cNvPr id="4" name="Picture 3">
            <a:extLst>
              <a:ext uri="{FF2B5EF4-FFF2-40B4-BE49-F238E27FC236}">
                <a16:creationId xmlns:a16="http://schemas.microsoft.com/office/drawing/2014/main" id="{4245E713-2205-0515-7E7E-3D6C26530413}"/>
              </a:ext>
            </a:extLst>
          </p:cNvPr>
          <p:cNvPicPr>
            <a:picLocks noChangeAspect="1"/>
          </p:cNvPicPr>
          <p:nvPr/>
        </p:nvPicPr>
        <p:blipFill>
          <a:blip r:embed="rId4" cstate="print">
            <a:extLst>
              <a:ext uri="{28A0092B-C50C-407E-A947-70E740481C1C}">
                <a14:useLocalDpi xmlns:a14="http://schemas.microsoft.com/office/drawing/2010/main" val="0"/>
              </a:ext>
            </a:extLst>
          </a:blip>
          <a:srcRect t="3490" b="1843"/>
          <a:stretch>
            <a:fillRect/>
          </a:stretch>
        </p:blipFill>
        <p:spPr>
          <a:xfrm>
            <a:off x="6289039" y="1124464"/>
            <a:ext cx="2685229" cy="5733536"/>
          </a:xfrm>
          <a:prstGeom prst="rect">
            <a:avLst/>
          </a:prstGeom>
        </p:spPr>
      </p:pic>
      <p:pic>
        <p:nvPicPr>
          <p:cNvPr id="11" name="Picture 10">
            <a:extLst>
              <a:ext uri="{FF2B5EF4-FFF2-40B4-BE49-F238E27FC236}">
                <a16:creationId xmlns:a16="http://schemas.microsoft.com/office/drawing/2014/main" id="{1EEBB5D6-947F-A0AD-1237-5BA75B0BF929}"/>
              </a:ext>
            </a:extLst>
          </p:cNvPr>
          <p:cNvPicPr>
            <a:picLocks noChangeAspect="1"/>
          </p:cNvPicPr>
          <p:nvPr/>
        </p:nvPicPr>
        <p:blipFill>
          <a:blip r:embed="rId5" cstate="print">
            <a:extLst>
              <a:ext uri="{28A0092B-C50C-407E-A947-70E740481C1C}">
                <a14:useLocalDpi xmlns:a14="http://schemas.microsoft.com/office/drawing/2010/main" val="0"/>
              </a:ext>
            </a:extLst>
          </a:blip>
          <a:srcRect t="3343" b="1991"/>
          <a:stretch>
            <a:fillRect/>
          </a:stretch>
        </p:blipFill>
        <p:spPr>
          <a:xfrm>
            <a:off x="9237651" y="1124465"/>
            <a:ext cx="2685229" cy="5733535"/>
          </a:xfrm>
          <a:prstGeom prst="rect">
            <a:avLst/>
          </a:prstGeom>
        </p:spPr>
      </p:pic>
    </p:spTree>
    <p:extLst>
      <p:ext uri="{BB962C8B-B14F-4D97-AF65-F5344CB8AC3E}">
        <p14:creationId xmlns:p14="http://schemas.microsoft.com/office/powerpoint/2010/main" val="31855418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6E46F-D260-DB36-575D-9ECD0964A64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7E428F9-F382-082D-2C57-895E95F0C5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040" y="1438227"/>
            <a:ext cx="9677400" cy="5419773"/>
          </a:xfrm>
          <a:prstGeom prst="rect">
            <a:avLst/>
          </a:prstGeom>
        </p:spPr>
      </p:pic>
      <p:sp>
        <p:nvSpPr>
          <p:cNvPr id="9" name="TextBox 8">
            <a:extLst>
              <a:ext uri="{FF2B5EF4-FFF2-40B4-BE49-F238E27FC236}">
                <a16:creationId xmlns:a16="http://schemas.microsoft.com/office/drawing/2014/main" id="{2B88BE6D-2000-F6B9-730E-B6E446E17620}"/>
              </a:ext>
            </a:extLst>
          </p:cNvPr>
          <p:cNvSpPr txBox="1"/>
          <p:nvPr/>
        </p:nvSpPr>
        <p:spPr>
          <a:xfrm>
            <a:off x="274320" y="167009"/>
            <a:ext cx="10205811" cy="584775"/>
          </a:xfrm>
          <a:prstGeom prst="rect">
            <a:avLst/>
          </a:prstGeom>
          <a:noFill/>
        </p:spPr>
        <p:txBody>
          <a:bodyPr wrap="square" rtlCol="0">
            <a:spAutoFit/>
          </a:bodyPr>
          <a:lstStyle/>
          <a:p>
            <a:pPr>
              <a:lnSpc>
                <a:spcPct val="100000"/>
              </a:lnSpc>
            </a:pPr>
            <a:r>
              <a:rPr lang="en-US" altLang="en-US" sz="3200" dirty="0">
                <a:latin typeface="Century Gothic" panose="020B0502020202020204" pitchFamily="34" charset="0"/>
              </a:rPr>
              <a:t>The app can </a:t>
            </a:r>
            <a:r>
              <a:rPr lang="en-US" altLang="en-US" sz="3200" b="1" dirty="0">
                <a:latin typeface="Century Gothic" panose="020B0502020202020204" pitchFamily="34" charset="0"/>
              </a:rPr>
              <a:t>also</a:t>
            </a:r>
            <a:r>
              <a:rPr lang="en-US" altLang="en-US" sz="3200" dirty="0">
                <a:latin typeface="Century Gothic" panose="020B0502020202020204" pitchFamily="34" charset="0"/>
              </a:rPr>
              <a:t> be downloaded from</a:t>
            </a:r>
          </a:p>
        </p:txBody>
      </p:sp>
      <p:sp>
        <p:nvSpPr>
          <p:cNvPr id="12" name="TextBox 11">
            <a:extLst>
              <a:ext uri="{FF2B5EF4-FFF2-40B4-BE49-F238E27FC236}">
                <a16:creationId xmlns:a16="http://schemas.microsoft.com/office/drawing/2014/main" id="{F54B2D31-19D7-097F-0F46-348B0A6B06A2}"/>
              </a:ext>
            </a:extLst>
          </p:cNvPr>
          <p:cNvSpPr txBox="1"/>
          <p:nvPr/>
        </p:nvSpPr>
        <p:spPr>
          <a:xfrm>
            <a:off x="3835355" y="654051"/>
            <a:ext cx="4135166" cy="646331"/>
          </a:xfrm>
          <a:prstGeom prst="rect">
            <a:avLst/>
          </a:prstGeom>
          <a:noFill/>
        </p:spPr>
        <p:txBody>
          <a:bodyPr wrap="square" rtlCol="0">
            <a:spAutoFit/>
          </a:bodyPr>
          <a:lstStyle/>
          <a:p>
            <a:pPr>
              <a:lnSpc>
                <a:spcPct val="100000"/>
              </a:lnSpc>
            </a:pPr>
            <a:r>
              <a:rPr lang="en-US" altLang="en-US" sz="3600" b="1" u="sng" dirty="0">
                <a:latin typeface="Century Gothic" panose="020B0502020202020204" pitchFamily="34" charset="0"/>
              </a:rPr>
              <a:t>quieazy.github.io</a:t>
            </a:r>
          </a:p>
        </p:txBody>
      </p:sp>
    </p:spTree>
    <p:extLst>
      <p:ext uri="{BB962C8B-B14F-4D97-AF65-F5344CB8AC3E}">
        <p14:creationId xmlns:p14="http://schemas.microsoft.com/office/powerpoint/2010/main" val="18390095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1711893" y="2823841"/>
            <a:ext cx="8730389" cy="1325563"/>
          </a:xfrm>
        </p:spPr>
        <p:txBody>
          <a:bodyPr>
            <a:normAutofit/>
          </a:bodyPr>
          <a:lstStyle/>
          <a:p>
            <a:pPr algn="ctr"/>
            <a:r>
              <a:rPr lang="en-PH" sz="7200" dirty="0">
                <a:solidFill>
                  <a:srgbClr val="29613F"/>
                </a:solidFill>
                <a:latin typeface="Franklin Gothic Demi Cond" panose="020B0706030402020204" pitchFamily="34" charset="0"/>
              </a:rPr>
              <a:t>Thank you for listening!</a:t>
            </a:r>
          </a:p>
        </p:txBody>
      </p:sp>
      <p:cxnSp>
        <p:nvCxnSpPr>
          <p:cNvPr id="20" name="Straight Connector 19"/>
          <p:cNvCxnSpPr/>
          <p:nvPr/>
        </p:nvCxnSpPr>
        <p:spPr>
          <a:xfrm>
            <a:off x="1283014" y="4044791"/>
            <a:ext cx="9761317" cy="27177"/>
          </a:xfrm>
          <a:prstGeom prst="line">
            <a:avLst/>
          </a:prstGeom>
          <a:ln w="107950">
            <a:solidFill>
              <a:srgbClr val="29613F"/>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TotalTime>
  <Words>1554</Words>
  <Application>Microsoft Office PowerPoint</Application>
  <PresentationFormat>Widescreen</PresentationFormat>
  <Paragraphs>148</Paragraphs>
  <Slides>27</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vt:lpstr>
      <vt:lpstr>Calibri</vt:lpstr>
      <vt:lpstr>Calibri Light</vt:lpstr>
      <vt:lpstr>Cambria Math</vt:lpstr>
      <vt:lpstr>Century Gothic</vt:lpstr>
      <vt:lpstr>Franklin Gothic Demi</vt:lpstr>
      <vt:lpstr>Franklin Gothic Demi Cond</vt:lpstr>
      <vt:lpstr>Franklin Gothic Medium Cond</vt:lpstr>
      <vt:lpstr>Impact</vt:lpstr>
      <vt:lpstr>Office Theme</vt:lpstr>
      <vt:lpstr>PowerPoint Presentation</vt:lpstr>
      <vt:lpstr>PowerPoint Presentation</vt:lpstr>
      <vt:lpstr>PowerPoint Presentation</vt:lpstr>
      <vt:lpstr>Research Paradigm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Peter Villanueva</dc:creator>
  <cp:lastModifiedBy>CalmBubbles 6055</cp:lastModifiedBy>
  <cp:revision>159</cp:revision>
  <dcterms:created xsi:type="dcterms:W3CDTF">2020-09-08T03:32:00Z</dcterms:created>
  <dcterms:modified xsi:type="dcterms:W3CDTF">2026-01-06T14:26:17Z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D030C4F79DE140AF9FB300E2BCBB283A_13</vt:lpwstr>
  </property>
  <property fmtid="{D5CDD505-2E9C-101B-9397-08002B2CF9AE}" pid="3" name="KSOProductBuildVer">
    <vt:lpwstr>1033-12.2.0.23155</vt:lpwstr>
  </property>
</Properties>
</file>