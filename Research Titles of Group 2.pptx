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22"/>
    <p:sldId id="257" r:id="rId23"/>
    <p:sldId id="258" r:id="rId24"/>
    <p:sldId id="259" r:id="rId25"/>
    <p:sldId id="260" r:id="rId26"/>
    <p:sldId id="261" r:id="rId27"/>
    <p:sldId id="262" r:id="rId28"/>
    <p:sldId id="263" r:id="rId29"/>
    <p:sldId id="264" r:id="rId30"/>
    <p:sldId id="265" r:id="rId31"/>
    <p:sldId id="266" r:id="rId32"/>
    <p:sldId id="267" r:id="rId33"/>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Cooper Hewitt" charset="1" panose="00000000000000000000"/>
      <p:regular r:id="rId10"/>
    </p:embeddedFont>
    <p:embeddedFont>
      <p:font typeface="Cooper Hewitt Bold" charset="1" panose="00000000000000000000"/>
      <p:regular r:id="rId11"/>
    </p:embeddedFont>
    <p:embeddedFont>
      <p:font typeface="Cooper Hewitt Italics" charset="1" panose="00000000000000000000"/>
      <p:regular r:id="rId12"/>
    </p:embeddedFont>
    <p:embeddedFont>
      <p:font typeface="Cooper Hewitt Bold Italics" charset="1" panose="00000000000000000000"/>
      <p:regular r:id="rId13"/>
    </p:embeddedFont>
    <p:embeddedFont>
      <p:font typeface="Cyrillic Bodoni" charset="1" panose="02070603070506020303"/>
      <p:regular r:id="rId14"/>
    </p:embeddedFont>
    <p:embeddedFont>
      <p:font typeface="Cyrillic Bodoni Bold" charset="1" panose="02070803080506020303"/>
      <p:regular r:id="rId15"/>
    </p:embeddedFont>
    <p:embeddedFont>
      <p:font typeface="Cyrillic Bodoni Italics" charset="1" panose="02070603070506090303"/>
      <p:regular r:id="rId16"/>
    </p:embeddedFont>
    <p:embeddedFont>
      <p:font typeface="Cyrillic Bodoni Bold Italics" charset="1" panose="02070803080506090303"/>
      <p:regular r:id="rId17"/>
    </p:embeddedFont>
    <p:embeddedFont>
      <p:font typeface="Canva Sans" charset="1" panose="020B0503030501040103"/>
      <p:regular r:id="rId18"/>
    </p:embeddedFont>
    <p:embeddedFont>
      <p:font typeface="Canva Sans Bold" charset="1" panose="020B0803030501040103"/>
      <p:regular r:id="rId19"/>
    </p:embeddedFont>
    <p:embeddedFont>
      <p:font typeface="Canva Sans Italics" charset="1" panose="020B0503030501040103"/>
      <p:regular r:id="rId20"/>
    </p:embeddedFont>
    <p:embeddedFont>
      <p:font typeface="Canva Sans Bold Italics" charset="1" panose="020B08030305010401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slides/slide1.xml" Type="http://schemas.openxmlformats.org/officeDocument/2006/relationships/slide"/><Relationship Id="rId23" Target="slides/slide2.xml" Type="http://schemas.openxmlformats.org/officeDocument/2006/relationships/slide"/><Relationship Id="rId24" Target="slides/slide3.xml" Type="http://schemas.openxmlformats.org/officeDocument/2006/relationships/slide"/><Relationship Id="rId25" Target="slides/slide4.xml" Type="http://schemas.openxmlformats.org/officeDocument/2006/relationships/slide"/><Relationship Id="rId26" Target="slides/slide5.xml" Type="http://schemas.openxmlformats.org/officeDocument/2006/relationships/slide"/><Relationship Id="rId27" Target="slides/slide6.xml" Type="http://schemas.openxmlformats.org/officeDocument/2006/relationships/slide"/><Relationship Id="rId28" Target="slides/slide7.xml" Type="http://schemas.openxmlformats.org/officeDocument/2006/relationships/slide"/><Relationship Id="rId29" Target="slides/slide8.xml" Type="http://schemas.openxmlformats.org/officeDocument/2006/relationships/slide"/><Relationship Id="rId3" Target="viewProps.xml" Type="http://schemas.openxmlformats.org/officeDocument/2006/relationships/viewProps"/><Relationship Id="rId30" Target="slides/slide9.xml" Type="http://schemas.openxmlformats.org/officeDocument/2006/relationships/slide"/><Relationship Id="rId31" Target="slides/slide10.xml" Type="http://schemas.openxmlformats.org/officeDocument/2006/relationships/slide"/><Relationship Id="rId32" Target="slides/slide11.xml" Type="http://schemas.openxmlformats.org/officeDocument/2006/relationships/slide"/><Relationship Id="rId33" Target="slides/slide12.xml" Type="http://schemas.openxmlformats.org/officeDocument/2006/relationships/slide"/><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E0D2EF"/>
        </a:solidFill>
      </p:bgPr>
    </p:bg>
    <p:spTree>
      <p:nvGrpSpPr>
        <p:cNvPr id="1" name=""/>
        <p:cNvGrpSpPr/>
        <p:nvPr/>
      </p:nvGrpSpPr>
      <p:grpSpPr>
        <a:xfrm>
          <a:off x="0" y="0"/>
          <a:ext cx="0" cy="0"/>
          <a:chOff x="0" y="0"/>
          <a:chExt cx="0" cy="0"/>
        </a:xfrm>
      </p:grpSpPr>
      <p:grpSp>
        <p:nvGrpSpPr>
          <p:cNvPr name="Group 2" id="2"/>
          <p:cNvGrpSpPr/>
          <p:nvPr/>
        </p:nvGrpSpPr>
        <p:grpSpPr>
          <a:xfrm rot="0">
            <a:off x="-290753" y="5855207"/>
            <a:ext cx="18697372" cy="4579505"/>
            <a:chOff x="0" y="0"/>
            <a:chExt cx="32021606" cy="7842979"/>
          </a:xfrm>
        </p:grpSpPr>
        <p:sp>
          <p:nvSpPr>
            <p:cNvPr name="Freeform 3" id="3"/>
            <p:cNvSpPr/>
            <p:nvPr/>
          </p:nvSpPr>
          <p:spPr>
            <a:xfrm>
              <a:off x="31750" y="31750"/>
              <a:ext cx="31958105" cy="7779479"/>
            </a:xfrm>
            <a:custGeom>
              <a:avLst/>
              <a:gdLst/>
              <a:ahLst/>
              <a:cxnLst/>
              <a:rect r="r" b="b" t="t" l="l"/>
              <a:pathLst>
                <a:path h="7779479" w="31958105">
                  <a:moveTo>
                    <a:pt x="31865395" y="7779479"/>
                  </a:moveTo>
                  <a:lnTo>
                    <a:pt x="92710" y="7779479"/>
                  </a:lnTo>
                  <a:cubicBezTo>
                    <a:pt x="41910" y="7779479"/>
                    <a:pt x="0" y="7737569"/>
                    <a:pt x="0" y="7686769"/>
                  </a:cubicBezTo>
                  <a:lnTo>
                    <a:pt x="0" y="92710"/>
                  </a:lnTo>
                  <a:cubicBezTo>
                    <a:pt x="0" y="41910"/>
                    <a:pt x="41910" y="0"/>
                    <a:pt x="92710" y="0"/>
                  </a:cubicBezTo>
                  <a:lnTo>
                    <a:pt x="31864126" y="0"/>
                  </a:lnTo>
                  <a:cubicBezTo>
                    <a:pt x="31914926" y="0"/>
                    <a:pt x="31956837" y="41910"/>
                    <a:pt x="31956837" y="92710"/>
                  </a:cubicBezTo>
                  <a:lnTo>
                    <a:pt x="31956837" y="7685499"/>
                  </a:lnTo>
                  <a:cubicBezTo>
                    <a:pt x="31958105" y="7737569"/>
                    <a:pt x="31916195" y="7779479"/>
                    <a:pt x="31865395" y="7779479"/>
                  </a:cubicBezTo>
                  <a:close/>
                </a:path>
              </a:pathLst>
            </a:custGeom>
            <a:solidFill>
              <a:srgbClr val="8EAFF1"/>
            </a:solidFill>
          </p:spPr>
        </p:sp>
        <p:sp>
          <p:nvSpPr>
            <p:cNvPr name="Freeform 4" id="4"/>
            <p:cNvSpPr/>
            <p:nvPr/>
          </p:nvSpPr>
          <p:spPr>
            <a:xfrm>
              <a:off x="0" y="0"/>
              <a:ext cx="32021605" cy="7842979"/>
            </a:xfrm>
            <a:custGeom>
              <a:avLst/>
              <a:gdLst/>
              <a:ahLst/>
              <a:cxnLst/>
              <a:rect r="r" b="b" t="t" l="l"/>
              <a:pathLst>
                <a:path h="7842979" w="32021605">
                  <a:moveTo>
                    <a:pt x="31897145" y="59690"/>
                  </a:moveTo>
                  <a:cubicBezTo>
                    <a:pt x="31932705" y="59690"/>
                    <a:pt x="31961916" y="88900"/>
                    <a:pt x="31961916" y="124460"/>
                  </a:cubicBezTo>
                  <a:lnTo>
                    <a:pt x="31961916" y="7718519"/>
                  </a:lnTo>
                  <a:cubicBezTo>
                    <a:pt x="31961916" y="7754079"/>
                    <a:pt x="31932705" y="7783289"/>
                    <a:pt x="31897145" y="7783289"/>
                  </a:cubicBezTo>
                  <a:lnTo>
                    <a:pt x="124460" y="7783289"/>
                  </a:lnTo>
                  <a:cubicBezTo>
                    <a:pt x="88900" y="7783289"/>
                    <a:pt x="59690" y="7754079"/>
                    <a:pt x="59690" y="7718519"/>
                  </a:cubicBezTo>
                  <a:lnTo>
                    <a:pt x="59690" y="124460"/>
                  </a:lnTo>
                  <a:cubicBezTo>
                    <a:pt x="59690" y="88900"/>
                    <a:pt x="88900" y="59690"/>
                    <a:pt x="124460" y="59690"/>
                  </a:cubicBezTo>
                  <a:lnTo>
                    <a:pt x="31897145" y="59690"/>
                  </a:lnTo>
                  <a:moveTo>
                    <a:pt x="31897145" y="0"/>
                  </a:moveTo>
                  <a:lnTo>
                    <a:pt x="124460" y="0"/>
                  </a:lnTo>
                  <a:cubicBezTo>
                    <a:pt x="55880" y="0"/>
                    <a:pt x="0" y="55880"/>
                    <a:pt x="0" y="124460"/>
                  </a:cubicBezTo>
                  <a:lnTo>
                    <a:pt x="0" y="7718519"/>
                  </a:lnTo>
                  <a:cubicBezTo>
                    <a:pt x="0" y="7787099"/>
                    <a:pt x="55880" y="7842979"/>
                    <a:pt x="124460" y="7842979"/>
                  </a:cubicBezTo>
                  <a:lnTo>
                    <a:pt x="31897145" y="7842979"/>
                  </a:lnTo>
                  <a:cubicBezTo>
                    <a:pt x="31965726" y="7842979"/>
                    <a:pt x="32021605" y="7787099"/>
                    <a:pt x="32021605" y="7718519"/>
                  </a:cubicBezTo>
                  <a:lnTo>
                    <a:pt x="32021605" y="124460"/>
                  </a:lnTo>
                  <a:cubicBezTo>
                    <a:pt x="32021605" y="55880"/>
                    <a:pt x="31965726" y="0"/>
                    <a:pt x="31897145" y="0"/>
                  </a:cubicBezTo>
                  <a:close/>
                </a:path>
              </a:pathLst>
            </a:custGeom>
            <a:solidFill>
              <a:srgbClr val="000000"/>
            </a:solidFill>
          </p:spPr>
        </p:sp>
      </p:grpSp>
      <p:grpSp>
        <p:nvGrpSpPr>
          <p:cNvPr name="Group 5" id="5"/>
          <p:cNvGrpSpPr/>
          <p:nvPr/>
        </p:nvGrpSpPr>
        <p:grpSpPr>
          <a:xfrm rot="0">
            <a:off x="1413743" y="779497"/>
            <a:ext cx="15288379" cy="8906008"/>
            <a:chOff x="0" y="0"/>
            <a:chExt cx="25753675" cy="15002403"/>
          </a:xfrm>
        </p:grpSpPr>
        <p:sp>
          <p:nvSpPr>
            <p:cNvPr name="Freeform 6" id="6"/>
            <p:cNvSpPr/>
            <p:nvPr/>
          </p:nvSpPr>
          <p:spPr>
            <a:xfrm>
              <a:off x="31750" y="31750"/>
              <a:ext cx="25690175" cy="14938904"/>
            </a:xfrm>
            <a:custGeom>
              <a:avLst/>
              <a:gdLst/>
              <a:ahLst/>
              <a:cxnLst/>
              <a:rect r="r" b="b" t="t" l="l"/>
              <a:pathLst>
                <a:path h="14938904" w="25690175">
                  <a:moveTo>
                    <a:pt x="25597465" y="14938904"/>
                  </a:moveTo>
                  <a:lnTo>
                    <a:pt x="92710" y="14938904"/>
                  </a:lnTo>
                  <a:cubicBezTo>
                    <a:pt x="41910" y="14938904"/>
                    <a:pt x="0" y="14896993"/>
                    <a:pt x="0" y="14846193"/>
                  </a:cubicBezTo>
                  <a:lnTo>
                    <a:pt x="0" y="92710"/>
                  </a:lnTo>
                  <a:cubicBezTo>
                    <a:pt x="0" y="41910"/>
                    <a:pt x="41910" y="0"/>
                    <a:pt x="92710" y="0"/>
                  </a:cubicBezTo>
                  <a:lnTo>
                    <a:pt x="25596196" y="0"/>
                  </a:lnTo>
                  <a:cubicBezTo>
                    <a:pt x="25646996" y="0"/>
                    <a:pt x="25688905" y="41910"/>
                    <a:pt x="25688905" y="92710"/>
                  </a:cubicBezTo>
                  <a:lnTo>
                    <a:pt x="25688905" y="14844923"/>
                  </a:lnTo>
                  <a:cubicBezTo>
                    <a:pt x="25690175" y="14896993"/>
                    <a:pt x="25648265" y="14938904"/>
                    <a:pt x="25597465" y="14938904"/>
                  </a:cubicBezTo>
                  <a:close/>
                </a:path>
              </a:pathLst>
            </a:custGeom>
            <a:solidFill>
              <a:srgbClr val="FFFFFF"/>
            </a:solidFill>
          </p:spPr>
        </p:sp>
        <p:sp>
          <p:nvSpPr>
            <p:cNvPr name="Freeform 7" id="7"/>
            <p:cNvSpPr/>
            <p:nvPr/>
          </p:nvSpPr>
          <p:spPr>
            <a:xfrm>
              <a:off x="0" y="0"/>
              <a:ext cx="25753675" cy="15002404"/>
            </a:xfrm>
            <a:custGeom>
              <a:avLst/>
              <a:gdLst/>
              <a:ahLst/>
              <a:cxnLst/>
              <a:rect r="r" b="b" t="t" l="l"/>
              <a:pathLst>
                <a:path h="15002404" w="25753675">
                  <a:moveTo>
                    <a:pt x="25629215" y="59690"/>
                  </a:moveTo>
                  <a:cubicBezTo>
                    <a:pt x="25664775" y="59690"/>
                    <a:pt x="25693985" y="88900"/>
                    <a:pt x="25693985" y="124460"/>
                  </a:cubicBezTo>
                  <a:lnTo>
                    <a:pt x="25693985" y="14877943"/>
                  </a:lnTo>
                  <a:cubicBezTo>
                    <a:pt x="25693985" y="14913504"/>
                    <a:pt x="25664775" y="14942713"/>
                    <a:pt x="25629215" y="14942713"/>
                  </a:cubicBezTo>
                  <a:lnTo>
                    <a:pt x="124460" y="14942713"/>
                  </a:lnTo>
                  <a:cubicBezTo>
                    <a:pt x="88900" y="14942713"/>
                    <a:pt x="59690" y="14913504"/>
                    <a:pt x="59690" y="14877943"/>
                  </a:cubicBezTo>
                  <a:lnTo>
                    <a:pt x="59690" y="124460"/>
                  </a:lnTo>
                  <a:cubicBezTo>
                    <a:pt x="59690" y="88900"/>
                    <a:pt x="88900" y="59690"/>
                    <a:pt x="124460" y="59690"/>
                  </a:cubicBezTo>
                  <a:lnTo>
                    <a:pt x="25629215" y="59690"/>
                  </a:lnTo>
                  <a:moveTo>
                    <a:pt x="25629215" y="0"/>
                  </a:moveTo>
                  <a:lnTo>
                    <a:pt x="124460" y="0"/>
                  </a:lnTo>
                  <a:cubicBezTo>
                    <a:pt x="55880" y="0"/>
                    <a:pt x="0" y="55880"/>
                    <a:pt x="0" y="124460"/>
                  </a:cubicBezTo>
                  <a:lnTo>
                    <a:pt x="0" y="14877943"/>
                  </a:lnTo>
                  <a:cubicBezTo>
                    <a:pt x="0" y="14946523"/>
                    <a:pt x="55880" y="15002404"/>
                    <a:pt x="124460" y="15002404"/>
                  </a:cubicBezTo>
                  <a:lnTo>
                    <a:pt x="25629215" y="15002404"/>
                  </a:lnTo>
                  <a:cubicBezTo>
                    <a:pt x="25697796" y="15002404"/>
                    <a:pt x="25753675" y="14946523"/>
                    <a:pt x="25753675" y="14877943"/>
                  </a:cubicBezTo>
                  <a:lnTo>
                    <a:pt x="25753675" y="124460"/>
                  </a:lnTo>
                  <a:cubicBezTo>
                    <a:pt x="25753675" y="55880"/>
                    <a:pt x="25697796" y="0"/>
                    <a:pt x="25629215" y="0"/>
                  </a:cubicBezTo>
                  <a:close/>
                </a:path>
              </a:pathLst>
            </a:custGeom>
            <a:solidFill>
              <a:srgbClr val="000000"/>
            </a:solidFill>
          </p:spPr>
        </p:sp>
      </p:grpSp>
      <p:grpSp>
        <p:nvGrpSpPr>
          <p:cNvPr name="Group 8" id="8"/>
          <p:cNvGrpSpPr/>
          <p:nvPr/>
        </p:nvGrpSpPr>
        <p:grpSpPr>
          <a:xfrm rot="0">
            <a:off x="1413743" y="6954173"/>
            <a:ext cx="15288379" cy="2731332"/>
            <a:chOff x="0" y="0"/>
            <a:chExt cx="25753675" cy="4601000"/>
          </a:xfrm>
        </p:grpSpPr>
        <p:sp>
          <p:nvSpPr>
            <p:cNvPr name="Freeform 9" id="9"/>
            <p:cNvSpPr/>
            <p:nvPr/>
          </p:nvSpPr>
          <p:spPr>
            <a:xfrm>
              <a:off x="31750" y="31750"/>
              <a:ext cx="25690175" cy="4537500"/>
            </a:xfrm>
            <a:custGeom>
              <a:avLst/>
              <a:gdLst/>
              <a:ahLst/>
              <a:cxnLst/>
              <a:rect r="r" b="b" t="t" l="l"/>
              <a:pathLst>
                <a:path h="4537500" w="25690175">
                  <a:moveTo>
                    <a:pt x="25597465" y="4537500"/>
                  </a:moveTo>
                  <a:lnTo>
                    <a:pt x="92710" y="4537500"/>
                  </a:lnTo>
                  <a:cubicBezTo>
                    <a:pt x="41910" y="4537500"/>
                    <a:pt x="0" y="4495590"/>
                    <a:pt x="0" y="4444790"/>
                  </a:cubicBezTo>
                  <a:lnTo>
                    <a:pt x="0" y="92710"/>
                  </a:lnTo>
                  <a:cubicBezTo>
                    <a:pt x="0" y="41910"/>
                    <a:pt x="41910" y="0"/>
                    <a:pt x="92710" y="0"/>
                  </a:cubicBezTo>
                  <a:lnTo>
                    <a:pt x="25596196" y="0"/>
                  </a:lnTo>
                  <a:cubicBezTo>
                    <a:pt x="25646996" y="0"/>
                    <a:pt x="25688905" y="41910"/>
                    <a:pt x="25688905" y="92710"/>
                  </a:cubicBezTo>
                  <a:lnTo>
                    <a:pt x="25688905" y="4443520"/>
                  </a:lnTo>
                  <a:cubicBezTo>
                    <a:pt x="25690175" y="4495590"/>
                    <a:pt x="25648265" y="4537500"/>
                    <a:pt x="25597465" y="4537500"/>
                  </a:cubicBezTo>
                  <a:close/>
                </a:path>
              </a:pathLst>
            </a:custGeom>
            <a:solidFill>
              <a:srgbClr val="A4EFC1"/>
            </a:solidFill>
          </p:spPr>
        </p:sp>
        <p:sp>
          <p:nvSpPr>
            <p:cNvPr name="Freeform 10" id="10"/>
            <p:cNvSpPr/>
            <p:nvPr/>
          </p:nvSpPr>
          <p:spPr>
            <a:xfrm>
              <a:off x="0" y="0"/>
              <a:ext cx="25753675" cy="4601000"/>
            </a:xfrm>
            <a:custGeom>
              <a:avLst/>
              <a:gdLst/>
              <a:ahLst/>
              <a:cxnLst/>
              <a:rect r="r" b="b" t="t" l="l"/>
              <a:pathLst>
                <a:path h="4601000" w="25753675">
                  <a:moveTo>
                    <a:pt x="25629215" y="59690"/>
                  </a:moveTo>
                  <a:cubicBezTo>
                    <a:pt x="25664775" y="59690"/>
                    <a:pt x="25693985" y="88900"/>
                    <a:pt x="25693985" y="124460"/>
                  </a:cubicBezTo>
                  <a:lnTo>
                    <a:pt x="25693985" y="4476540"/>
                  </a:lnTo>
                  <a:cubicBezTo>
                    <a:pt x="25693985" y="4512100"/>
                    <a:pt x="25664775" y="4541310"/>
                    <a:pt x="25629215" y="4541310"/>
                  </a:cubicBezTo>
                  <a:lnTo>
                    <a:pt x="124460" y="4541310"/>
                  </a:lnTo>
                  <a:cubicBezTo>
                    <a:pt x="88900" y="4541310"/>
                    <a:pt x="59690" y="4512100"/>
                    <a:pt x="59690" y="4476540"/>
                  </a:cubicBezTo>
                  <a:lnTo>
                    <a:pt x="59690" y="124460"/>
                  </a:lnTo>
                  <a:cubicBezTo>
                    <a:pt x="59690" y="88900"/>
                    <a:pt x="88900" y="59690"/>
                    <a:pt x="124460" y="59690"/>
                  </a:cubicBezTo>
                  <a:lnTo>
                    <a:pt x="25629215" y="59690"/>
                  </a:lnTo>
                  <a:moveTo>
                    <a:pt x="25629215" y="0"/>
                  </a:moveTo>
                  <a:lnTo>
                    <a:pt x="124460" y="0"/>
                  </a:lnTo>
                  <a:cubicBezTo>
                    <a:pt x="55880" y="0"/>
                    <a:pt x="0" y="55880"/>
                    <a:pt x="0" y="124460"/>
                  </a:cubicBezTo>
                  <a:lnTo>
                    <a:pt x="0" y="4476540"/>
                  </a:lnTo>
                  <a:cubicBezTo>
                    <a:pt x="0" y="4545120"/>
                    <a:pt x="55880" y="4601000"/>
                    <a:pt x="124460" y="4601000"/>
                  </a:cubicBezTo>
                  <a:lnTo>
                    <a:pt x="25629215" y="4601000"/>
                  </a:lnTo>
                  <a:cubicBezTo>
                    <a:pt x="25697796" y="4601000"/>
                    <a:pt x="25753675" y="4545120"/>
                    <a:pt x="25753675" y="4476540"/>
                  </a:cubicBezTo>
                  <a:lnTo>
                    <a:pt x="25753675" y="124460"/>
                  </a:lnTo>
                  <a:cubicBezTo>
                    <a:pt x="25753675" y="55880"/>
                    <a:pt x="25697796" y="0"/>
                    <a:pt x="25629215" y="0"/>
                  </a:cubicBezTo>
                  <a:close/>
                </a:path>
              </a:pathLst>
            </a:custGeom>
            <a:solidFill>
              <a:srgbClr val="000000"/>
            </a:solidFill>
          </p:spPr>
        </p:sp>
      </p:grpSp>
      <p:grpSp>
        <p:nvGrpSpPr>
          <p:cNvPr name="Group 11" id="11"/>
          <p:cNvGrpSpPr/>
          <p:nvPr/>
        </p:nvGrpSpPr>
        <p:grpSpPr>
          <a:xfrm rot="0">
            <a:off x="2794833" y="2296597"/>
            <a:ext cx="12698334" cy="4093542"/>
            <a:chOff x="0" y="0"/>
            <a:chExt cx="16931112" cy="5458056"/>
          </a:xfrm>
        </p:grpSpPr>
        <p:sp>
          <p:nvSpPr>
            <p:cNvPr name="TextBox 12" id="12"/>
            <p:cNvSpPr txBox="true"/>
            <p:nvPr/>
          </p:nvSpPr>
          <p:spPr>
            <a:xfrm rot="0">
              <a:off x="0" y="238125"/>
              <a:ext cx="16931112" cy="4401465"/>
            </a:xfrm>
            <a:prstGeom prst="rect">
              <a:avLst/>
            </a:prstGeom>
          </p:spPr>
          <p:txBody>
            <a:bodyPr anchor="t" rtlCol="false" tIns="0" lIns="0" bIns="0" rIns="0">
              <a:spAutoFit/>
            </a:bodyPr>
            <a:lstStyle/>
            <a:p>
              <a:pPr algn="ctr">
                <a:lnSpc>
                  <a:spcPts val="12500"/>
                </a:lnSpc>
              </a:pPr>
              <a:r>
                <a:rPr lang="en-US" sz="12500">
                  <a:solidFill>
                    <a:srgbClr val="000000"/>
                  </a:solidFill>
                  <a:latin typeface="Cyrillic Bodoni Italics"/>
                </a:rPr>
                <a:t>TITLE</a:t>
              </a:r>
            </a:p>
            <a:p>
              <a:pPr algn="ctr">
                <a:lnSpc>
                  <a:spcPts val="12500"/>
                </a:lnSpc>
              </a:pPr>
              <a:r>
                <a:rPr lang="en-US" sz="12500">
                  <a:solidFill>
                    <a:srgbClr val="000000"/>
                  </a:solidFill>
                  <a:latin typeface="Cyrillic Bodoni Italics"/>
                </a:rPr>
                <a:t>DEFENSE</a:t>
              </a:r>
            </a:p>
          </p:txBody>
        </p:sp>
        <p:sp>
          <p:nvSpPr>
            <p:cNvPr name="TextBox 13" id="13"/>
            <p:cNvSpPr txBox="true"/>
            <p:nvPr/>
          </p:nvSpPr>
          <p:spPr>
            <a:xfrm rot="0">
              <a:off x="0" y="4633263"/>
              <a:ext cx="16931112" cy="824793"/>
            </a:xfrm>
            <a:prstGeom prst="rect">
              <a:avLst/>
            </a:prstGeom>
          </p:spPr>
          <p:txBody>
            <a:bodyPr anchor="t" rtlCol="false" tIns="0" lIns="0" bIns="0" rIns="0">
              <a:spAutoFit/>
            </a:bodyPr>
            <a:lstStyle/>
            <a:p>
              <a:pPr algn="ctr">
                <a:lnSpc>
                  <a:spcPts val="4619"/>
                </a:lnSpc>
              </a:pPr>
            </a:p>
          </p:txBody>
        </p:sp>
      </p:grpSp>
      <p:sp>
        <p:nvSpPr>
          <p:cNvPr name="TextBox 14" id="14"/>
          <p:cNvSpPr txBox="true"/>
          <p:nvPr/>
        </p:nvSpPr>
        <p:spPr>
          <a:xfrm rot="0">
            <a:off x="1735404" y="7000998"/>
            <a:ext cx="14645058" cy="2475757"/>
          </a:xfrm>
          <a:prstGeom prst="rect">
            <a:avLst/>
          </a:prstGeom>
        </p:spPr>
        <p:txBody>
          <a:bodyPr anchor="t" rtlCol="false" tIns="0" lIns="0" bIns="0" rIns="0">
            <a:spAutoFit/>
          </a:bodyPr>
          <a:lstStyle/>
          <a:p>
            <a:pPr algn="ctr">
              <a:lnSpc>
                <a:spcPts val="4759"/>
              </a:lnSpc>
            </a:pPr>
            <a:r>
              <a:rPr lang="en-US" sz="3399">
                <a:solidFill>
                  <a:srgbClr val="000000"/>
                </a:solidFill>
                <a:latin typeface="Cooper Hewitt"/>
              </a:rPr>
              <a:t>Leader: Marc Philip Landicho</a:t>
            </a:r>
          </a:p>
          <a:p>
            <a:pPr algn="ctr">
              <a:lnSpc>
                <a:spcPts val="4759"/>
              </a:lnSpc>
            </a:pPr>
            <a:r>
              <a:rPr lang="en-US" sz="3399">
                <a:solidFill>
                  <a:srgbClr val="000000"/>
                </a:solidFill>
                <a:latin typeface="Cooper Hewitt"/>
              </a:rPr>
              <a:t>Assistant Leader: Atasha Mariz Marasigan </a:t>
            </a:r>
          </a:p>
          <a:p>
            <a:pPr algn="ctr">
              <a:lnSpc>
                <a:spcPts val="4759"/>
              </a:lnSpc>
            </a:pPr>
            <a:r>
              <a:rPr lang="en-US" sz="3399">
                <a:solidFill>
                  <a:srgbClr val="000000"/>
                </a:solidFill>
                <a:latin typeface="Cooper Hewitt"/>
              </a:rPr>
              <a:t>Members: Kate Ramielle Zurbito</a:t>
            </a:r>
          </a:p>
          <a:p>
            <a:pPr algn="ctr">
              <a:lnSpc>
                <a:spcPts val="4759"/>
              </a:lnSpc>
            </a:pPr>
            <a:r>
              <a:rPr lang="en-US" sz="3399">
                <a:solidFill>
                  <a:srgbClr val="000000"/>
                </a:solidFill>
                <a:latin typeface="Cooper Hewitt"/>
              </a:rPr>
              <a:t>Ashlee Macmac</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90753" y="-181088"/>
            <a:ext cx="7400946" cy="9439388"/>
            <a:chOff x="0" y="0"/>
            <a:chExt cx="12467087" cy="15900895"/>
          </a:xfrm>
        </p:grpSpPr>
        <p:sp>
          <p:nvSpPr>
            <p:cNvPr name="Freeform 3" id="3"/>
            <p:cNvSpPr/>
            <p:nvPr/>
          </p:nvSpPr>
          <p:spPr>
            <a:xfrm>
              <a:off x="31750" y="31750"/>
              <a:ext cx="12403586" cy="15837396"/>
            </a:xfrm>
            <a:custGeom>
              <a:avLst/>
              <a:gdLst/>
              <a:ahLst/>
              <a:cxnLst/>
              <a:rect r="r" b="b" t="t" l="l"/>
              <a:pathLst>
                <a:path h="15837396" w="12403586">
                  <a:moveTo>
                    <a:pt x="12310876" y="15837396"/>
                  </a:moveTo>
                  <a:lnTo>
                    <a:pt x="92710" y="15837396"/>
                  </a:lnTo>
                  <a:cubicBezTo>
                    <a:pt x="41910" y="15837396"/>
                    <a:pt x="0" y="15795485"/>
                    <a:pt x="0" y="15744685"/>
                  </a:cubicBezTo>
                  <a:lnTo>
                    <a:pt x="0" y="92710"/>
                  </a:lnTo>
                  <a:cubicBezTo>
                    <a:pt x="0" y="41910"/>
                    <a:pt x="41910" y="0"/>
                    <a:pt x="92710" y="0"/>
                  </a:cubicBezTo>
                  <a:lnTo>
                    <a:pt x="12309607" y="0"/>
                  </a:lnTo>
                  <a:cubicBezTo>
                    <a:pt x="12360407" y="0"/>
                    <a:pt x="12402317" y="41910"/>
                    <a:pt x="12402317" y="92710"/>
                  </a:cubicBezTo>
                  <a:lnTo>
                    <a:pt x="12402317" y="15743416"/>
                  </a:lnTo>
                  <a:cubicBezTo>
                    <a:pt x="12403586" y="15795485"/>
                    <a:pt x="12361676" y="15837396"/>
                    <a:pt x="12310876" y="15837396"/>
                  </a:cubicBezTo>
                  <a:close/>
                </a:path>
              </a:pathLst>
            </a:custGeom>
            <a:solidFill>
              <a:srgbClr val="A4EFC1"/>
            </a:solidFill>
          </p:spPr>
        </p:sp>
        <p:sp>
          <p:nvSpPr>
            <p:cNvPr name="Freeform 4" id="4"/>
            <p:cNvSpPr/>
            <p:nvPr/>
          </p:nvSpPr>
          <p:spPr>
            <a:xfrm>
              <a:off x="0" y="0"/>
              <a:ext cx="12467087" cy="15900896"/>
            </a:xfrm>
            <a:custGeom>
              <a:avLst/>
              <a:gdLst/>
              <a:ahLst/>
              <a:cxnLst/>
              <a:rect r="r" b="b" t="t" l="l"/>
              <a:pathLst>
                <a:path h="15900896" w="12467087">
                  <a:moveTo>
                    <a:pt x="12342626" y="59690"/>
                  </a:moveTo>
                  <a:cubicBezTo>
                    <a:pt x="12378186" y="59690"/>
                    <a:pt x="12407397" y="88900"/>
                    <a:pt x="12407397" y="124460"/>
                  </a:cubicBezTo>
                  <a:lnTo>
                    <a:pt x="12407397" y="15776435"/>
                  </a:lnTo>
                  <a:cubicBezTo>
                    <a:pt x="12407397" y="15811996"/>
                    <a:pt x="12378186" y="15841205"/>
                    <a:pt x="12342626" y="15841205"/>
                  </a:cubicBezTo>
                  <a:lnTo>
                    <a:pt x="124460" y="15841205"/>
                  </a:lnTo>
                  <a:cubicBezTo>
                    <a:pt x="88900" y="15841205"/>
                    <a:pt x="59690" y="15811996"/>
                    <a:pt x="59690" y="15776435"/>
                  </a:cubicBezTo>
                  <a:lnTo>
                    <a:pt x="59690" y="124460"/>
                  </a:lnTo>
                  <a:cubicBezTo>
                    <a:pt x="59690" y="88900"/>
                    <a:pt x="88900" y="59690"/>
                    <a:pt x="124460" y="59690"/>
                  </a:cubicBezTo>
                  <a:lnTo>
                    <a:pt x="12342626" y="59690"/>
                  </a:lnTo>
                  <a:moveTo>
                    <a:pt x="12342626" y="0"/>
                  </a:moveTo>
                  <a:lnTo>
                    <a:pt x="124460" y="0"/>
                  </a:lnTo>
                  <a:cubicBezTo>
                    <a:pt x="55880" y="0"/>
                    <a:pt x="0" y="55880"/>
                    <a:pt x="0" y="124460"/>
                  </a:cubicBezTo>
                  <a:lnTo>
                    <a:pt x="0" y="15776435"/>
                  </a:lnTo>
                  <a:cubicBezTo>
                    <a:pt x="0" y="15845016"/>
                    <a:pt x="55880" y="15900896"/>
                    <a:pt x="124460" y="15900896"/>
                  </a:cubicBezTo>
                  <a:lnTo>
                    <a:pt x="12342626" y="15900896"/>
                  </a:lnTo>
                  <a:cubicBezTo>
                    <a:pt x="12411207" y="15900896"/>
                    <a:pt x="12467087" y="15845016"/>
                    <a:pt x="12467087" y="15776435"/>
                  </a:cubicBezTo>
                  <a:lnTo>
                    <a:pt x="12467087" y="124460"/>
                  </a:lnTo>
                  <a:cubicBezTo>
                    <a:pt x="12467087" y="55880"/>
                    <a:pt x="12411207" y="0"/>
                    <a:pt x="12342626" y="0"/>
                  </a:cubicBezTo>
                  <a:close/>
                </a:path>
              </a:pathLst>
            </a:custGeom>
            <a:solidFill>
              <a:srgbClr val="000000"/>
            </a:solidFill>
          </p:spPr>
        </p:sp>
      </p:grpSp>
      <p:sp>
        <p:nvSpPr>
          <p:cNvPr name="TextBox 5" id="5"/>
          <p:cNvSpPr txBox="true"/>
          <p:nvPr/>
        </p:nvSpPr>
        <p:spPr>
          <a:xfrm rot="0">
            <a:off x="0" y="2814776"/>
            <a:ext cx="7110192" cy="2095500"/>
          </a:xfrm>
          <a:prstGeom prst="rect">
            <a:avLst/>
          </a:prstGeom>
        </p:spPr>
        <p:txBody>
          <a:bodyPr anchor="t" rtlCol="false" tIns="0" lIns="0" bIns="0" rIns="0">
            <a:spAutoFit/>
          </a:bodyPr>
          <a:lstStyle/>
          <a:p>
            <a:pPr algn="ctr">
              <a:lnSpc>
                <a:spcPts val="8279"/>
              </a:lnSpc>
            </a:pPr>
            <a:r>
              <a:rPr lang="en-US" sz="6899">
                <a:solidFill>
                  <a:srgbClr val="000000"/>
                </a:solidFill>
                <a:latin typeface="Cyrillic Bodoni"/>
              </a:rPr>
              <a:t>OUR PROPOSED TITLES</a:t>
            </a:r>
          </a:p>
        </p:txBody>
      </p:sp>
      <p:grpSp>
        <p:nvGrpSpPr>
          <p:cNvPr name="Group 6" id="6"/>
          <p:cNvGrpSpPr/>
          <p:nvPr/>
        </p:nvGrpSpPr>
        <p:grpSpPr>
          <a:xfrm rot="0">
            <a:off x="7599927" y="1126615"/>
            <a:ext cx="10013843" cy="6823680"/>
            <a:chOff x="0" y="0"/>
            <a:chExt cx="13351791" cy="9098240"/>
          </a:xfrm>
        </p:grpSpPr>
        <p:sp>
          <p:nvSpPr>
            <p:cNvPr name="TextBox 7" id="7"/>
            <p:cNvSpPr txBox="true"/>
            <p:nvPr/>
          </p:nvSpPr>
          <p:spPr>
            <a:xfrm rot="0">
              <a:off x="0" y="0"/>
              <a:ext cx="13351791" cy="1955800"/>
            </a:xfrm>
            <a:prstGeom prst="rect">
              <a:avLst/>
            </a:prstGeom>
          </p:spPr>
          <p:txBody>
            <a:bodyPr anchor="t" rtlCol="false" tIns="0" lIns="0" bIns="0" rIns="0">
              <a:spAutoFit/>
            </a:bodyPr>
            <a:lstStyle/>
            <a:p>
              <a:pPr algn="ctr">
                <a:lnSpc>
                  <a:spcPts val="5823"/>
                </a:lnSpc>
              </a:pPr>
              <a:r>
                <a:rPr lang="en-US" sz="4853">
                  <a:solidFill>
                    <a:srgbClr val="000000"/>
                  </a:solidFill>
                  <a:latin typeface="Cyrillic Bodoni"/>
                </a:rPr>
                <a:t>Acceptability Bioplastic out of Calamansi </a:t>
              </a:r>
              <a:r>
                <a:rPr lang="en-US" sz="4853">
                  <a:solidFill>
                    <a:srgbClr val="000000"/>
                  </a:solidFill>
                  <a:latin typeface="Cyrillic Bodoni Italics"/>
                </a:rPr>
                <a:t>(Citrus microcarpa)</a:t>
              </a:r>
              <a:r>
                <a:rPr lang="en-US" sz="4853">
                  <a:solidFill>
                    <a:srgbClr val="000000"/>
                  </a:solidFill>
                  <a:latin typeface="Cyrillic Bodoni"/>
                </a:rPr>
                <a:t> Peels</a:t>
              </a:r>
            </a:p>
          </p:txBody>
        </p:sp>
        <p:sp>
          <p:nvSpPr>
            <p:cNvPr name="TextBox 8" id="8"/>
            <p:cNvSpPr txBox="true"/>
            <p:nvPr/>
          </p:nvSpPr>
          <p:spPr>
            <a:xfrm rot="0">
              <a:off x="0" y="3530694"/>
              <a:ext cx="13351791" cy="1956203"/>
            </a:xfrm>
            <a:prstGeom prst="rect">
              <a:avLst/>
            </a:prstGeom>
          </p:spPr>
          <p:txBody>
            <a:bodyPr anchor="t" rtlCol="false" tIns="0" lIns="0" bIns="0" rIns="0">
              <a:spAutoFit/>
            </a:bodyPr>
            <a:lstStyle/>
            <a:p>
              <a:pPr algn="ctr">
                <a:lnSpc>
                  <a:spcPts val="5823"/>
                </a:lnSpc>
              </a:pPr>
              <a:r>
                <a:rPr lang="en-US" sz="4853">
                  <a:solidFill>
                    <a:srgbClr val="000000"/>
                  </a:solidFill>
                  <a:latin typeface="Cyrillic Bodoni Italics"/>
                </a:rPr>
                <a:t>Effectiveness of Fish Scales as Biodegradable Straw</a:t>
              </a:r>
            </a:p>
          </p:txBody>
        </p:sp>
        <p:sp>
          <p:nvSpPr>
            <p:cNvPr name="TextBox 9" id="9"/>
            <p:cNvSpPr txBox="true"/>
            <p:nvPr/>
          </p:nvSpPr>
          <p:spPr>
            <a:xfrm rot="0">
              <a:off x="0" y="7142037"/>
              <a:ext cx="13351791" cy="1956203"/>
            </a:xfrm>
            <a:prstGeom prst="rect">
              <a:avLst/>
            </a:prstGeom>
          </p:spPr>
          <p:txBody>
            <a:bodyPr anchor="t" rtlCol="false" tIns="0" lIns="0" bIns="0" rIns="0">
              <a:spAutoFit/>
            </a:bodyPr>
            <a:lstStyle/>
            <a:p>
              <a:pPr algn="ctr">
                <a:lnSpc>
                  <a:spcPts val="5823"/>
                </a:lnSpc>
              </a:pPr>
              <a:r>
                <a:rPr lang="en-US" sz="4853">
                  <a:solidFill>
                    <a:srgbClr val="000000"/>
                  </a:solidFill>
                  <a:latin typeface="Cyrillic Bodoni Italics"/>
                </a:rPr>
                <a:t>Acceptability of Rabbit Manure as an Alternative Briquette</a:t>
              </a:r>
            </a:p>
          </p:txBody>
        </p:sp>
      </p:grpSp>
      <p:grpSp>
        <p:nvGrpSpPr>
          <p:cNvPr name="Group 10" id="10"/>
          <p:cNvGrpSpPr/>
          <p:nvPr/>
        </p:nvGrpSpPr>
        <p:grpSpPr>
          <a:xfrm rot="0">
            <a:off x="-290753" y="8959850"/>
            <a:ext cx="18697372" cy="1474862"/>
            <a:chOff x="0" y="0"/>
            <a:chExt cx="32021606" cy="2525887"/>
          </a:xfrm>
        </p:grpSpPr>
        <p:sp>
          <p:nvSpPr>
            <p:cNvPr name="Freeform 11" id="11"/>
            <p:cNvSpPr/>
            <p:nvPr/>
          </p:nvSpPr>
          <p:spPr>
            <a:xfrm>
              <a:off x="31750" y="31750"/>
              <a:ext cx="31958105" cy="2462387"/>
            </a:xfrm>
            <a:custGeom>
              <a:avLst/>
              <a:gdLst/>
              <a:ahLst/>
              <a:cxnLst/>
              <a:rect r="r" b="b" t="t" l="l"/>
              <a:pathLst>
                <a:path h="2462387" w="31958105">
                  <a:moveTo>
                    <a:pt x="31865395" y="2462387"/>
                  </a:moveTo>
                  <a:lnTo>
                    <a:pt x="92710" y="2462387"/>
                  </a:lnTo>
                  <a:cubicBezTo>
                    <a:pt x="41910" y="2462387"/>
                    <a:pt x="0" y="2420477"/>
                    <a:pt x="0" y="2369677"/>
                  </a:cubicBezTo>
                  <a:lnTo>
                    <a:pt x="0" y="92710"/>
                  </a:lnTo>
                  <a:cubicBezTo>
                    <a:pt x="0" y="41910"/>
                    <a:pt x="41910" y="0"/>
                    <a:pt x="92710" y="0"/>
                  </a:cubicBezTo>
                  <a:lnTo>
                    <a:pt x="31864126" y="0"/>
                  </a:lnTo>
                  <a:cubicBezTo>
                    <a:pt x="31914926" y="0"/>
                    <a:pt x="31956837" y="41910"/>
                    <a:pt x="31956837" y="92710"/>
                  </a:cubicBezTo>
                  <a:lnTo>
                    <a:pt x="31956837" y="2368407"/>
                  </a:lnTo>
                  <a:cubicBezTo>
                    <a:pt x="31958105" y="2420477"/>
                    <a:pt x="31916195" y="2462387"/>
                    <a:pt x="31865395" y="2462387"/>
                  </a:cubicBezTo>
                  <a:close/>
                </a:path>
              </a:pathLst>
            </a:custGeom>
            <a:solidFill>
              <a:srgbClr val="8EAFF1"/>
            </a:solidFill>
          </p:spPr>
        </p:sp>
        <p:sp>
          <p:nvSpPr>
            <p:cNvPr name="Freeform 12" id="12"/>
            <p:cNvSpPr/>
            <p:nvPr/>
          </p:nvSpPr>
          <p:spPr>
            <a:xfrm>
              <a:off x="0" y="0"/>
              <a:ext cx="32021605" cy="2525887"/>
            </a:xfrm>
            <a:custGeom>
              <a:avLst/>
              <a:gdLst/>
              <a:ahLst/>
              <a:cxnLst/>
              <a:rect r="r" b="b" t="t" l="l"/>
              <a:pathLst>
                <a:path h="2525887" w="32021605">
                  <a:moveTo>
                    <a:pt x="31897145" y="59690"/>
                  </a:moveTo>
                  <a:cubicBezTo>
                    <a:pt x="31932705" y="59690"/>
                    <a:pt x="31961916" y="88900"/>
                    <a:pt x="31961916" y="124460"/>
                  </a:cubicBezTo>
                  <a:lnTo>
                    <a:pt x="31961916" y="2401427"/>
                  </a:lnTo>
                  <a:cubicBezTo>
                    <a:pt x="31961916" y="2436987"/>
                    <a:pt x="31932705" y="2466197"/>
                    <a:pt x="31897145" y="2466197"/>
                  </a:cubicBezTo>
                  <a:lnTo>
                    <a:pt x="124460" y="2466197"/>
                  </a:lnTo>
                  <a:cubicBezTo>
                    <a:pt x="88900" y="2466197"/>
                    <a:pt x="59690" y="2436987"/>
                    <a:pt x="59690" y="2401427"/>
                  </a:cubicBezTo>
                  <a:lnTo>
                    <a:pt x="59690" y="124460"/>
                  </a:lnTo>
                  <a:cubicBezTo>
                    <a:pt x="59690" y="88900"/>
                    <a:pt x="88900" y="59690"/>
                    <a:pt x="124460" y="59690"/>
                  </a:cubicBezTo>
                  <a:lnTo>
                    <a:pt x="31897145" y="59690"/>
                  </a:lnTo>
                  <a:moveTo>
                    <a:pt x="31897145" y="0"/>
                  </a:moveTo>
                  <a:lnTo>
                    <a:pt x="124460" y="0"/>
                  </a:lnTo>
                  <a:cubicBezTo>
                    <a:pt x="55880" y="0"/>
                    <a:pt x="0" y="55880"/>
                    <a:pt x="0" y="124460"/>
                  </a:cubicBezTo>
                  <a:lnTo>
                    <a:pt x="0" y="2401427"/>
                  </a:lnTo>
                  <a:cubicBezTo>
                    <a:pt x="0" y="2470007"/>
                    <a:pt x="55880" y="2525887"/>
                    <a:pt x="124460" y="2525887"/>
                  </a:cubicBezTo>
                  <a:lnTo>
                    <a:pt x="31897145" y="2525887"/>
                  </a:lnTo>
                  <a:cubicBezTo>
                    <a:pt x="31965726" y="2525887"/>
                    <a:pt x="32021605" y="2470007"/>
                    <a:pt x="32021605" y="2401427"/>
                  </a:cubicBezTo>
                  <a:lnTo>
                    <a:pt x="32021605" y="124460"/>
                  </a:lnTo>
                  <a:cubicBezTo>
                    <a:pt x="32021605" y="55880"/>
                    <a:pt x="31965726" y="0"/>
                    <a:pt x="31897145" y="0"/>
                  </a:cubicBezTo>
                  <a:close/>
                </a:path>
              </a:pathLst>
            </a:custGeom>
            <a:solidFill>
              <a:srgbClr val="000000"/>
            </a:solidFill>
          </p:spPr>
        </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06877" y="2486337"/>
            <a:ext cx="9992511" cy="7978781"/>
            <a:chOff x="0" y="0"/>
            <a:chExt cx="14014464" cy="11190215"/>
          </a:xfrm>
        </p:grpSpPr>
        <p:sp>
          <p:nvSpPr>
            <p:cNvPr name="Freeform 3" id="3"/>
            <p:cNvSpPr/>
            <p:nvPr/>
          </p:nvSpPr>
          <p:spPr>
            <a:xfrm>
              <a:off x="31750" y="31750"/>
              <a:ext cx="13950964" cy="11126715"/>
            </a:xfrm>
            <a:custGeom>
              <a:avLst/>
              <a:gdLst/>
              <a:ahLst/>
              <a:cxnLst/>
              <a:rect r="r" b="b" t="t" l="l"/>
              <a:pathLst>
                <a:path h="11126715" w="13950964">
                  <a:moveTo>
                    <a:pt x="13858255" y="11126715"/>
                  </a:moveTo>
                  <a:lnTo>
                    <a:pt x="92710" y="11126715"/>
                  </a:lnTo>
                  <a:cubicBezTo>
                    <a:pt x="41910" y="11126715"/>
                    <a:pt x="0" y="11084805"/>
                    <a:pt x="0" y="11034005"/>
                  </a:cubicBezTo>
                  <a:lnTo>
                    <a:pt x="0" y="92710"/>
                  </a:lnTo>
                  <a:cubicBezTo>
                    <a:pt x="0" y="41910"/>
                    <a:pt x="41910" y="0"/>
                    <a:pt x="92710" y="0"/>
                  </a:cubicBezTo>
                  <a:lnTo>
                    <a:pt x="13856985" y="0"/>
                  </a:lnTo>
                  <a:cubicBezTo>
                    <a:pt x="13907785" y="0"/>
                    <a:pt x="13949694" y="41910"/>
                    <a:pt x="13949694" y="92710"/>
                  </a:cubicBezTo>
                  <a:lnTo>
                    <a:pt x="13949694" y="11032735"/>
                  </a:lnTo>
                  <a:cubicBezTo>
                    <a:pt x="13950964" y="11084805"/>
                    <a:pt x="13909055" y="11126715"/>
                    <a:pt x="13858255" y="11126715"/>
                  </a:cubicBezTo>
                  <a:close/>
                </a:path>
              </a:pathLst>
            </a:custGeom>
            <a:solidFill>
              <a:srgbClr val="A4EFC1"/>
            </a:solidFill>
          </p:spPr>
        </p:sp>
        <p:sp>
          <p:nvSpPr>
            <p:cNvPr name="Freeform 4" id="4"/>
            <p:cNvSpPr/>
            <p:nvPr/>
          </p:nvSpPr>
          <p:spPr>
            <a:xfrm>
              <a:off x="0" y="0"/>
              <a:ext cx="14014464" cy="11190215"/>
            </a:xfrm>
            <a:custGeom>
              <a:avLst/>
              <a:gdLst/>
              <a:ahLst/>
              <a:cxnLst/>
              <a:rect r="r" b="b" t="t" l="l"/>
              <a:pathLst>
                <a:path h="11190215" w="14014464">
                  <a:moveTo>
                    <a:pt x="13890005" y="59690"/>
                  </a:moveTo>
                  <a:cubicBezTo>
                    <a:pt x="13925564" y="59690"/>
                    <a:pt x="13954775" y="88900"/>
                    <a:pt x="13954775" y="124460"/>
                  </a:cubicBezTo>
                  <a:lnTo>
                    <a:pt x="13954775" y="11065755"/>
                  </a:lnTo>
                  <a:cubicBezTo>
                    <a:pt x="13954775" y="11101315"/>
                    <a:pt x="13925564" y="11130525"/>
                    <a:pt x="13890005" y="11130525"/>
                  </a:cubicBezTo>
                  <a:lnTo>
                    <a:pt x="124460" y="11130525"/>
                  </a:lnTo>
                  <a:cubicBezTo>
                    <a:pt x="88900" y="11130525"/>
                    <a:pt x="59690" y="11101315"/>
                    <a:pt x="59690" y="11065755"/>
                  </a:cubicBezTo>
                  <a:lnTo>
                    <a:pt x="59690" y="124460"/>
                  </a:lnTo>
                  <a:cubicBezTo>
                    <a:pt x="59690" y="88900"/>
                    <a:pt x="88900" y="59690"/>
                    <a:pt x="124460" y="59690"/>
                  </a:cubicBezTo>
                  <a:lnTo>
                    <a:pt x="13890005" y="59690"/>
                  </a:lnTo>
                  <a:moveTo>
                    <a:pt x="13890005" y="0"/>
                  </a:moveTo>
                  <a:lnTo>
                    <a:pt x="124460" y="0"/>
                  </a:lnTo>
                  <a:cubicBezTo>
                    <a:pt x="55880" y="0"/>
                    <a:pt x="0" y="55880"/>
                    <a:pt x="0" y="124460"/>
                  </a:cubicBezTo>
                  <a:lnTo>
                    <a:pt x="0" y="11065755"/>
                  </a:lnTo>
                  <a:cubicBezTo>
                    <a:pt x="0" y="11134335"/>
                    <a:pt x="55880" y="11190215"/>
                    <a:pt x="124460" y="11190215"/>
                  </a:cubicBezTo>
                  <a:lnTo>
                    <a:pt x="13890005" y="11190215"/>
                  </a:lnTo>
                  <a:cubicBezTo>
                    <a:pt x="13958585" y="11190215"/>
                    <a:pt x="14014464" y="11134335"/>
                    <a:pt x="14014464" y="11065755"/>
                  </a:cubicBezTo>
                  <a:lnTo>
                    <a:pt x="14014464" y="124460"/>
                  </a:lnTo>
                  <a:cubicBezTo>
                    <a:pt x="14014464" y="55880"/>
                    <a:pt x="13958585" y="0"/>
                    <a:pt x="13890005" y="0"/>
                  </a:cubicBezTo>
                  <a:close/>
                </a:path>
              </a:pathLst>
            </a:custGeom>
            <a:solidFill>
              <a:srgbClr val="000000"/>
            </a:solidFill>
          </p:spPr>
        </p:sp>
      </p:grpSp>
      <p:grpSp>
        <p:nvGrpSpPr>
          <p:cNvPr name="Group 5" id="5"/>
          <p:cNvGrpSpPr/>
          <p:nvPr/>
        </p:nvGrpSpPr>
        <p:grpSpPr>
          <a:xfrm rot="0">
            <a:off x="-55376" y="-192230"/>
            <a:ext cx="18398753" cy="2897951"/>
            <a:chOff x="0" y="0"/>
            <a:chExt cx="30993180" cy="4881675"/>
          </a:xfrm>
        </p:grpSpPr>
        <p:sp>
          <p:nvSpPr>
            <p:cNvPr name="Freeform 6" id="6"/>
            <p:cNvSpPr/>
            <p:nvPr/>
          </p:nvSpPr>
          <p:spPr>
            <a:xfrm>
              <a:off x="31750" y="31750"/>
              <a:ext cx="30929681" cy="4818175"/>
            </a:xfrm>
            <a:custGeom>
              <a:avLst/>
              <a:gdLst/>
              <a:ahLst/>
              <a:cxnLst/>
              <a:rect r="r" b="b" t="t" l="l"/>
              <a:pathLst>
                <a:path h="4818175" w="30929681">
                  <a:moveTo>
                    <a:pt x="30836970" y="4818175"/>
                  </a:moveTo>
                  <a:lnTo>
                    <a:pt x="92710" y="4818175"/>
                  </a:lnTo>
                  <a:cubicBezTo>
                    <a:pt x="41910" y="4818175"/>
                    <a:pt x="0" y="4776265"/>
                    <a:pt x="0" y="4725465"/>
                  </a:cubicBezTo>
                  <a:lnTo>
                    <a:pt x="0" y="92710"/>
                  </a:lnTo>
                  <a:cubicBezTo>
                    <a:pt x="0" y="41910"/>
                    <a:pt x="41910" y="0"/>
                    <a:pt x="92710" y="0"/>
                  </a:cubicBezTo>
                  <a:lnTo>
                    <a:pt x="30835699" y="0"/>
                  </a:lnTo>
                  <a:cubicBezTo>
                    <a:pt x="30886499" y="0"/>
                    <a:pt x="30928410" y="41910"/>
                    <a:pt x="30928410" y="92710"/>
                  </a:cubicBezTo>
                  <a:lnTo>
                    <a:pt x="30928410" y="4724195"/>
                  </a:lnTo>
                  <a:cubicBezTo>
                    <a:pt x="30929681" y="4776265"/>
                    <a:pt x="30887770" y="4818175"/>
                    <a:pt x="30836970" y="4818175"/>
                  </a:cubicBezTo>
                  <a:close/>
                </a:path>
              </a:pathLst>
            </a:custGeom>
            <a:solidFill>
              <a:srgbClr val="8EAFF1"/>
            </a:solidFill>
          </p:spPr>
        </p:sp>
        <p:sp>
          <p:nvSpPr>
            <p:cNvPr name="Freeform 7" id="7"/>
            <p:cNvSpPr/>
            <p:nvPr/>
          </p:nvSpPr>
          <p:spPr>
            <a:xfrm>
              <a:off x="0" y="0"/>
              <a:ext cx="30993181" cy="4881675"/>
            </a:xfrm>
            <a:custGeom>
              <a:avLst/>
              <a:gdLst/>
              <a:ahLst/>
              <a:cxnLst/>
              <a:rect r="r" b="b" t="t" l="l"/>
              <a:pathLst>
                <a:path h="4881675" w="30993181">
                  <a:moveTo>
                    <a:pt x="30868720" y="59690"/>
                  </a:moveTo>
                  <a:cubicBezTo>
                    <a:pt x="30904281" y="59690"/>
                    <a:pt x="30933492" y="88900"/>
                    <a:pt x="30933492" y="124460"/>
                  </a:cubicBezTo>
                  <a:lnTo>
                    <a:pt x="30933492" y="4757215"/>
                  </a:lnTo>
                  <a:cubicBezTo>
                    <a:pt x="30933492" y="4792775"/>
                    <a:pt x="30904281" y="4821985"/>
                    <a:pt x="30868720" y="4821985"/>
                  </a:cubicBezTo>
                  <a:lnTo>
                    <a:pt x="124460" y="4821985"/>
                  </a:lnTo>
                  <a:cubicBezTo>
                    <a:pt x="88900" y="4821985"/>
                    <a:pt x="59690" y="4792775"/>
                    <a:pt x="59690" y="4757215"/>
                  </a:cubicBezTo>
                  <a:lnTo>
                    <a:pt x="59690" y="124460"/>
                  </a:lnTo>
                  <a:cubicBezTo>
                    <a:pt x="59690" y="88900"/>
                    <a:pt x="88900" y="59690"/>
                    <a:pt x="124460" y="59690"/>
                  </a:cubicBezTo>
                  <a:lnTo>
                    <a:pt x="30868720" y="59690"/>
                  </a:lnTo>
                  <a:moveTo>
                    <a:pt x="30868720" y="0"/>
                  </a:moveTo>
                  <a:lnTo>
                    <a:pt x="124460" y="0"/>
                  </a:lnTo>
                  <a:cubicBezTo>
                    <a:pt x="55880" y="0"/>
                    <a:pt x="0" y="55880"/>
                    <a:pt x="0" y="124460"/>
                  </a:cubicBezTo>
                  <a:lnTo>
                    <a:pt x="0" y="4757215"/>
                  </a:lnTo>
                  <a:cubicBezTo>
                    <a:pt x="0" y="4825795"/>
                    <a:pt x="55880" y="4881675"/>
                    <a:pt x="124460" y="4881675"/>
                  </a:cubicBezTo>
                  <a:lnTo>
                    <a:pt x="30868720" y="4881675"/>
                  </a:lnTo>
                  <a:cubicBezTo>
                    <a:pt x="30937299" y="4881675"/>
                    <a:pt x="30993181" y="4825795"/>
                    <a:pt x="30993181" y="4757215"/>
                  </a:cubicBezTo>
                  <a:lnTo>
                    <a:pt x="30993181" y="124460"/>
                  </a:lnTo>
                  <a:cubicBezTo>
                    <a:pt x="30993181" y="55880"/>
                    <a:pt x="30937299" y="0"/>
                    <a:pt x="30868720" y="0"/>
                  </a:cubicBezTo>
                  <a:close/>
                </a:path>
              </a:pathLst>
            </a:custGeom>
            <a:solidFill>
              <a:srgbClr val="000000"/>
            </a:solidFill>
          </p:spPr>
        </p:sp>
      </p:grpSp>
      <p:sp>
        <p:nvSpPr>
          <p:cNvPr name="TextBox 8" id="8"/>
          <p:cNvSpPr txBox="true"/>
          <p:nvPr/>
        </p:nvSpPr>
        <p:spPr>
          <a:xfrm rot="0">
            <a:off x="894305" y="457621"/>
            <a:ext cx="16499389" cy="2028825"/>
          </a:xfrm>
          <a:prstGeom prst="rect">
            <a:avLst/>
          </a:prstGeom>
        </p:spPr>
        <p:txBody>
          <a:bodyPr anchor="t" rtlCol="false" tIns="0" lIns="0" bIns="0" rIns="0">
            <a:spAutoFit/>
          </a:bodyPr>
          <a:lstStyle/>
          <a:p>
            <a:pPr algn="ctr">
              <a:lnSpc>
                <a:spcPts val="8022"/>
              </a:lnSpc>
            </a:pPr>
            <a:r>
              <a:rPr lang="en-US" sz="6685">
                <a:solidFill>
                  <a:srgbClr val="000000"/>
                </a:solidFill>
                <a:latin typeface="Cyrillic Bodoni"/>
              </a:rPr>
              <a:t>ACCEPTABILITY OF BIOPLASTIC OUT OF CALAMANSI </a:t>
            </a:r>
            <a:r>
              <a:rPr lang="en-US" sz="6685">
                <a:solidFill>
                  <a:srgbClr val="000000"/>
                </a:solidFill>
                <a:latin typeface="Cyrillic Bodoni Italics"/>
              </a:rPr>
              <a:t>(                                )</a:t>
            </a:r>
            <a:r>
              <a:rPr lang="en-US" sz="6685">
                <a:solidFill>
                  <a:srgbClr val="000000"/>
                </a:solidFill>
                <a:latin typeface="Cyrillic Bodoni"/>
              </a:rPr>
              <a:t> PEELS</a:t>
            </a:r>
          </a:p>
        </p:txBody>
      </p:sp>
      <p:sp>
        <p:nvSpPr>
          <p:cNvPr name="TextBox 9" id="9"/>
          <p:cNvSpPr txBox="true"/>
          <p:nvPr/>
        </p:nvSpPr>
        <p:spPr>
          <a:xfrm rot="0">
            <a:off x="441865" y="3003944"/>
            <a:ext cx="7326840" cy="892176"/>
          </a:xfrm>
          <a:prstGeom prst="rect">
            <a:avLst/>
          </a:prstGeom>
        </p:spPr>
        <p:txBody>
          <a:bodyPr anchor="t" rtlCol="false" tIns="0" lIns="0" bIns="0" rIns="0">
            <a:spAutoFit/>
          </a:bodyPr>
          <a:lstStyle/>
          <a:p>
            <a:pPr>
              <a:lnSpc>
                <a:spcPts val="7149"/>
              </a:lnSpc>
            </a:pPr>
            <a:r>
              <a:rPr lang="en-US" sz="5499">
                <a:solidFill>
                  <a:srgbClr val="000000"/>
                </a:solidFill>
                <a:latin typeface="Cyrillic Bodoni"/>
              </a:rPr>
              <a:t>Statement of the Problem </a:t>
            </a:r>
          </a:p>
        </p:txBody>
      </p:sp>
      <p:sp>
        <p:nvSpPr>
          <p:cNvPr name="TextBox 10" id="10"/>
          <p:cNvSpPr txBox="true"/>
          <p:nvPr/>
        </p:nvSpPr>
        <p:spPr>
          <a:xfrm rot="0">
            <a:off x="8676432" y="2924796"/>
            <a:ext cx="7737455" cy="2143125"/>
          </a:xfrm>
          <a:prstGeom prst="rect">
            <a:avLst/>
          </a:prstGeom>
        </p:spPr>
        <p:txBody>
          <a:bodyPr anchor="t" rtlCol="false" tIns="0" lIns="0" bIns="0" rIns="0">
            <a:spAutoFit/>
          </a:bodyPr>
          <a:lstStyle/>
          <a:p>
            <a:pPr>
              <a:lnSpc>
                <a:spcPts val="5639"/>
              </a:lnSpc>
            </a:pPr>
            <a:r>
              <a:rPr lang="en-US" sz="4699">
                <a:solidFill>
                  <a:srgbClr val="000000"/>
                </a:solidFill>
                <a:latin typeface="Cyrillic Bodoni Bold Italics"/>
              </a:rPr>
              <a:t>General Objective:</a:t>
            </a:r>
          </a:p>
          <a:p>
            <a:pPr algn="l" marL="0" indent="0" lvl="0">
              <a:lnSpc>
                <a:spcPts val="5639"/>
              </a:lnSpc>
              <a:spcBef>
                <a:spcPct val="0"/>
              </a:spcBef>
            </a:pPr>
            <a:r>
              <a:rPr lang="en-US" sz="4699">
                <a:solidFill>
                  <a:srgbClr val="000000"/>
                </a:solidFill>
                <a:latin typeface="Cyrillic Bodoni Bold Italics"/>
              </a:rPr>
              <a:t>To reduce the pollution of non-biodegradable plastic.</a:t>
            </a:r>
          </a:p>
        </p:txBody>
      </p:sp>
      <p:sp>
        <p:nvSpPr>
          <p:cNvPr name="TextBox 11" id="11"/>
          <p:cNvSpPr txBox="true"/>
          <p:nvPr/>
        </p:nvSpPr>
        <p:spPr>
          <a:xfrm rot="0">
            <a:off x="441865" y="3972500"/>
            <a:ext cx="7581810" cy="6656233"/>
          </a:xfrm>
          <a:prstGeom prst="rect">
            <a:avLst/>
          </a:prstGeom>
        </p:spPr>
        <p:txBody>
          <a:bodyPr anchor="t" rtlCol="false" tIns="0" lIns="0" bIns="0" rIns="0">
            <a:spAutoFit/>
          </a:bodyPr>
          <a:lstStyle/>
          <a:p>
            <a:pPr>
              <a:lnSpc>
                <a:spcPts val="5871"/>
              </a:lnSpc>
            </a:pPr>
            <a:r>
              <a:rPr lang="en-US" sz="4193">
                <a:solidFill>
                  <a:srgbClr val="000000"/>
                </a:solidFill>
                <a:latin typeface="Canva Sans Bold"/>
              </a:rPr>
              <a:t>The study focuses on the production on of Calamansi Peels as bioplastic. The research aims to answer of the following:</a:t>
            </a:r>
          </a:p>
          <a:p>
            <a:pPr>
              <a:lnSpc>
                <a:spcPts val="5871"/>
              </a:lnSpc>
            </a:pPr>
            <a:r>
              <a:rPr lang="en-US" sz="4193">
                <a:solidFill>
                  <a:srgbClr val="000000"/>
                </a:solidFill>
                <a:latin typeface="Canva Sans Bold"/>
              </a:rPr>
              <a:t>1. Durability;</a:t>
            </a:r>
          </a:p>
          <a:p>
            <a:pPr>
              <a:lnSpc>
                <a:spcPts val="5871"/>
              </a:lnSpc>
            </a:pPr>
            <a:r>
              <a:rPr lang="en-US" sz="4193">
                <a:solidFill>
                  <a:srgbClr val="000000"/>
                </a:solidFill>
                <a:latin typeface="Canva Sans Bold"/>
              </a:rPr>
              <a:t>2. Heat Resistance;</a:t>
            </a:r>
          </a:p>
          <a:p>
            <a:pPr>
              <a:lnSpc>
                <a:spcPts val="5871"/>
              </a:lnSpc>
            </a:pPr>
            <a:r>
              <a:rPr lang="en-US" sz="4193">
                <a:solidFill>
                  <a:srgbClr val="000000"/>
                </a:solidFill>
                <a:latin typeface="Canva Sans Bold"/>
              </a:rPr>
              <a:t>3. Flexibility;</a:t>
            </a:r>
          </a:p>
          <a:p>
            <a:pPr algn="ctr">
              <a:lnSpc>
                <a:spcPts val="5871"/>
              </a:lnSpc>
            </a:pPr>
          </a:p>
        </p:txBody>
      </p:sp>
      <p:sp>
        <p:nvSpPr>
          <p:cNvPr name="TextBox 12" id="12"/>
          <p:cNvSpPr txBox="true"/>
          <p:nvPr/>
        </p:nvSpPr>
        <p:spPr>
          <a:xfrm rot="0">
            <a:off x="8676432" y="5207968"/>
            <a:ext cx="9514432" cy="5257800"/>
          </a:xfrm>
          <a:prstGeom prst="rect">
            <a:avLst/>
          </a:prstGeom>
        </p:spPr>
        <p:txBody>
          <a:bodyPr anchor="t" rtlCol="false" tIns="0" lIns="0" bIns="0" rIns="0">
            <a:spAutoFit/>
          </a:bodyPr>
          <a:lstStyle/>
          <a:p>
            <a:pPr>
              <a:lnSpc>
                <a:spcPts val="5239"/>
              </a:lnSpc>
            </a:pPr>
            <a:r>
              <a:rPr lang="en-US" sz="4366">
                <a:solidFill>
                  <a:srgbClr val="000000"/>
                </a:solidFill>
                <a:latin typeface="Cyrillic Bodoni Bold Italics"/>
              </a:rPr>
              <a:t>Specific Objectives:</a:t>
            </a:r>
          </a:p>
          <a:p>
            <a:pPr>
              <a:lnSpc>
                <a:spcPts val="5239"/>
              </a:lnSpc>
            </a:pPr>
            <a:r>
              <a:rPr lang="en-US" sz="4366">
                <a:solidFill>
                  <a:srgbClr val="000000"/>
                </a:solidFill>
                <a:latin typeface="Cyrillic Bodoni Bold Italics"/>
              </a:rPr>
              <a:t>Ø Encourage people on using calamansi peels as bioplastic.</a:t>
            </a:r>
          </a:p>
          <a:p>
            <a:pPr>
              <a:lnSpc>
                <a:spcPts val="5239"/>
              </a:lnSpc>
            </a:pPr>
            <a:r>
              <a:rPr lang="en-US" sz="4366">
                <a:solidFill>
                  <a:srgbClr val="000000"/>
                </a:solidFill>
                <a:latin typeface="Cyrillic Bodoni Bold Italics"/>
              </a:rPr>
              <a:t>Ø To know if calamansi peels can be accepted as bioplastic.</a:t>
            </a:r>
          </a:p>
          <a:p>
            <a:pPr>
              <a:lnSpc>
                <a:spcPts val="5239"/>
              </a:lnSpc>
            </a:pPr>
            <a:r>
              <a:rPr lang="en-US" sz="4366">
                <a:solidFill>
                  <a:srgbClr val="000000"/>
                </a:solidFill>
                <a:latin typeface="Cyrillic Bodoni Bold Italics"/>
              </a:rPr>
              <a:t>Ø To test if calamansi peels are effective to make bioplastic.</a:t>
            </a:r>
          </a:p>
          <a:p>
            <a:pPr algn="l" marL="0" indent="0" lvl="0">
              <a:lnSpc>
                <a:spcPts val="5239"/>
              </a:lnSpc>
              <a:spcBef>
                <a:spcPct val="0"/>
              </a:spcBef>
            </a:pPr>
          </a:p>
        </p:txBody>
      </p:sp>
      <p:sp>
        <p:nvSpPr>
          <p:cNvPr name="TextBox 13" id="13"/>
          <p:cNvSpPr txBox="true"/>
          <p:nvPr/>
        </p:nvSpPr>
        <p:spPr>
          <a:xfrm rot="0">
            <a:off x="1843987" y="1343446"/>
            <a:ext cx="16499389" cy="1144524"/>
          </a:xfrm>
          <a:prstGeom prst="rect">
            <a:avLst/>
          </a:prstGeom>
        </p:spPr>
        <p:txBody>
          <a:bodyPr anchor="t" rtlCol="false" tIns="0" lIns="0" bIns="0" rIns="0">
            <a:spAutoFit/>
          </a:bodyPr>
          <a:lstStyle/>
          <a:p>
            <a:pPr algn="ctr">
              <a:lnSpc>
                <a:spcPts val="9366"/>
              </a:lnSpc>
            </a:pPr>
            <a:r>
              <a:rPr lang="en-US" sz="6690">
                <a:solidFill>
                  <a:srgbClr val="000000"/>
                </a:solidFill>
                <a:latin typeface="Cyrillic Bodoni Italics"/>
              </a:rPr>
              <a:t>Citrus microcarpa</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90753" y="-190654"/>
            <a:ext cx="18697372" cy="2741653"/>
            <a:chOff x="0" y="0"/>
            <a:chExt cx="32021606" cy="4695425"/>
          </a:xfrm>
        </p:grpSpPr>
        <p:sp>
          <p:nvSpPr>
            <p:cNvPr name="Freeform 3" id="3"/>
            <p:cNvSpPr/>
            <p:nvPr/>
          </p:nvSpPr>
          <p:spPr>
            <a:xfrm>
              <a:off x="31750" y="31750"/>
              <a:ext cx="31958105" cy="4631925"/>
            </a:xfrm>
            <a:custGeom>
              <a:avLst/>
              <a:gdLst/>
              <a:ahLst/>
              <a:cxnLst/>
              <a:rect r="r" b="b" t="t" l="l"/>
              <a:pathLst>
                <a:path h="4631925" w="31958105">
                  <a:moveTo>
                    <a:pt x="31865395" y="4631925"/>
                  </a:moveTo>
                  <a:lnTo>
                    <a:pt x="92710" y="4631925"/>
                  </a:lnTo>
                  <a:cubicBezTo>
                    <a:pt x="41910" y="4631925"/>
                    <a:pt x="0" y="4590016"/>
                    <a:pt x="0" y="4539216"/>
                  </a:cubicBezTo>
                  <a:lnTo>
                    <a:pt x="0" y="92710"/>
                  </a:lnTo>
                  <a:cubicBezTo>
                    <a:pt x="0" y="41910"/>
                    <a:pt x="41910" y="0"/>
                    <a:pt x="92710" y="0"/>
                  </a:cubicBezTo>
                  <a:lnTo>
                    <a:pt x="31864126" y="0"/>
                  </a:lnTo>
                  <a:cubicBezTo>
                    <a:pt x="31914926" y="0"/>
                    <a:pt x="31956837" y="41910"/>
                    <a:pt x="31956837" y="92710"/>
                  </a:cubicBezTo>
                  <a:lnTo>
                    <a:pt x="31956837" y="4537945"/>
                  </a:lnTo>
                  <a:cubicBezTo>
                    <a:pt x="31958105" y="4590016"/>
                    <a:pt x="31916195" y="4631925"/>
                    <a:pt x="31865395" y="4631925"/>
                  </a:cubicBezTo>
                  <a:close/>
                </a:path>
              </a:pathLst>
            </a:custGeom>
            <a:solidFill>
              <a:srgbClr val="8EAFF1"/>
            </a:solidFill>
          </p:spPr>
        </p:sp>
        <p:sp>
          <p:nvSpPr>
            <p:cNvPr name="Freeform 4" id="4"/>
            <p:cNvSpPr/>
            <p:nvPr/>
          </p:nvSpPr>
          <p:spPr>
            <a:xfrm>
              <a:off x="0" y="0"/>
              <a:ext cx="32021605" cy="4695425"/>
            </a:xfrm>
            <a:custGeom>
              <a:avLst/>
              <a:gdLst/>
              <a:ahLst/>
              <a:cxnLst/>
              <a:rect r="r" b="b" t="t" l="l"/>
              <a:pathLst>
                <a:path h="4695425" w="32021605">
                  <a:moveTo>
                    <a:pt x="31897145" y="59690"/>
                  </a:moveTo>
                  <a:cubicBezTo>
                    <a:pt x="31932705" y="59690"/>
                    <a:pt x="31961916" y="88900"/>
                    <a:pt x="31961916" y="124460"/>
                  </a:cubicBezTo>
                  <a:lnTo>
                    <a:pt x="31961916" y="4570966"/>
                  </a:lnTo>
                  <a:cubicBezTo>
                    <a:pt x="31961916" y="4606525"/>
                    <a:pt x="31932705" y="4635736"/>
                    <a:pt x="31897145" y="4635736"/>
                  </a:cubicBezTo>
                  <a:lnTo>
                    <a:pt x="124460" y="4635736"/>
                  </a:lnTo>
                  <a:cubicBezTo>
                    <a:pt x="88900" y="4635736"/>
                    <a:pt x="59690" y="4606525"/>
                    <a:pt x="59690" y="4570966"/>
                  </a:cubicBezTo>
                  <a:lnTo>
                    <a:pt x="59690" y="124460"/>
                  </a:lnTo>
                  <a:cubicBezTo>
                    <a:pt x="59690" y="88900"/>
                    <a:pt x="88900" y="59690"/>
                    <a:pt x="124460" y="59690"/>
                  </a:cubicBezTo>
                  <a:lnTo>
                    <a:pt x="31897145" y="59690"/>
                  </a:lnTo>
                  <a:moveTo>
                    <a:pt x="31897145" y="0"/>
                  </a:moveTo>
                  <a:lnTo>
                    <a:pt x="124460" y="0"/>
                  </a:lnTo>
                  <a:cubicBezTo>
                    <a:pt x="55880" y="0"/>
                    <a:pt x="0" y="55880"/>
                    <a:pt x="0" y="124460"/>
                  </a:cubicBezTo>
                  <a:lnTo>
                    <a:pt x="0" y="4570966"/>
                  </a:lnTo>
                  <a:cubicBezTo>
                    <a:pt x="0" y="4639545"/>
                    <a:pt x="55880" y="4695425"/>
                    <a:pt x="124460" y="4695425"/>
                  </a:cubicBezTo>
                  <a:lnTo>
                    <a:pt x="31897145" y="4695425"/>
                  </a:lnTo>
                  <a:cubicBezTo>
                    <a:pt x="31965726" y="4695425"/>
                    <a:pt x="32021605" y="4639545"/>
                    <a:pt x="32021605" y="4570966"/>
                  </a:cubicBezTo>
                  <a:lnTo>
                    <a:pt x="32021605" y="124460"/>
                  </a:lnTo>
                  <a:cubicBezTo>
                    <a:pt x="32021605" y="55880"/>
                    <a:pt x="31965726" y="0"/>
                    <a:pt x="31897145" y="0"/>
                  </a:cubicBezTo>
                  <a:close/>
                </a:path>
              </a:pathLst>
            </a:custGeom>
            <a:solidFill>
              <a:srgbClr val="000000"/>
            </a:solidFill>
          </p:spPr>
        </p:sp>
      </p:grpSp>
      <p:grpSp>
        <p:nvGrpSpPr>
          <p:cNvPr name="Group 5" id="5"/>
          <p:cNvGrpSpPr/>
          <p:nvPr/>
        </p:nvGrpSpPr>
        <p:grpSpPr>
          <a:xfrm rot="0">
            <a:off x="-290753" y="8959850"/>
            <a:ext cx="18697372" cy="1474862"/>
            <a:chOff x="0" y="0"/>
            <a:chExt cx="32021606" cy="2525887"/>
          </a:xfrm>
        </p:grpSpPr>
        <p:sp>
          <p:nvSpPr>
            <p:cNvPr name="Freeform 6" id="6"/>
            <p:cNvSpPr/>
            <p:nvPr/>
          </p:nvSpPr>
          <p:spPr>
            <a:xfrm>
              <a:off x="31750" y="31750"/>
              <a:ext cx="31958105" cy="2462387"/>
            </a:xfrm>
            <a:custGeom>
              <a:avLst/>
              <a:gdLst/>
              <a:ahLst/>
              <a:cxnLst/>
              <a:rect r="r" b="b" t="t" l="l"/>
              <a:pathLst>
                <a:path h="2462387" w="31958105">
                  <a:moveTo>
                    <a:pt x="31865395" y="2462387"/>
                  </a:moveTo>
                  <a:lnTo>
                    <a:pt x="92710" y="2462387"/>
                  </a:lnTo>
                  <a:cubicBezTo>
                    <a:pt x="41910" y="2462387"/>
                    <a:pt x="0" y="2420477"/>
                    <a:pt x="0" y="2369677"/>
                  </a:cubicBezTo>
                  <a:lnTo>
                    <a:pt x="0" y="92710"/>
                  </a:lnTo>
                  <a:cubicBezTo>
                    <a:pt x="0" y="41910"/>
                    <a:pt x="41910" y="0"/>
                    <a:pt x="92710" y="0"/>
                  </a:cubicBezTo>
                  <a:lnTo>
                    <a:pt x="31864126" y="0"/>
                  </a:lnTo>
                  <a:cubicBezTo>
                    <a:pt x="31914926" y="0"/>
                    <a:pt x="31956837" y="41910"/>
                    <a:pt x="31956837" y="92710"/>
                  </a:cubicBezTo>
                  <a:lnTo>
                    <a:pt x="31956837" y="2368407"/>
                  </a:lnTo>
                  <a:cubicBezTo>
                    <a:pt x="31958105" y="2420477"/>
                    <a:pt x="31916195" y="2462387"/>
                    <a:pt x="31865395" y="2462387"/>
                  </a:cubicBezTo>
                  <a:close/>
                </a:path>
              </a:pathLst>
            </a:custGeom>
            <a:solidFill>
              <a:srgbClr val="A4EFC1"/>
            </a:solidFill>
          </p:spPr>
        </p:sp>
        <p:sp>
          <p:nvSpPr>
            <p:cNvPr name="Freeform 7" id="7"/>
            <p:cNvSpPr/>
            <p:nvPr/>
          </p:nvSpPr>
          <p:spPr>
            <a:xfrm>
              <a:off x="0" y="0"/>
              <a:ext cx="32021605" cy="2525887"/>
            </a:xfrm>
            <a:custGeom>
              <a:avLst/>
              <a:gdLst/>
              <a:ahLst/>
              <a:cxnLst/>
              <a:rect r="r" b="b" t="t" l="l"/>
              <a:pathLst>
                <a:path h="2525887" w="32021605">
                  <a:moveTo>
                    <a:pt x="31897145" y="59690"/>
                  </a:moveTo>
                  <a:cubicBezTo>
                    <a:pt x="31932705" y="59690"/>
                    <a:pt x="31961916" y="88900"/>
                    <a:pt x="31961916" y="124460"/>
                  </a:cubicBezTo>
                  <a:lnTo>
                    <a:pt x="31961916" y="2401427"/>
                  </a:lnTo>
                  <a:cubicBezTo>
                    <a:pt x="31961916" y="2436987"/>
                    <a:pt x="31932705" y="2466197"/>
                    <a:pt x="31897145" y="2466197"/>
                  </a:cubicBezTo>
                  <a:lnTo>
                    <a:pt x="124460" y="2466197"/>
                  </a:lnTo>
                  <a:cubicBezTo>
                    <a:pt x="88900" y="2466197"/>
                    <a:pt x="59690" y="2436987"/>
                    <a:pt x="59690" y="2401427"/>
                  </a:cubicBezTo>
                  <a:lnTo>
                    <a:pt x="59690" y="124460"/>
                  </a:lnTo>
                  <a:cubicBezTo>
                    <a:pt x="59690" y="88900"/>
                    <a:pt x="88900" y="59690"/>
                    <a:pt x="124460" y="59690"/>
                  </a:cubicBezTo>
                  <a:lnTo>
                    <a:pt x="31897145" y="59690"/>
                  </a:lnTo>
                  <a:moveTo>
                    <a:pt x="31897145" y="0"/>
                  </a:moveTo>
                  <a:lnTo>
                    <a:pt x="124460" y="0"/>
                  </a:lnTo>
                  <a:cubicBezTo>
                    <a:pt x="55880" y="0"/>
                    <a:pt x="0" y="55880"/>
                    <a:pt x="0" y="124460"/>
                  </a:cubicBezTo>
                  <a:lnTo>
                    <a:pt x="0" y="2401427"/>
                  </a:lnTo>
                  <a:cubicBezTo>
                    <a:pt x="0" y="2470007"/>
                    <a:pt x="55880" y="2525887"/>
                    <a:pt x="124460" y="2525887"/>
                  </a:cubicBezTo>
                  <a:lnTo>
                    <a:pt x="31897145" y="2525887"/>
                  </a:lnTo>
                  <a:cubicBezTo>
                    <a:pt x="31965726" y="2525887"/>
                    <a:pt x="32021605" y="2470007"/>
                    <a:pt x="32021605" y="2401427"/>
                  </a:cubicBezTo>
                  <a:lnTo>
                    <a:pt x="32021605" y="124460"/>
                  </a:lnTo>
                  <a:cubicBezTo>
                    <a:pt x="32021605" y="55880"/>
                    <a:pt x="31965726" y="0"/>
                    <a:pt x="31897145" y="0"/>
                  </a:cubicBezTo>
                  <a:close/>
                </a:path>
              </a:pathLst>
            </a:custGeom>
            <a:solidFill>
              <a:srgbClr val="000000"/>
            </a:solidFill>
          </p:spPr>
        </p:sp>
      </p:grpSp>
      <p:sp>
        <p:nvSpPr>
          <p:cNvPr name="AutoShape 8" id="8"/>
          <p:cNvSpPr/>
          <p:nvPr/>
        </p:nvSpPr>
        <p:spPr>
          <a:xfrm rot="5400000">
            <a:off x="2877287" y="5741137"/>
            <a:ext cx="6408851" cy="0"/>
          </a:xfrm>
          <a:prstGeom prst="line">
            <a:avLst/>
          </a:prstGeom>
          <a:ln cap="flat" w="28575">
            <a:solidFill>
              <a:srgbClr val="000000"/>
            </a:solidFill>
            <a:prstDash val="solid"/>
            <a:headEnd type="none" len="sm" w="sm"/>
            <a:tailEnd type="none" len="sm" w="sm"/>
          </a:ln>
        </p:spPr>
      </p:sp>
      <p:sp>
        <p:nvSpPr>
          <p:cNvPr name="AutoShape 9" id="9"/>
          <p:cNvSpPr/>
          <p:nvPr/>
        </p:nvSpPr>
        <p:spPr>
          <a:xfrm rot="5400000">
            <a:off x="9001862" y="5741137"/>
            <a:ext cx="6408851" cy="0"/>
          </a:xfrm>
          <a:prstGeom prst="line">
            <a:avLst/>
          </a:prstGeom>
          <a:ln cap="flat" w="28575">
            <a:solidFill>
              <a:srgbClr val="000000"/>
            </a:solidFill>
            <a:prstDash val="solid"/>
            <a:headEnd type="none" len="sm" w="sm"/>
            <a:tailEnd type="none" len="sm" w="sm"/>
          </a:ln>
        </p:spPr>
      </p:sp>
      <p:sp>
        <p:nvSpPr>
          <p:cNvPr name="TextBox 10" id="10"/>
          <p:cNvSpPr txBox="true"/>
          <p:nvPr/>
        </p:nvSpPr>
        <p:spPr>
          <a:xfrm rot="0">
            <a:off x="1028700" y="1028700"/>
            <a:ext cx="16230600" cy="1219200"/>
          </a:xfrm>
          <a:prstGeom prst="rect">
            <a:avLst/>
          </a:prstGeom>
        </p:spPr>
        <p:txBody>
          <a:bodyPr anchor="t" rtlCol="false" tIns="0" lIns="0" bIns="0" rIns="0">
            <a:spAutoFit/>
          </a:bodyPr>
          <a:lstStyle/>
          <a:p>
            <a:pPr>
              <a:lnSpc>
                <a:spcPts val="9600"/>
              </a:lnSpc>
            </a:pPr>
            <a:r>
              <a:rPr lang="en-US" sz="8000">
                <a:solidFill>
                  <a:srgbClr val="000000"/>
                </a:solidFill>
                <a:latin typeface="Cyrillic Bodoni Italics"/>
              </a:rPr>
              <a:t>HYPOTHESIS</a:t>
            </a:r>
          </a:p>
        </p:txBody>
      </p:sp>
      <p:sp>
        <p:nvSpPr>
          <p:cNvPr name="TextBox 11" id="11"/>
          <p:cNvSpPr txBox="true"/>
          <p:nvPr/>
        </p:nvSpPr>
        <p:spPr>
          <a:xfrm rot="0">
            <a:off x="410753" y="2956776"/>
            <a:ext cx="5656672" cy="6301524"/>
          </a:xfrm>
          <a:prstGeom prst="rect">
            <a:avLst/>
          </a:prstGeom>
        </p:spPr>
        <p:txBody>
          <a:bodyPr anchor="t" rtlCol="false" tIns="0" lIns="0" bIns="0" rIns="0">
            <a:spAutoFit/>
          </a:bodyPr>
          <a:lstStyle/>
          <a:p>
            <a:pPr>
              <a:lnSpc>
                <a:spcPts val="6239"/>
              </a:lnSpc>
            </a:pPr>
            <a:r>
              <a:rPr lang="en-US" sz="4799">
                <a:solidFill>
                  <a:srgbClr val="000000"/>
                </a:solidFill>
                <a:latin typeface="Cyrillic Bodoni"/>
              </a:rPr>
              <a:t> This study is based on the following null and alternative hypothesis according to the statement of the problem, the hypotheses are:</a:t>
            </a:r>
          </a:p>
          <a:p>
            <a:pPr marL="0" indent="0" lvl="0">
              <a:lnSpc>
                <a:spcPts val="6239"/>
              </a:lnSpc>
            </a:pPr>
          </a:p>
        </p:txBody>
      </p:sp>
      <p:grpSp>
        <p:nvGrpSpPr>
          <p:cNvPr name="Group 12" id="12"/>
          <p:cNvGrpSpPr/>
          <p:nvPr/>
        </p:nvGrpSpPr>
        <p:grpSpPr>
          <a:xfrm rot="0">
            <a:off x="6455031" y="2894542"/>
            <a:ext cx="5377939" cy="5721765"/>
            <a:chOff x="0" y="0"/>
            <a:chExt cx="7170585" cy="7629020"/>
          </a:xfrm>
        </p:grpSpPr>
        <p:sp>
          <p:nvSpPr>
            <p:cNvPr name="TextBox 13" id="13"/>
            <p:cNvSpPr txBox="true"/>
            <p:nvPr/>
          </p:nvSpPr>
          <p:spPr>
            <a:xfrm rot="0">
              <a:off x="0" y="-57150"/>
              <a:ext cx="7170585" cy="1276168"/>
            </a:xfrm>
            <a:prstGeom prst="rect">
              <a:avLst/>
            </a:prstGeom>
          </p:spPr>
          <p:txBody>
            <a:bodyPr anchor="t" rtlCol="false" tIns="0" lIns="0" bIns="0" rIns="0">
              <a:spAutoFit/>
            </a:bodyPr>
            <a:lstStyle/>
            <a:p>
              <a:pPr marL="0" indent="0" lvl="0">
                <a:lnSpc>
                  <a:spcPts val="7805"/>
                </a:lnSpc>
                <a:spcBef>
                  <a:spcPct val="0"/>
                </a:spcBef>
              </a:pPr>
              <a:r>
                <a:rPr lang="en-US" sz="6004">
                  <a:solidFill>
                    <a:srgbClr val="000000"/>
                  </a:solidFill>
                  <a:latin typeface="Cyrillic Bodoni"/>
                </a:rPr>
                <a:t>Null Hypothesis</a:t>
              </a:r>
            </a:p>
          </p:txBody>
        </p:sp>
        <p:sp>
          <p:nvSpPr>
            <p:cNvPr name="TextBox 14" id="14"/>
            <p:cNvSpPr txBox="true"/>
            <p:nvPr/>
          </p:nvSpPr>
          <p:spPr>
            <a:xfrm rot="0">
              <a:off x="0" y="1440683"/>
              <a:ext cx="7170585" cy="6188338"/>
            </a:xfrm>
            <a:prstGeom prst="rect">
              <a:avLst/>
            </a:prstGeom>
          </p:spPr>
          <p:txBody>
            <a:bodyPr anchor="t" rtlCol="false" tIns="0" lIns="0" bIns="0" rIns="0">
              <a:spAutoFit/>
            </a:bodyPr>
            <a:lstStyle/>
            <a:p>
              <a:pPr>
                <a:lnSpc>
                  <a:spcPts val="6073"/>
                </a:lnSpc>
              </a:pPr>
              <a:r>
                <a:rPr lang="en-US" sz="4671">
                  <a:solidFill>
                    <a:srgbClr val="000000"/>
                  </a:solidFill>
                  <a:latin typeface="Cooper Hewitt"/>
                </a:rPr>
                <a:t> Calamansi (</a:t>
              </a:r>
              <a:r>
                <a:rPr lang="en-US" sz="4671">
                  <a:solidFill>
                    <a:srgbClr val="000000"/>
                  </a:solidFill>
                  <a:latin typeface="Cooper Hewitt Italics"/>
                </a:rPr>
                <a:t>Citrus</a:t>
              </a:r>
              <a:r>
                <a:rPr lang="en-US" sz="4671">
                  <a:solidFill>
                    <a:srgbClr val="000000"/>
                  </a:solidFill>
                  <a:latin typeface="Cooper Hewitt"/>
                </a:rPr>
                <a:t> </a:t>
              </a:r>
              <a:r>
                <a:rPr lang="en-US" sz="4671">
                  <a:solidFill>
                    <a:srgbClr val="000000"/>
                  </a:solidFill>
                  <a:latin typeface="Cooper Hewitt Italics"/>
                </a:rPr>
                <a:t>microcarpa</a:t>
              </a:r>
              <a:r>
                <a:rPr lang="en-US" sz="4671">
                  <a:solidFill>
                    <a:srgbClr val="000000"/>
                  </a:solidFill>
                  <a:latin typeface="Cooper Hewitt"/>
                </a:rPr>
                <a:t>) peels has no</a:t>
              </a:r>
            </a:p>
            <a:p>
              <a:pPr>
                <a:lnSpc>
                  <a:spcPts val="6073"/>
                </a:lnSpc>
              </a:pPr>
              <a:r>
                <a:rPr lang="en-US" sz="4671">
                  <a:solidFill>
                    <a:srgbClr val="000000"/>
                  </a:solidFill>
                  <a:latin typeface="Cooper Hewitt"/>
                </a:rPr>
                <a:t>significant effect as bioplastic.</a:t>
              </a:r>
            </a:p>
            <a:p>
              <a:pPr marL="0" indent="0" lvl="0">
                <a:lnSpc>
                  <a:spcPts val="6073"/>
                </a:lnSpc>
              </a:pPr>
            </a:p>
          </p:txBody>
        </p:sp>
      </p:grpSp>
      <p:grpSp>
        <p:nvGrpSpPr>
          <p:cNvPr name="Group 15" id="15"/>
          <p:cNvGrpSpPr/>
          <p:nvPr/>
        </p:nvGrpSpPr>
        <p:grpSpPr>
          <a:xfrm rot="0">
            <a:off x="12463906" y="2894542"/>
            <a:ext cx="5824094" cy="5501420"/>
            <a:chOff x="0" y="0"/>
            <a:chExt cx="7765459" cy="7335227"/>
          </a:xfrm>
        </p:grpSpPr>
        <p:sp>
          <p:nvSpPr>
            <p:cNvPr name="TextBox 16" id="16"/>
            <p:cNvSpPr txBox="true"/>
            <p:nvPr/>
          </p:nvSpPr>
          <p:spPr>
            <a:xfrm rot="0">
              <a:off x="0" y="-38100"/>
              <a:ext cx="7765459" cy="963324"/>
            </a:xfrm>
            <a:prstGeom prst="rect">
              <a:avLst/>
            </a:prstGeom>
          </p:spPr>
          <p:txBody>
            <a:bodyPr anchor="t" rtlCol="false" tIns="0" lIns="0" bIns="0" rIns="0">
              <a:spAutoFit/>
            </a:bodyPr>
            <a:lstStyle/>
            <a:p>
              <a:pPr algn="l" marL="0" indent="0" lvl="0">
                <a:lnSpc>
                  <a:spcPts val="5985"/>
                </a:lnSpc>
                <a:spcBef>
                  <a:spcPct val="0"/>
                </a:spcBef>
              </a:pPr>
              <a:r>
                <a:rPr lang="en-US" sz="4604">
                  <a:solidFill>
                    <a:srgbClr val="000000"/>
                  </a:solidFill>
                  <a:latin typeface="Cyrillic Bodoni Bold"/>
                </a:rPr>
                <a:t>Alternative </a:t>
              </a:r>
              <a:r>
                <a:rPr lang="en-US" sz="4604">
                  <a:solidFill>
                    <a:srgbClr val="000000"/>
                  </a:solidFill>
                  <a:latin typeface="Cyrillic Bodoni Bold"/>
                </a:rPr>
                <a:t>Hypothesis</a:t>
              </a:r>
            </a:p>
          </p:txBody>
        </p:sp>
        <p:sp>
          <p:nvSpPr>
            <p:cNvPr name="TextBox 17" id="17"/>
            <p:cNvSpPr txBox="true"/>
            <p:nvPr/>
          </p:nvSpPr>
          <p:spPr>
            <a:xfrm rot="0">
              <a:off x="0" y="1146889"/>
              <a:ext cx="7765459" cy="6188338"/>
            </a:xfrm>
            <a:prstGeom prst="rect">
              <a:avLst/>
            </a:prstGeom>
          </p:spPr>
          <p:txBody>
            <a:bodyPr anchor="t" rtlCol="false" tIns="0" lIns="0" bIns="0" rIns="0">
              <a:spAutoFit/>
            </a:bodyPr>
            <a:lstStyle/>
            <a:p>
              <a:pPr>
                <a:lnSpc>
                  <a:spcPts val="6073"/>
                </a:lnSpc>
              </a:pPr>
              <a:r>
                <a:rPr lang="en-US" sz="4671">
                  <a:solidFill>
                    <a:srgbClr val="000000"/>
                  </a:solidFill>
                  <a:latin typeface="Cooper Hewitt"/>
                </a:rPr>
                <a:t>  Calamansi (Citrus microcarpa) peels</a:t>
              </a:r>
            </a:p>
            <a:p>
              <a:pPr>
                <a:lnSpc>
                  <a:spcPts val="6073"/>
                </a:lnSpc>
              </a:pPr>
              <a:r>
                <a:rPr lang="en-US" sz="4671">
                  <a:solidFill>
                    <a:srgbClr val="000000"/>
                  </a:solidFill>
                  <a:latin typeface="Cooper Hewitt"/>
                </a:rPr>
                <a:t>has significant effect on bioplastics.</a:t>
              </a:r>
            </a:p>
            <a:p>
              <a:pPr>
                <a:lnSpc>
                  <a:spcPts val="6073"/>
                </a:lnSpc>
              </a:pPr>
            </a:p>
            <a:p>
              <a:pPr marL="0" indent="0" lvl="0">
                <a:lnSpc>
                  <a:spcPts val="6073"/>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12500" r="0" b="12500"/>
          <a:stretch>
            <a:fillRect/>
          </a:stretch>
        </p:blipFill>
        <p:spPr>
          <a:xfrm>
            <a:off x="0" y="0"/>
            <a:ext cx="18288000" cy="10287000"/>
          </a:xfrm>
          <a:prstGeom prst="rect">
            <a:avLst/>
          </a:prstGeom>
        </p:spPr>
      </p:pic>
      <p:grpSp>
        <p:nvGrpSpPr>
          <p:cNvPr name="Group 3" id="3"/>
          <p:cNvGrpSpPr/>
          <p:nvPr/>
        </p:nvGrpSpPr>
        <p:grpSpPr>
          <a:xfrm rot="0">
            <a:off x="1413743" y="1059293"/>
            <a:ext cx="15288379" cy="8168414"/>
            <a:chOff x="0" y="0"/>
            <a:chExt cx="25753675" cy="13759907"/>
          </a:xfrm>
        </p:grpSpPr>
        <p:sp>
          <p:nvSpPr>
            <p:cNvPr name="Freeform 4" id="4"/>
            <p:cNvSpPr/>
            <p:nvPr/>
          </p:nvSpPr>
          <p:spPr>
            <a:xfrm>
              <a:off x="31750" y="31750"/>
              <a:ext cx="25690175" cy="13696407"/>
            </a:xfrm>
            <a:custGeom>
              <a:avLst/>
              <a:gdLst/>
              <a:ahLst/>
              <a:cxnLst/>
              <a:rect r="r" b="b" t="t" l="l"/>
              <a:pathLst>
                <a:path h="13696407" w="25690175">
                  <a:moveTo>
                    <a:pt x="25597465" y="13696407"/>
                  </a:moveTo>
                  <a:lnTo>
                    <a:pt x="92710" y="13696407"/>
                  </a:lnTo>
                  <a:cubicBezTo>
                    <a:pt x="41910" y="13696407"/>
                    <a:pt x="0" y="13654497"/>
                    <a:pt x="0" y="13603697"/>
                  </a:cubicBezTo>
                  <a:lnTo>
                    <a:pt x="0" y="92710"/>
                  </a:lnTo>
                  <a:cubicBezTo>
                    <a:pt x="0" y="41910"/>
                    <a:pt x="41910" y="0"/>
                    <a:pt x="92710" y="0"/>
                  </a:cubicBezTo>
                  <a:lnTo>
                    <a:pt x="25596196" y="0"/>
                  </a:lnTo>
                  <a:cubicBezTo>
                    <a:pt x="25646996" y="0"/>
                    <a:pt x="25688905" y="41910"/>
                    <a:pt x="25688905" y="92710"/>
                  </a:cubicBezTo>
                  <a:lnTo>
                    <a:pt x="25688905" y="13602427"/>
                  </a:lnTo>
                  <a:cubicBezTo>
                    <a:pt x="25690175" y="13654497"/>
                    <a:pt x="25648265" y="13696407"/>
                    <a:pt x="25597465" y="13696407"/>
                  </a:cubicBezTo>
                  <a:close/>
                </a:path>
              </a:pathLst>
            </a:custGeom>
            <a:solidFill>
              <a:srgbClr val="FFFFFF"/>
            </a:solidFill>
          </p:spPr>
        </p:sp>
        <p:sp>
          <p:nvSpPr>
            <p:cNvPr name="Freeform 5" id="5"/>
            <p:cNvSpPr/>
            <p:nvPr/>
          </p:nvSpPr>
          <p:spPr>
            <a:xfrm>
              <a:off x="0" y="0"/>
              <a:ext cx="25753675" cy="13759907"/>
            </a:xfrm>
            <a:custGeom>
              <a:avLst/>
              <a:gdLst/>
              <a:ahLst/>
              <a:cxnLst/>
              <a:rect r="r" b="b" t="t" l="l"/>
              <a:pathLst>
                <a:path h="13759907" w="25753675">
                  <a:moveTo>
                    <a:pt x="25629215" y="59690"/>
                  </a:moveTo>
                  <a:cubicBezTo>
                    <a:pt x="25664775" y="59690"/>
                    <a:pt x="25693985" y="88900"/>
                    <a:pt x="25693985" y="124460"/>
                  </a:cubicBezTo>
                  <a:lnTo>
                    <a:pt x="25693985" y="13635448"/>
                  </a:lnTo>
                  <a:cubicBezTo>
                    <a:pt x="25693985" y="13671007"/>
                    <a:pt x="25664775" y="13700218"/>
                    <a:pt x="25629215" y="13700218"/>
                  </a:cubicBezTo>
                  <a:lnTo>
                    <a:pt x="124460" y="13700218"/>
                  </a:lnTo>
                  <a:cubicBezTo>
                    <a:pt x="88900" y="13700218"/>
                    <a:pt x="59690" y="13671007"/>
                    <a:pt x="59690" y="13635448"/>
                  </a:cubicBezTo>
                  <a:lnTo>
                    <a:pt x="59690" y="124460"/>
                  </a:lnTo>
                  <a:cubicBezTo>
                    <a:pt x="59690" y="88900"/>
                    <a:pt x="88900" y="59690"/>
                    <a:pt x="124460" y="59690"/>
                  </a:cubicBezTo>
                  <a:lnTo>
                    <a:pt x="25629215" y="59690"/>
                  </a:lnTo>
                  <a:moveTo>
                    <a:pt x="25629215" y="0"/>
                  </a:moveTo>
                  <a:lnTo>
                    <a:pt x="124460" y="0"/>
                  </a:lnTo>
                  <a:cubicBezTo>
                    <a:pt x="55880" y="0"/>
                    <a:pt x="0" y="55880"/>
                    <a:pt x="0" y="124460"/>
                  </a:cubicBezTo>
                  <a:lnTo>
                    <a:pt x="0" y="13635448"/>
                  </a:lnTo>
                  <a:cubicBezTo>
                    <a:pt x="0" y="13704027"/>
                    <a:pt x="55880" y="13759907"/>
                    <a:pt x="124460" y="13759907"/>
                  </a:cubicBezTo>
                  <a:lnTo>
                    <a:pt x="25629215" y="13759907"/>
                  </a:lnTo>
                  <a:cubicBezTo>
                    <a:pt x="25697796" y="13759907"/>
                    <a:pt x="25753675" y="13704027"/>
                    <a:pt x="25753675" y="13635448"/>
                  </a:cubicBezTo>
                  <a:lnTo>
                    <a:pt x="25753675" y="124460"/>
                  </a:lnTo>
                  <a:cubicBezTo>
                    <a:pt x="25753675" y="55880"/>
                    <a:pt x="25697796" y="0"/>
                    <a:pt x="25629215" y="0"/>
                  </a:cubicBezTo>
                  <a:close/>
                </a:path>
              </a:pathLst>
            </a:custGeom>
            <a:solidFill>
              <a:srgbClr val="000000"/>
            </a:solidFill>
          </p:spPr>
        </p:sp>
      </p:grpSp>
      <p:sp>
        <p:nvSpPr>
          <p:cNvPr name="TextBox 6" id="6"/>
          <p:cNvSpPr txBox="true"/>
          <p:nvPr/>
        </p:nvSpPr>
        <p:spPr>
          <a:xfrm rot="0">
            <a:off x="3514455" y="1478809"/>
            <a:ext cx="11259090" cy="914346"/>
          </a:xfrm>
          <a:prstGeom prst="rect">
            <a:avLst/>
          </a:prstGeom>
        </p:spPr>
        <p:txBody>
          <a:bodyPr anchor="t" rtlCol="false" tIns="0" lIns="0" bIns="0" rIns="0">
            <a:spAutoFit/>
          </a:bodyPr>
          <a:lstStyle/>
          <a:p>
            <a:pPr algn="ctr">
              <a:lnSpc>
                <a:spcPts val="7200"/>
              </a:lnSpc>
            </a:pPr>
            <a:r>
              <a:rPr lang="en-US" sz="6000">
                <a:solidFill>
                  <a:srgbClr val="000000"/>
                </a:solidFill>
                <a:latin typeface="Cyrillic Bodoni"/>
              </a:rPr>
              <a:t>BACKGROUND OF THE STUDY</a:t>
            </a:r>
          </a:p>
        </p:txBody>
      </p:sp>
      <p:sp>
        <p:nvSpPr>
          <p:cNvPr name="TextBox 7" id="7"/>
          <p:cNvSpPr txBox="true"/>
          <p:nvPr/>
        </p:nvSpPr>
        <p:spPr>
          <a:xfrm rot="0">
            <a:off x="1789002" y="2607465"/>
            <a:ext cx="14658671" cy="6620242"/>
          </a:xfrm>
          <a:prstGeom prst="rect">
            <a:avLst/>
          </a:prstGeom>
        </p:spPr>
        <p:txBody>
          <a:bodyPr anchor="t" rtlCol="false" tIns="0" lIns="0" bIns="0" rIns="0">
            <a:spAutoFit/>
          </a:bodyPr>
          <a:lstStyle/>
          <a:p>
            <a:pPr>
              <a:lnSpc>
                <a:spcPts val="4856"/>
              </a:lnSpc>
            </a:pPr>
            <a:r>
              <a:rPr lang="en-US" sz="3468">
                <a:solidFill>
                  <a:srgbClr val="000000"/>
                </a:solidFill>
                <a:latin typeface="Canva Sans"/>
              </a:rPr>
              <a:t>       Bioplastics are plastics made from renewable biomass resources. Bioplastic is a plastic made from polymers from biological sources such as starch and cellulose. Bioplastics' benefits include reduced use of fossil fuel resources, a smaller carbon footprint, and faster decomposition. Bioplastic is also less toxic. Plastics provide convenience, however it has resulted in a throw-away culture that made single-use plastics one of the largest source of pollution. Biodegradable plastics may reduce the burden on our existing waste systems while also having socioeconomic benefits. Plastic pollution has emerged as one of the most pressing environmental issues.</a:t>
            </a:r>
          </a:p>
          <a:p>
            <a:pPr algn="ctr">
              <a:lnSpc>
                <a:spcPts val="4558"/>
              </a:lnSpc>
            </a:pP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06877" y="2486337"/>
            <a:ext cx="9992511" cy="7978781"/>
            <a:chOff x="0" y="0"/>
            <a:chExt cx="14014464" cy="11190215"/>
          </a:xfrm>
        </p:grpSpPr>
        <p:sp>
          <p:nvSpPr>
            <p:cNvPr name="Freeform 3" id="3"/>
            <p:cNvSpPr/>
            <p:nvPr/>
          </p:nvSpPr>
          <p:spPr>
            <a:xfrm>
              <a:off x="31750" y="31750"/>
              <a:ext cx="13950964" cy="11126715"/>
            </a:xfrm>
            <a:custGeom>
              <a:avLst/>
              <a:gdLst/>
              <a:ahLst/>
              <a:cxnLst/>
              <a:rect r="r" b="b" t="t" l="l"/>
              <a:pathLst>
                <a:path h="11126715" w="13950964">
                  <a:moveTo>
                    <a:pt x="13858255" y="11126715"/>
                  </a:moveTo>
                  <a:lnTo>
                    <a:pt x="92710" y="11126715"/>
                  </a:lnTo>
                  <a:cubicBezTo>
                    <a:pt x="41910" y="11126715"/>
                    <a:pt x="0" y="11084805"/>
                    <a:pt x="0" y="11034005"/>
                  </a:cubicBezTo>
                  <a:lnTo>
                    <a:pt x="0" y="92710"/>
                  </a:lnTo>
                  <a:cubicBezTo>
                    <a:pt x="0" y="41910"/>
                    <a:pt x="41910" y="0"/>
                    <a:pt x="92710" y="0"/>
                  </a:cubicBezTo>
                  <a:lnTo>
                    <a:pt x="13856985" y="0"/>
                  </a:lnTo>
                  <a:cubicBezTo>
                    <a:pt x="13907785" y="0"/>
                    <a:pt x="13949694" y="41910"/>
                    <a:pt x="13949694" y="92710"/>
                  </a:cubicBezTo>
                  <a:lnTo>
                    <a:pt x="13949694" y="11032735"/>
                  </a:lnTo>
                  <a:cubicBezTo>
                    <a:pt x="13950964" y="11084805"/>
                    <a:pt x="13909055" y="11126715"/>
                    <a:pt x="13858255" y="11126715"/>
                  </a:cubicBezTo>
                  <a:close/>
                </a:path>
              </a:pathLst>
            </a:custGeom>
            <a:solidFill>
              <a:srgbClr val="A4EFC1"/>
            </a:solidFill>
          </p:spPr>
        </p:sp>
        <p:sp>
          <p:nvSpPr>
            <p:cNvPr name="Freeform 4" id="4"/>
            <p:cNvSpPr/>
            <p:nvPr/>
          </p:nvSpPr>
          <p:spPr>
            <a:xfrm>
              <a:off x="0" y="0"/>
              <a:ext cx="14014464" cy="11190215"/>
            </a:xfrm>
            <a:custGeom>
              <a:avLst/>
              <a:gdLst/>
              <a:ahLst/>
              <a:cxnLst/>
              <a:rect r="r" b="b" t="t" l="l"/>
              <a:pathLst>
                <a:path h="11190215" w="14014464">
                  <a:moveTo>
                    <a:pt x="13890005" y="59690"/>
                  </a:moveTo>
                  <a:cubicBezTo>
                    <a:pt x="13925564" y="59690"/>
                    <a:pt x="13954775" y="88900"/>
                    <a:pt x="13954775" y="124460"/>
                  </a:cubicBezTo>
                  <a:lnTo>
                    <a:pt x="13954775" y="11065755"/>
                  </a:lnTo>
                  <a:cubicBezTo>
                    <a:pt x="13954775" y="11101315"/>
                    <a:pt x="13925564" y="11130525"/>
                    <a:pt x="13890005" y="11130525"/>
                  </a:cubicBezTo>
                  <a:lnTo>
                    <a:pt x="124460" y="11130525"/>
                  </a:lnTo>
                  <a:cubicBezTo>
                    <a:pt x="88900" y="11130525"/>
                    <a:pt x="59690" y="11101315"/>
                    <a:pt x="59690" y="11065755"/>
                  </a:cubicBezTo>
                  <a:lnTo>
                    <a:pt x="59690" y="124460"/>
                  </a:lnTo>
                  <a:cubicBezTo>
                    <a:pt x="59690" y="88900"/>
                    <a:pt x="88900" y="59690"/>
                    <a:pt x="124460" y="59690"/>
                  </a:cubicBezTo>
                  <a:lnTo>
                    <a:pt x="13890005" y="59690"/>
                  </a:lnTo>
                  <a:moveTo>
                    <a:pt x="13890005" y="0"/>
                  </a:moveTo>
                  <a:lnTo>
                    <a:pt x="124460" y="0"/>
                  </a:lnTo>
                  <a:cubicBezTo>
                    <a:pt x="55880" y="0"/>
                    <a:pt x="0" y="55880"/>
                    <a:pt x="0" y="124460"/>
                  </a:cubicBezTo>
                  <a:lnTo>
                    <a:pt x="0" y="11065755"/>
                  </a:lnTo>
                  <a:cubicBezTo>
                    <a:pt x="0" y="11134335"/>
                    <a:pt x="55880" y="11190215"/>
                    <a:pt x="124460" y="11190215"/>
                  </a:cubicBezTo>
                  <a:lnTo>
                    <a:pt x="13890005" y="11190215"/>
                  </a:lnTo>
                  <a:cubicBezTo>
                    <a:pt x="13958585" y="11190215"/>
                    <a:pt x="14014464" y="11134335"/>
                    <a:pt x="14014464" y="11065755"/>
                  </a:cubicBezTo>
                  <a:lnTo>
                    <a:pt x="14014464" y="124460"/>
                  </a:lnTo>
                  <a:cubicBezTo>
                    <a:pt x="14014464" y="55880"/>
                    <a:pt x="13958585" y="0"/>
                    <a:pt x="13890005" y="0"/>
                  </a:cubicBezTo>
                  <a:close/>
                </a:path>
              </a:pathLst>
            </a:custGeom>
            <a:solidFill>
              <a:srgbClr val="000000"/>
            </a:solidFill>
          </p:spPr>
        </p:sp>
      </p:grpSp>
      <p:grpSp>
        <p:nvGrpSpPr>
          <p:cNvPr name="Group 5" id="5"/>
          <p:cNvGrpSpPr/>
          <p:nvPr/>
        </p:nvGrpSpPr>
        <p:grpSpPr>
          <a:xfrm rot="0">
            <a:off x="-55376" y="-192230"/>
            <a:ext cx="18398753" cy="2897951"/>
            <a:chOff x="0" y="0"/>
            <a:chExt cx="30993180" cy="4881675"/>
          </a:xfrm>
        </p:grpSpPr>
        <p:sp>
          <p:nvSpPr>
            <p:cNvPr name="Freeform 6" id="6"/>
            <p:cNvSpPr/>
            <p:nvPr/>
          </p:nvSpPr>
          <p:spPr>
            <a:xfrm>
              <a:off x="31750" y="31750"/>
              <a:ext cx="30929681" cy="4818175"/>
            </a:xfrm>
            <a:custGeom>
              <a:avLst/>
              <a:gdLst/>
              <a:ahLst/>
              <a:cxnLst/>
              <a:rect r="r" b="b" t="t" l="l"/>
              <a:pathLst>
                <a:path h="4818175" w="30929681">
                  <a:moveTo>
                    <a:pt x="30836970" y="4818175"/>
                  </a:moveTo>
                  <a:lnTo>
                    <a:pt x="92710" y="4818175"/>
                  </a:lnTo>
                  <a:cubicBezTo>
                    <a:pt x="41910" y="4818175"/>
                    <a:pt x="0" y="4776265"/>
                    <a:pt x="0" y="4725465"/>
                  </a:cubicBezTo>
                  <a:lnTo>
                    <a:pt x="0" y="92710"/>
                  </a:lnTo>
                  <a:cubicBezTo>
                    <a:pt x="0" y="41910"/>
                    <a:pt x="41910" y="0"/>
                    <a:pt x="92710" y="0"/>
                  </a:cubicBezTo>
                  <a:lnTo>
                    <a:pt x="30835699" y="0"/>
                  </a:lnTo>
                  <a:cubicBezTo>
                    <a:pt x="30886499" y="0"/>
                    <a:pt x="30928410" y="41910"/>
                    <a:pt x="30928410" y="92710"/>
                  </a:cubicBezTo>
                  <a:lnTo>
                    <a:pt x="30928410" y="4724195"/>
                  </a:lnTo>
                  <a:cubicBezTo>
                    <a:pt x="30929681" y="4776265"/>
                    <a:pt x="30887770" y="4818175"/>
                    <a:pt x="30836970" y="4818175"/>
                  </a:cubicBezTo>
                  <a:close/>
                </a:path>
              </a:pathLst>
            </a:custGeom>
            <a:solidFill>
              <a:srgbClr val="8EAFF1"/>
            </a:solidFill>
          </p:spPr>
        </p:sp>
        <p:sp>
          <p:nvSpPr>
            <p:cNvPr name="Freeform 7" id="7"/>
            <p:cNvSpPr/>
            <p:nvPr/>
          </p:nvSpPr>
          <p:spPr>
            <a:xfrm>
              <a:off x="0" y="0"/>
              <a:ext cx="30993181" cy="4881675"/>
            </a:xfrm>
            <a:custGeom>
              <a:avLst/>
              <a:gdLst/>
              <a:ahLst/>
              <a:cxnLst/>
              <a:rect r="r" b="b" t="t" l="l"/>
              <a:pathLst>
                <a:path h="4881675" w="30993181">
                  <a:moveTo>
                    <a:pt x="30868720" y="59690"/>
                  </a:moveTo>
                  <a:cubicBezTo>
                    <a:pt x="30904281" y="59690"/>
                    <a:pt x="30933492" y="88900"/>
                    <a:pt x="30933492" y="124460"/>
                  </a:cubicBezTo>
                  <a:lnTo>
                    <a:pt x="30933492" y="4757215"/>
                  </a:lnTo>
                  <a:cubicBezTo>
                    <a:pt x="30933492" y="4792775"/>
                    <a:pt x="30904281" y="4821985"/>
                    <a:pt x="30868720" y="4821985"/>
                  </a:cubicBezTo>
                  <a:lnTo>
                    <a:pt x="124460" y="4821985"/>
                  </a:lnTo>
                  <a:cubicBezTo>
                    <a:pt x="88900" y="4821985"/>
                    <a:pt x="59690" y="4792775"/>
                    <a:pt x="59690" y="4757215"/>
                  </a:cubicBezTo>
                  <a:lnTo>
                    <a:pt x="59690" y="124460"/>
                  </a:lnTo>
                  <a:cubicBezTo>
                    <a:pt x="59690" y="88900"/>
                    <a:pt x="88900" y="59690"/>
                    <a:pt x="124460" y="59690"/>
                  </a:cubicBezTo>
                  <a:lnTo>
                    <a:pt x="30868720" y="59690"/>
                  </a:lnTo>
                  <a:moveTo>
                    <a:pt x="30868720" y="0"/>
                  </a:moveTo>
                  <a:lnTo>
                    <a:pt x="124460" y="0"/>
                  </a:lnTo>
                  <a:cubicBezTo>
                    <a:pt x="55880" y="0"/>
                    <a:pt x="0" y="55880"/>
                    <a:pt x="0" y="124460"/>
                  </a:cubicBezTo>
                  <a:lnTo>
                    <a:pt x="0" y="4757215"/>
                  </a:lnTo>
                  <a:cubicBezTo>
                    <a:pt x="0" y="4825795"/>
                    <a:pt x="55880" y="4881675"/>
                    <a:pt x="124460" y="4881675"/>
                  </a:cubicBezTo>
                  <a:lnTo>
                    <a:pt x="30868720" y="4881675"/>
                  </a:lnTo>
                  <a:cubicBezTo>
                    <a:pt x="30937299" y="4881675"/>
                    <a:pt x="30993181" y="4825795"/>
                    <a:pt x="30993181" y="4757215"/>
                  </a:cubicBezTo>
                  <a:lnTo>
                    <a:pt x="30993181" y="124460"/>
                  </a:lnTo>
                  <a:cubicBezTo>
                    <a:pt x="30993181" y="55880"/>
                    <a:pt x="30937299" y="0"/>
                    <a:pt x="30868720" y="0"/>
                  </a:cubicBezTo>
                  <a:close/>
                </a:path>
              </a:pathLst>
            </a:custGeom>
            <a:solidFill>
              <a:srgbClr val="000000"/>
            </a:solidFill>
          </p:spPr>
        </p:sp>
      </p:grpSp>
      <p:sp>
        <p:nvSpPr>
          <p:cNvPr name="TextBox 8" id="8"/>
          <p:cNvSpPr txBox="true"/>
          <p:nvPr/>
        </p:nvSpPr>
        <p:spPr>
          <a:xfrm rot="0">
            <a:off x="894305" y="457621"/>
            <a:ext cx="16499389" cy="2028717"/>
          </a:xfrm>
          <a:prstGeom prst="rect">
            <a:avLst/>
          </a:prstGeom>
        </p:spPr>
        <p:txBody>
          <a:bodyPr anchor="t" rtlCol="false" tIns="0" lIns="0" bIns="0" rIns="0">
            <a:spAutoFit/>
          </a:bodyPr>
          <a:lstStyle/>
          <a:p>
            <a:pPr algn="ctr">
              <a:lnSpc>
                <a:spcPts val="8022"/>
              </a:lnSpc>
            </a:pPr>
            <a:r>
              <a:rPr lang="en-US" sz="6685">
                <a:solidFill>
                  <a:srgbClr val="000000"/>
                </a:solidFill>
                <a:latin typeface="Cyrillic Bodoni"/>
              </a:rPr>
              <a:t>EFFECTIVENESS OF FISH SCALES AS BIODEGRADABLE STRAW</a:t>
            </a:r>
          </a:p>
        </p:txBody>
      </p:sp>
      <p:sp>
        <p:nvSpPr>
          <p:cNvPr name="TextBox 9" id="9"/>
          <p:cNvSpPr txBox="true"/>
          <p:nvPr/>
        </p:nvSpPr>
        <p:spPr>
          <a:xfrm rot="0">
            <a:off x="441865" y="3003944"/>
            <a:ext cx="7326840" cy="892176"/>
          </a:xfrm>
          <a:prstGeom prst="rect">
            <a:avLst/>
          </a:prstGeom>
        </p:spPr>
        <p:txBody>
          <a:bodyPr anchor="t" rtlCol="false" tIns="0" lIns="0" bIns="0" rIns="0">
            <a:spAutoFit/>
          </a:bodyPr>
          <a:lstStyle/>
          <a:p>
            <a:pPr>
              <a:lnSpc>
                <a:spcPts val="7149"/>
              </a:lnSpc>
            </a:pPr>
            <a:r>
              <a:rPr lang="en-US" sz="5499">
                <a:solidFill>
                  <a:srgbClr val="000000"/>
                </a:solidFill>
                <a:latin typeface="Cyrillic Bodoni"/>
              </a:rPr>
              <a:t>Statement of the Problem </a:t>
            </a:r>
          </a:p>
        </p:txBody>
      </p:sp>
      <p:sp>
        <p:nvSpPr>
          <p:cNvPr name="TextBox 10" id="10"/>
          <p:cNvSpPr txBox="true"/>
          <p:nvPr/>
        </p:nvSpPr>
        <p:spPr>
          <a:xfrm rot="0">
            <a:off x="8676432" y="2924796"/>
            <a:ext cx="7737455" cy="2857500"/>
          </a:xfrm>
          <a:prstGeom prst="rect">
            <a:avLst/>
          </a:prstGeom>
        </p:spPr>
        <p:txBody>
          <a:bodyPr anchor="t" rtlCol="false" tIns="0" lIns="0" bIns="0" rIns="0">
            <a:spAutoFit/>
          </a:bodyPr>
          <a:lstStyle/>
          <a:p>
            <a:pPr>
              <a:lnSpc>
                <a:spcPts val="5639"/>
              </a:lnSpc>
            </a:pPr>
            <a:r>
              <a:rPr lang="en-US" sz="4699">
                <a:solidFill>
                  <a:srgbClr val="000000"/>
                </a:solidFill>
                <a:latin typeface="Cyrillic Bodoni Bold Italics"/>
              </a:rPr>
              <a:t>General Objective:</a:t>
            </a:r>
          </a:p>
          <a:p>
            <a:pPr>
              <a:lnSpc>
                <a:spcPts val="5639"/>
              </a:lnSpc>
            </a:pPr>
            <a:r>
              <a:rPr lang="en-US" sz="4699">
                <a:solidFill>
                  <a:srgbClr val="000000"/>
                </a:solidFill>
                <a:latin typeface="Cyrillic Bodoni Bold Italics"/>
              </a:rPr>
              <a:t>To make biodegradable straw out of fish scales.</a:t>
            </a:r>
          </a:p>
          <a:p>
            <a:pPr algn="l" marL="0" indent="0" lvl="0">
              <a:lnSpc>
                <a:spcPts val="5639"/>
              </a:lnSpc>
              <a:spcBef>
                <a:spcPct val="0"/>
              </a:spcBef>
            </a:pPr>
          </a:p>
        </p:txBody>
      </p:sp>
      <p:sp>
        <p:nvSpPr>
          <p:cNvPr name="TextBox 11" id="11"/>
          <p:cNvSpPr txBox="true"/>
          <p:nvPr/>
        </p:nvSpPr>
        <p:spPr>
          <a:xfrm rot="0">
            <a:off x="441865" y="3972500"/>
            <a:ext cx="7581810" cy="5913283"/>
          </a:xfrm>
          <a:prstGeom prst="rect">
            <a:avLst/>
          </a:prstGeom>
        </p:spPr>
        <p:txBody>
          <a:bodyPr anchor="t" rtlCol="false" tIns="0" lIns="0" bIns="0" rIns="0">
            <a:spAutoFit/>
          </a:bodyPr>
          <a:lstStyle/>
          <a:p>
            <a:pPr>
              <a:lnSpc>
                <a:spcPts val="5871"/>
              </a:lnSpc>
            </a:pPr>
            <a:r>
              <a:rPr lang="en-US" sz="4193">
                <a:solidFill>
                  <a:srgbClr val="000000"/>
                </a:solidFill>
                <a:latin typeface="Canva Sans Bold"/>
              </a:rPr>
              <a:t> The study focuses on the production of straws out of fish scales. The researchers aim to answer the following:</a:t>
            </a:r>
          </a:p>
          <a:p>
            <a:pPr>
              <a:lnSpc>
                <a:spcPts val="5871"/>
              </a:lnSpc>
            </a:pPr>
            <a:r>
              <a:rPr lang="en-US" sz="4193">
                <a:solidFill>
                  <a:srgbClr val="000000"/>
                </a:solidFill>
                <a:latin typeface="Canva Sans Bold"/>
              </a:rPr>
              <a:t>1. Durability;</a:t>
            </a:r>
          </a:p>
          <a:p>
            <a:pPr>
              <a:lnSpc>
                <a:spcPts val="5871"/>
              </a:lnSpc>
            </a:pPr>
            <a:r>
              <a:rPr lang="en-US" sz="4193">
                <a:solidFill>
                  <a:srgbClr val="000000"/>
                </a:solidFill>
                <a:latin typeface="Canva Sans Bold"/>
              </a:rPr>
              <a:t>2. Heat Resistance;</a:t>
            </a:r>
          </a:p>
          <a:p>
            <a:pPr>
              <a:lnSpc>
                <a:spcPts val="5871"/>
              </a:lnSpc>
            </a:pPr>
            <a:r>
              <a:rPr lang="en-US" sz="4193">
                <a:solidFill>
                  <a:srgbClr val="000000"/>
                </a:solidFill>
                <a:latin typeface="Canva Sans Bold"/>
              </a:rPr>
              <a:t>3. Flexibility;</a:t>
            </a:r>
          </a:p>
          <a:p>
            <a:pPr>
              <a:lnSpc>
                <a:spcPts val="5871"/>
              </a:lnSpc>
            </a:pPr>
          </a:p>
        </p:txBody>
      </p:sp>
      <p:sp>
        <p:nvSpPr>
          <p:cNvPr name="TextBox 12" id="12"/>
          <p:cNvSpPr txBox="true"/>
          <p:nvPr/>
        </p:nvSpPr>
        <p:spPr>
          <a:xfrm rot="0">
            <a:off x="8676432" y="5153025"/>
            <a:ext cx="9722320" cy="6134100"/>
          </a:xfrm>
          <a:prstGeom prst="rect">
            <a:avLst/>
          </a:prstGeom>
        </p:spPr>
        <p:txBody>
          <a:bodyPr anchor="t" rtlCol="false" tIns="0" lIns="0" bIns="0" rIns="0">
            <a:spAutoFit/>
          </a:bodyPr>
          <a:lstStyle/>
          <a:p>
            <a:pPr>
              <a:lnSpc>
                <a:spcPts val="4979"/>
              </a:lnSpc>
            </a:pPr>
            <a:r>
              <a:rPr lang="en-US" sz="4149">
                <a:solidFill>
                  <a:srgbClr val="000000"/>
                </a:solidFill>
                <a:latin typeface="Cyrillic Bodoni Bold Italics"/>
              </a:rPr>
              <a:t>Specific Objectives:</a:t>
            </a:r>
          </a:p>
          <a:p>
            <a:pPr>
              <a:lnSpc>
                <a:spcPts val="4979"/>
              </a:lnSpc>
            </a:pPr>
            <a:r>
              <a:rPr lang="en-US" sz="4149">
                <a:solidFill>
                  <a:srgbClr val="000000"/>
                </a:solidFill>
                <a:latin typeface="Cyrillic Bodoni Bold Italics"/>
              </a:rPr>
              <a:t>Ø Determine if it is possible to make a biodegradable straw out of fish scales.</a:t>
            </a:r>
          </a:p>
          <a:p>
            <a:pPr>
              <a:lnSpc>
                <a:spcPts val="4979"/>
              </a:lnSpc>
            </a:pPr>
            <a:r>
              <a:rPr lang="en-US" sz="4149">
                <a:solidFill>
                  <a:srgbClr val="000000"/>
                </a:solidFill>
                <a:latin typeface="Cyrillic Bodoni Bold Italics"/>
              </a:rPr>
              <a:t>Ø To find out what processes are involved in making biodegradable straw out of fish scales.</a:t>
            </a:r>
          </a:p>
          <a:p>
            <a:pPr>
              <a:lnSpc>
                <a:spcPts val="4979"/>
              </a:lnSpc>
            </a:pPr>
            <a:r>
              <a:rPr lang="en-US" sz="4149">
                <a:solidFill>
                  <a:srgbClr val="000000"/>
                </a:solidFill>
                <a:latin typeface="Cyrillic Bodoni Bold Italics"/>
              </a:rPr>
              <a:t>Ø To encourage people on using fish scales as biodegradable straw.</a:t>
            </a:r>
          </a:p>
          <a:p>
            <a:pPr algn="l" marL="0" indent="0" lvl="0">
              <a:lnSpc>
                <a:spcPts val="881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90753" y="-190654"/>
            <a:ext cx="18697372" cy="2741653"/>
            <a:chOff x="0" y="0"/>
            <a:chExt cx="32021606" cy="4695425"/>
          </a:xfrm>
        </p:grpSpPr>
        <p:sp>
          <p:nvSpPr>
            <p:cNvPr name="Freeform 3" id="3"/>
            <p:cNvSpPr/>
            <p:nvPr/>
          </p:nvSpPr>
          <p:spPr>
            <a:xfrm>
              <a:off x="31750" y="31750"/>
              <a:ext cx="31958105" cy="4631925"/>
            </a:xfrm>
            <a:custGeom>
              <a:avLst/>
              <a:gdLst/>
              <a:ahLst/>
              <a:cxnLst/>
              <a:rect r="r" b="b" t="t" l="l"/>
              <a:pathLst>
                <a:path h="4631925" w="31958105">
                  <a:moveTo>
                    <a:pt x="31865395" y="4631925"/>
                  </a:moveTo>
                  <a:lnTo>
                    <a:pt x="92710" y="4631925"/>
                  </a:lnTo>
                  <a:cubicBezTo>
                    <a:pt x="41910" y="4631925"/>
                    <a:pt x="0" y="4590016"/>
                    <a:pt x="0" y="4539216"/>
                  </a:cubicBezTo>
                  <a:lnTo>
                    <a:pt x="0" y="92710"/>
                  </a:lnTo>
                  <a:cubicBezTo>
                    <a:pt x="0" y="41910"/>
                    <a:pt x="41910" y="0"/>
                    <a:pt x="92710" y="0"/>
                  </a:cubicBezTo>
                  <a:lnTo>
                    <a:pt x="31864126" y="0"/>
                  </a:lnTo>
                  <a:cubicBezTo>
                    <a:pt x="31914926" y="0"/>
                    <a:pt x="31956837" y="41910"/>
                    <a:pt x="31956837" y="92710"/>
                  </a:cubicBezTo>
                  <a:lnTo>
                    <a:pt x="31956837" y="4537945"/>
                  </a:lnTo>
                  <a:cubicBezTo>
                    <a:pt x="31958105" y="4590016"/>
                    <a:pt x="31916195" y="4631925"/>
                    <a:pt x="31865395" y="4631925"/>
                  </a:cubicBezTo>
                  <a:close/>
                </a:path>
              </a:pathLst>
            </a:custGeom>
            <a:solidFill>
              <a:srgbClr val="8EAFF1"/>
            </a:solidFill>
          </p:spPr>
        </p:sp>
        <p:sp>
          <p:nvSpPr>
            <p:cNvPr name="Freeform 4" id="4"/>
            <p:cNvSpPr/>
            <p:nvPr/>
          </p:nvSpPr>
          <p:spPr>
            <a:xfrm>
              <a:off x="0" y="0"/>
              <a:ext cx="32021605" cy="4695425"/>
            </a:xfrm>
            <a:custGeom>
              <a:avLst/>
              <a:gdLst/>
              <a:ahLst/>
              <a:cxnLst/>
              <a:rect r="r" b="b" t="t" l="l"/>
              <a:pathLst>
                <a:path h="4695425" w="32021605">
                  <a:moveTo>
                    <a:pt x="31897145" y="59690"/>
                  </a:moveTo>
                  <a:cubicBezTo>
                    <a:pt x="31932705" y="59690"/>
                    <a:pt x="31961916" y="88900"/>
                    <a:pt x="31961916" y="124460"/>
                  </a:cubicBezTo>
                  <a:lnTo>
                    <a:pt x="31961916" y="4570966"/>
                  </a:lnTo>
                  <a:cubicBezTo>
                    <a:pt x="31961916" y="4606525"/>
                    <a:pt x="31932705" y="4635736"/>
                    <a:pt x="31897145" y="4635736"/>
                  </a:cubicBezTo>
                  <a:lnTo>
                    <a:pt x="124460" y="4635736"/>
                  </a:lnTo>
                  <a:cubicBezTo>
                    <a:pt x="88900" y="4635736"/>
                    <a:pt x="59690" y="4606525"/>
                    <a:pt x="59690" y="4570966"/>
                  </a:cubicBezTo>
                  <a:lnTo>
                    <a:pt x="59690" y="124460"/>
                  </a:lnTo>
                  <a:cubicBezTo>
                    <a:pt x="59690" y="88900"/>
                    <a:pt x="88900" y="59690"/>
                    <a:pt x="124460" y="59690"/>
                  </a:cubicBezTo>
                  <a:lnTo>
                    <a:pt x="31897145" y="59690"/>
                  </a:lnTo>
                  <a:moveTo>
                    <a:pt x="31897145" y="0"/>
                  </a:moveTo>
                  <a:lnTo>
                    <a:pt x="124460" y="0"/>
                  </a:lnTo>
                  <a:cubicBezTo>
                    <a:pt x="55880" y="0"/>
                    <a:pt x="0" y="55880"/>
                    <a:pt x="0" y="124460"/>
                  </a:cubicBezTo>
                  <a:lnTo>
                    <a:pt x="0" y="4570966"/>
                  </a:lnTo>
                  <a:cubicBezTo>
                    <a:pt x="0" y="4639545"/>
                    <a:pt x="55880" y="4695425"/>
                    <a:pt x="124460" y="4695425"/>
                  </a:cubicBezTo>
                  <a:lnTo>
                    <a:pt x="31897145" y="4695425"/>
                  </a:lnTo>
                  <a:cubicBezTo>
                    <a:pt x="31965726" y="4695425"/>
                    <a:pt x="32021605" y="4639545"/>
                    <a:pt x="32021605" y="4570966"/>
                  </a:cubicBezTo>
                  <a:lnTo>
                    <a:pt x="32021605" y="124460"/>
                  </a:lnTo>
                  <a:cubicBezTo>
                    <a:pt x="32021605" y="55880"/>
                    <a:pt x="31965726" y="0"/>
                    <a:pt x="31897145" y="0"/>
                  </a:cubicBezTo>
                  <a:close/>
                </a:path>
              </a:pathLst>
            </a:custGeom>
            <a:solidFill>
              <a:srgbClr val="000000"/>
            </a:solidFill>
          </p:spPr>
        </p:sp>
      </p:grpSp>
      <p:grpSp>
        <p:nvGrpSpPr>
          <p:cNvPr name="Group 5" id="5"/>
          <p:cNvGrpSpPr/>
          <p:nvPr/>
        </p:nvGrpSpPr>
        <p:grpSpPr>
          <a:xfrm rot="0">
            <a:off x="-290753" y="8959850"/>
            <a:ext cx="18697372" cy="1474862"/>
            <a:chOff x="0" y="0"/>
            <a:chExt cx="32021606" cy="2525887"/>
          </a:xfrm>
        </p:grpSpPr>
        <p:sp>
          <p:nvSpPr>
            <p:cNvPr name="Freeform 6" id="6"/>
            <p:cNvSpPr/>
            <p:nvPr/>
          </p:nvSpPr>
          <p:spPr>
            <a:xfrm>
              <a:off x="31750" y="31750"/>
              <a:ext cx="31958105" cy="2462387"/>
            </a:xfrm>
            <a:custGeom>
              <a:avLst/>
              <a:gdLst/>
              <a:ahLst/>
              <a:cxnLst/>
              <a:rect r="r" b="b" t="t" l="l"/>
              <a:pathLst>
                <a:path h="2462387" w="31958105">
                  <a:moveTo>
                    <a:pt x="31865395" y="2462387"/>
                  </a:moveTo>
                  <a:lnTo>
                    <a:pt x="92710" y="2462387"/>
                  </a:lnTo>
                  <a:cubicBezTo>
                    <a:pt x="41910" y="2462387"/>
                    <a:pt x="0" y="2420477"/>
                    <a:pt x="0" y="2369677"/>
                  </a:cubicBezTo>
                  <a:lnTo>
                    <a:pt x="0" y="92710"/>
                  </a:lnTo>
                  <a:cubicBezTo>
                    <a:pt x="0" y="41910"/>
                    <a:pt x="41910" y="0"/>
                    <a:pt x="92710" y="0"/>
                  </a:cubicBezTo>
                  <a:lnTo>
                    <a:pt x="31864126" y="0"/>
                  </a:lnTo>
                  <a:cubicBezTo>
                    <a:pt x="31914926" y="0"/>
                    <a:pt x="31956837" y="41910"/>
                    <a:pt x="31956837" y="92710"/>
                  </a:cubicBezTo>
                  <a:lnTo>
                    <a:pt x="31956837" y="2368407"/>
                  </a:lnTo>
                  <a:cubicBezTo>
                    <a:pt x="31958105" y="2420477"/>
                    <a:pt x="31916195" y="2462387"/>
                    <a:pt x="31865395" y="2462387"/>
                  </a:cubicBezTo>
                  <a:close/>
                </a:path>
              </a:pathLst>
            </a:custGeom>
            <a:solidFill>
              <a:srgbClr val="A4EFC1"/>
            </a:solidFill>
          </p:spPr>
        </p:sp>
        <p:sp>
          <p:nvSpPr>
            <p:cNvPr name="Freeform 7" id="7"/>
            <p:cNvSpPr/>
            <p:nvPr/>
          </p:nvSpPr>
          <p:spPr>
            <a:xfrm>
              <a:off x="0" y="0"/>
              <a:ext cx="32021605" cy="2525887"/>
            </a:xfrm>
            <a:custGeom>
              <a:avLst/>
              <a:gdLst/>
              <a:ahLst/>
              <a:cxnLst/>
              <a:rect r="r" b="b" t="t" l="l"/>
              <a:pathLst>
                <a:path h="2525887" w="32021605">
                  <a:moveTo>
                    <a:pt x="31897145" y="59690"/>
                  </a:moveTo>
                  <a:cubicBezTo>
                    <a:pt x="31932705" y="59690"/>
                    <a:pt x="31961916" y="88900"/>
                    <a:pt x="31961916" y="124460"/>
                  </a:cubicBezTo>
                  <a:lnTo>
                    <a:pt x="31961916" y="2401427"/>
                  </a:lnTo>
                  <a:cubicBezTo>
                    <a:pt x="31961916" y="2436987"/>
                    <a:pt x="31932705" y="2466197"/>
                    <a:pt x="31897145" y="2466197"/>
                  </a:cubicBezTo>
                  <a:lnTo>
                    <a:pt x="124460" y="2466197"/>
                  </a:lnTo>
                  <a:cubicBezTo>
                    <a:pt x="88900" y="2466197"/>
                    <a:pt x="59690" y="2436987"/>
                    <a:pt x="59690" y="2401427"/>
                  </a:cubicBezTo>
                  <a:lnTo>
                    <a:pt x="59690" y="124460"/>
                  </a:lnTo>
                  <a:cubicBezTo>
                    <a:pt x="59690" y="88900"/>
                    <a:pt x="88900" y="59690"/>
                    <a:pt x="124460" y="59690"/>
                  </a:cubicBezTo>
                  <a:lnTo>
                    <a:pt x="31897145" y="59690"/>
                  </a:lnTo>
                  <a:moveTo>
                    <a:pt x="31897145" y="0"/>
                  </a:moveTo>
                  <a:lnTo>
                    <a:pt x="124460" y="0"/>
                  </a:lnTo>
                  <a:cubicBezTo>
                    <a:pt x="55880" y="0"/>
                    <a:pt x="0" y="55880"/>
                    <a:pt x="0" y="124460"/>
                  </a:cubicBezTo>
                  <a:lnTo>
                    <a:pt x="0" y="2401427"/>
                  </a:lnTo>
                  <a:cubicBezTo>
                    <a:pt x="0" y="2470007"/>
                    <a:pt x="55880" y="2525887"/>
                    <a:pt x="124460" y="2525887"/>
                  </a:cubicBezTo>
                  <a:lnTo>
                    <a:pt x="31897145" y="2525887"/>
                  </a:lnTo>
                  <a:cubicBezTo>
                    <a:pt x="31965726" y="2525887"/>
                    <a:pt x="32021605" y="2470007"/>
                    <a:pt x="32021605" y="2401427"/>
                  </a:cubicBezTo>
                  <a:lnTo>
                    <a:pt x="32021605" y="124460"/>
                  </a:lnTo>
                  <a:cubicBezTo>
                    <a:pt x="32021605" y="55880"/>
                    <a:pt x="31965726" y="0"/>
                    <a:pt x="31897145" y="0"/>
                  </a:cubicBezTo>
                  <a:close/>
                </a:path>
              </a:pathLst>
            </a:custGeom>
            <a:solidFill>
              <a:srgbClr val="000000"/>
            </a:solidFill>
          </p:spPr>
        </p:sp>
      </p:grpSp>
      <p:sp>
        <p:nvSpPr>
          <p:cNvPr name="AutoShape 8" id="8"/>
          <p:cNvSpPr/>
          <p:nvPr/>
        </p:nvSpPr>
        <p:spPr>
          <a:xfrm rot="5400000">
            <a:off x="2877287" y="5741137"/>
            <a:ext cx="6408851" cy="0"/>
          </a:xfrm>
          <a:prstGeom prst="line">
            <a:avLst/>
          </a:prstGeom>
          <a:ln cap="flat" w="28575">
            <a:solidFill>
              <a:srgbClr val="000000"/>
            </a:solidFill>
            <a:prstDash val="solid"/>
            <a:headEnd type="none" len="sm" w="sm"/>
            <a:tailEnd type="none" len="sm" w="sm"/>
          </a:ln>
        </p:spPr>
      </p:sp>
      <p:sp>
        <p:nvSpPr>
          <p:cNvPr name="AutoShape 9" id="9"/>
          <p:cNvSpPr/>
          <p:nvPr/>
        </p:nvSpPr>
        <p:spPr>
          <a:xfrm rot="5400000">
            <a:off x="9001862" y="5741137"/>
            <a:ext cx="6408851" cy="0"/>
          </a:xfrm>
          <a:prstGeom prst="line">
            <a:avLst/>
          </a:prstGeom>
          <a:ln cap="flat" w="28575">
            <a:solidFill>
              <a:srgbClr val="000000"/>
            </a:solidFill>
            <a:prstDash val="solid"/>
            <a:headEnd type="none" len="sm" w="sm"/>
            <a:tailEnd type="none" len="sm" w="sm"/>
          </a:ln>
        </p:spPr>
      </p:sp>
      <p:sp>
        <p:nvSpPr>
          <p:cNvPr name="TextBox 10" id="10"/>
          <p:cNvSpPr txBox="true"/>
          <p:nvPr/>
        </p:nvSpPr>
        <p:spPr>
          <a:xfrm rot="0">
            <a:off x="1028700" y="1028700"/>
            <a:ext cx="16230600" cy="1219200"/>
          </a:xfrm>
          <a:prstGeom prst="rect">
            <a:avLst/>
          </a:prstGeom>
        </p:spPr>
        <p:txBody>
          <a:bodyPr anchor="t" rtlCol="false" tIns="0" lIns="0" bIns="0" rIns="0">
            <a:spAutoFit/>
          </a:bodyPr>
          <a:lstStyle/>
          <a:p>
            <a:pPr>
              <a:lnSpc>
                <a:spcPts val="9600"/>
              </a:lnSpc>
            </a:pPr>
            <a:r>
              <a:rPr lang="en-US" sz="8000">
                <a:solidFill>
                  <a:srgbClr val="000000"/>
                </a:solidFill>
                <a:latin typeface="Cyrillic Bodoni Italics"/>
              </a:rPr>
              <a:t>HYPOTHESIS</a:t>
            </a:r>
          </a:p>
        </p:txBody>
      </p:sp>
      <p:sp>
        <p:nvSpPr>
          <p:cNvPr name="TextBox 11" id="11"/>
          <p:cNvSpPr txBox="true"/>
          <p:nvPr/>
        </p:nvSpPr>
        <p:spPr>
          <a:xfrm rot="0">
            <a:off x="410753" y="2956776"/>
            <a:ext cx="5656672" cy="6301524"/>
          </a:xfrm>
          <a:prstGeom prst="rect">
            <a:avLst/>
          </a:prstGeom>
        </p:spPr>
        <p:txBody>
          <a:bodyPr anchor="t" rtlCol="false" tIns="0" lIns="0" bIns="0" rIns="0">
            <a:spAutoFit/>
          </a:bodyPr>
          <a:lstStyle/>
          <a:p>
            <a:pPr>
              <a:lnSpc>
                <a:spcPts val="6239"/>
              </a:lnSpc>
            </a:pPr>
            <a:r>
              <a:rPr lang="en-US" sz="4799">
                <a:solidFill>
                  <a:srgbClr val="000000"/>
                </a:solidFill>
                <a:latin typeface="Cyrillic Bodoni"/>
              </a:rPr>
              <a:t> This study is based on the following null and alternative hypothesis according to the statement of the problem, the hypotheses are:</a:t>
            </a:r>
          </a:p>
          <a:p>
            <a:pPr marL="0" indent="0" lvl="0">
              <a:lnSpc>
                <a:spcPts val="6239"/>
              </a:lnSpc>
            </a:pPr>
          </a:p>
        </p:txBody>
      </p:sp>
      <p:grpSp>
        <p:nvGrpSpPr>
          <p:cNvPr name="Group 12" id="12"/>
          <p:cNvGrpSpPr/>
          <p:nvPr/>
        </p:nvGrpSpPr>
        <p:grpSpPr>
          <a:xfrm rot="0">
            <a:off x="6702681" y="2864372"/>
            <a:ext cx="5489319" cy="5782105"/>
            <a:chOff x="0" y="0"/>
            <a:chExt cx="7319093" cy="7709473"/>
          </a:xfrm>
        </p:grpSpPr>
        <p:sp>
          <p:nvSpPr>
            <p:cNvPr name="TextBox 13" id="13"/>
            <p:cNvSpPr txBox="true"/>
            <p:nvPr/>
          </p:nvSpPr>
          <p:spPr>
            <a:xfrm rot="0">
              <a:off x="0" y="-57150"/>
              <a:ext cx="7319093" cy="1301414"/>
            </a:xfrm>
            <a:prstGeom prst="rect">
              <a:avLst/>
            </a:prstGeom>
          </p:spPr>
          <p:txBody>
            <a:bodyPr anchor="t" rtlCol="false" tIns="0" lIns="0" bIns="0" rIns="0">
              <a:spAutoFit/>
            </a:bodyPr>
            <a:lstStyle/>
            <a:p>
              <a:pPr marL="0" indent="0" lvl="0">
                <a:lnSpc>
                  <a:spcPts val="7967"/>
                </a:lnSpc>
                <a:spcBef>
                  <a:spcPct val="0"/>
                </a:spcBef>
              </a:pPr>
              <a:r>
                <a:rPr lang="en-US" sz="6128">
                  <a:solidFill>
                    <a:srgbClr val="000000"/>
                  </a:solidFill>
                  <a:latin typeface="Cyrillic Bodoni"/>
                </a:rPr>
                <a:t>Null Hypothesis</a:t>
              </a:r>
            </a:p>
          </p:txBody>
        </p:sp>
        <p:sp>
          <p:nvSpPr>
            <p:cNvPr name="TextBox 14" id="14"/>
            <p:cNvSpPr txBox="true"/>
            <p:nvPr/>
          </p:nvSpPr>
          <p:spPr>
            <a:xfrm rot="0">
              <a:off x="0" y="1426446"/>
              <a:ext cx="7319093" cy="6283027"/>
            </a:xfrm>
            <a:prstGeom prst="rect">
              <a:avLst/>
            </a:prstGeom>
          </p:spPr>
          <p:txBody>
            <a:bodyPr anchor="t" rtlCol="false" tIns="0" lIns="0" bIns="0" rIns="0">
              <a:spAutoFit/>
            </a:bodyPr>
            <a:lstStyle/>
            <a:p>
              <a:pPr>
                <a:lnSpc>
                  <a:spcPts val="7279"/>
                </a:lnSpc>
              </a:pPr>
              <a:r>
                <a:rPr lang="en-US" sz="5599">
                  <a:solidFill>
                    <a:srgbClr val="000000"/>
                  </a:solidFill>
                  <a:latin typeface="Cooper Hewitt"/>
                </a:rPr>
                <a:t> There is no significant effect of fish scales as straw.</a:t>
              </a:r>
            </a:p>
            <a:p>
              <a:pPr marL="0" indent="0" lvl="0">
                <a:lnSpc>
                  <a:spcPts val="7279"/>
                </a:lnSpc>
              </a:pPr>
            </a:p>
          </p:txBody>
        </p:sp>
      </p:grpSp>
      <p:grpSp>
        <p:nvGrpSpPr>
          <p:cNvPr name="Group 15" id="15"/>
          <p:cNvGrpSpPr/>
          <p:nvPr/>
        </p:nvGrpSpPr>
        <p:grpSpPr>
          <a:xfrm rot="0">
            <a:off x="12463906" y="2894542"/>
            <a:ext cx="5824094" cy="6142794"/>
            <a:chOff x="0" y="0"/>
            <a:chExt cx="7765459" cy="8190392"/>
          </a:xfrm>
        </p:grpSpPr>
        <p:sp>
          <p:nvSpPr>
            <p:cNvPr name="TextBox 16" id="16"/>
            <p:cNvSpPr txBox="true"/>
            <p:nvPr/>
          </p:nvSpPr>
          <p:spPr>
            <a:xfrm rot="0">
              <a:off x="0" y="-38100"/>
              <a:ext cx="7765459" cy="963324"/>
            </a:xfrm>
            <a:prstGeom prst="rect">
              <a:avLst/>
            </a:prstGeom>
          </p:spPr>
          <p:txBody>
            <a:bodyPr anchor="t" rtlCol="false" tIns="0" lIns="0" bIns="0" rIns="0">
              <a:spAutoFit/>
            </a:bodyPr>
            <a:lstStyle/>
            <a:p>
              <a:pPr algn="l" marL="0" indent="0" lvl="0">
                <a:lnSpc>
                  <a:spcPts val="5985"/>
                </a:lnSpc>
                <a:spcBef>
                  <a:spcPct val="0"/>
                </a:spcBef>
              </a:pPr>
              <a:r>
                <a:rPr lang="en-US" sz="4604">
                  <a:solidFill>
                    <a:srgbClr val="000000"/>
                  </a:solidFill>
                  <a:latin typeface="Cyrillic Bodoni Bold"/>
                </a:rPr>
                <a:t>Alternative </a:t>
              </a:r>
              <a:r>
                <a:rPr lang="en-US" sz="4604">
                  <a:solidFill>
                    <a:srgbClr val="000000"/>
                  </a:solidFill>
                  <a:latin typeface="Cyrillic Bodoni Bold"/>
                </a:rPr>
                <a:t>Hypothesis</a:t>
              </a:r>
            </a:p>
          </p:txBody>
        </p:sp>
        <p:sp>
          <p:nvSpPr>
            <p:cNvPr name="TextBox 17" id="17"/>
            <p:cNvSpPr txBox="true"/>
            <p:nvPr/>
          </p:nvSpPr>
          <p:spPr>
            <a:xfrm rot="0">
              <a:off x="0" y="1099264"/>
              <a:ext cx="7765459" cy="7091128"/>
            </a:xfrm>
            <a:prstGeom prst="rect">
              <a:avLst/>
            </a:prstGeom>
          </p:spPr>
          <p:txBody>
            <a:bodyPr anchor="t" rtlCol="false" tIns="0" lIns="0" bIns="0" rIns="0">
              <a:spAutoFit/>
            </a:bodyPr>
            <a:lstStyle/>
            <a:p>
              <a:pPr>
                <a:lnSpc>
                  <a:spcPts val="7280"/>
                </a:lnSpc>
              </a:pPr>
              <a:r>
                <a:rPr lang="en-US" sz="5600">
                  <a:solidFill>
                    <a:srgbClr val="000000"/>
                  </a:solidFill>
                  <a:latin typeface="Cooper Hewitt"/>
                </a:rPr>
                <a:t>  There is a significant effect of fish scales as straw.</a:t>
              </a:r>
            </a:p>
            <a:p>
              <a:pPr>
                <a:lnSpc>
                  <a:spcPts val="6073"/>
                </a:lnSpc>
              </a:pPr>
            </a:p>
            <a:p>
              <a:pPr marL="0" indent="0" lvl="0">
                <a:lnSpc>
                  <a:spcPts val="6073"/>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12500" r="0" b="12500"/>
          <a:stretch>
            <a:fillRect/>
          </a:stretch>
        </p:blipFill>
        <p:spPr>
          <a:xfrm>
            <a:off x="0" y="0"/>
            <a:ext cx="18288000" cy="10287000"/>
          </a:xfrm>
          <a:prstGeom prst="rect">
            <a:avLst/>
          </a:prstGeom>
        </p:spPr>
      </p:pic>
      <p:grpSp>
        <p:nvGrpSpPr>
          <p:cNvPr name="Group 3" id="3"/>
          <p:cNvGrpSpPr/>
          <p:nvPr/>
        </p:nvGrpSpPr>
        <p:grpSpPr>
          <a:xfrm rot="0">
            <a:off x="1413743" y="1059293"/>
            <a:ext cx="15288379" cy="8168414"/>
            <a:chOff x="0" y="0"/>
            <a:chExt cx="25753675" cy="13759907"/>
          </a:xfrm>
        </p:grpSpPr>
        <p:sp>
          <p:nvSpPr>
            <p:cNvPr name="Freeform 4" id="4"/>
            <p:cNvSpPr/>
            <p:nvPr/>
          </p:nvSpPr>
          <p:spPr>
            <a:xfrm>
              <a:off x="31750" y="31750"/>
              <a:ext cx="25690175" cy="13696407"/>
            </a:xfrm>
            <a:custGeom>
              <a:avLst/>
              <a:gdLst/>
              <a:ahLst/>
              <a:cxnLst/>
              <a:rect r="r" b="b" t="t" l="l"/>
              <a:pathLst>
                <a:path h="13696407" w="25690175">
                  <a:moveTo>
                    <a:pt x="25597465" y="13696407"/>
                  </a:moveTo>
                  <a:lnTo>
                    <a:pt x="92710" y="13696407"/>
                  </a:lnTo>
                  <a:cubicBezTo>
                    <a:pt x="41910" y="13696407"/>
                    <a:pt x="0" y="13654497"/>
                    <a:pt x="0" y="13603697"/>
                  </a:cubicBezTo>
                  <a:lnTo>
                    <a:pt x="0" y="92710"/>
                  </a:lnTo>
                  <a:cubicBezTo>
                    <a:pt x="0" y="41910"/>
                    <a:pt x="41910" y="0"/>
                    <a:pt x="92710" y="0"/>
                  </a:cubicBezTo>
                  <a:lnTo>
                    <a:pt x="25596196" y="0"/>
                  </a:lnTo>
                  <a:cubicBezTo>
                    <a:pt x="25646996" y="0"/>
                    <a:pt x="25688905" y="41910"/>
                    <a:pt x="25688905" y="92710"/>
                  </a:cubicBezTo>
                  <a:lnTo>
                    <a:pt x="25688905" y="13602427"/>
                  </a:lnTo>
                  <a:cubicBezTo>
                    <a:pt x="25690175" y="13654497"/>
                    <a:pt x="25648265" y="13696407"/>
                    <a:pt x="25597465" y="13696407"/>
                  </a:cubicBezTo>
                  <a:close/>
                </a:path>
              </a:pathLst>
            </a:custGeom>
            <a:solidFill>
              <a:srgbClr val="FFFFFF"/>
            </a:solidFill>
          </p:spPr>
        </p:sp>
        <p:sp>
          <p:nvSpPr>
            <p:cNvPr name="Freeform 5" id="5"/>
            <p:cNvSpPr/>
            <p:nvPr/>
          </p:nvSpPr>
          <p:spPr>
            <a:xfrm>
              <a:off x="0" y="0"/>
              <a:ext cx="25753675" cy="13759907"/>
            </a:xfrm>
            <a:custGeom>
              <a:avLst/>
              <a:gdLst/>
              <a:ahLst/>
              <a:cxnLst/>
              <a:rect r="r" b="b" t="t" l="l"/>
              <a:pathLst>
                <a:path h="13759907" w="25753675">
                  <a:moveTo>
                    <a:pt x="25629215" y="59690"/>
                  </a:moveTo>
                  <a:cubicBezTo>
                    <a:pt x="25664775" y="59690"/>
                    <a:pt x="25693985" y="88900"/>
                    <a:pt x="25693985" y="124460"/>
                  </a:cubicBezTo>
                  <a:lnTo>
                    <a:pt x="25693985" y="13635448"/>
                  </a:lnTo>
                  <a:cubicBezTo>
                    <a:pt x="25693985" y="13671007"/>
                    <a:pt x="25664775" y="13700218"/>
                    <a:pt x="25629215" y="13700218"/>
                  </a:cubicBezTo>
                  <a:lnTo>
                    <a:pt x="124460" y="13700218"/>
                  </a:lnTo>
                  <a:cubicBezTo>
                    <a:pt x="88900" y="13700218"/>
                    <a:pt x="59690" y="13671007"/>
                    <a:pt x="59690" y="13635448"/>
                  </a:cubicBezTo>
                  <a:lnTo>
                    <a:pt x="59690" y="124460"/>
                  </a:lnTo>
                  <a:cubicBezTo>
                    <a:pt x="59690" y="88900"/>
                    <a:pt x="88900" y="59690"/>
                    <a:pt x="124460" y="59690"/>
                  </a:cubicBezTo>
                  <a:lnTo>
                    <a:pt x="25629215" y="59690"/>
                  </a:lnTo>
                  <a:moveTo>
                    <a:pt x="25629215" y="0"/>
                  </a:moveTo>
                  <a:lnTo>
                    <a:pt x="124460" y="0"/>
                  </a:lnTo>
                  <a:cubicBezTo>
                    <a:pt x="55880" y="0"/>
                    <a:pt x="0" y="55880"/>
                    <a:pt x="0" y="124460"/>
                  </a:cubicBezTo>
                  <a:lnTo>
                    <a:pt x="0" y="13635448"/>
                  </a:lnTo>
                  <a:cubicBezTo>
                    <a:pt x="0" y="13704027"/>
                    <a:pt x="55880" y="13759907"/>
                    <a:pt x="124460" y="13759907"/>
                  </a:cubicBezTo>
                  <a:lnTo>
                    <a:pt x="25629215" y="13759907"/>
                  </a:lnTo>
                  <a:cubicBezTo>
                    <a:pt x="25697796" y="13759907"/>
                    <a:pt x="25753675" y="13704027"/>
                    <a:pt x="25753675" y="13635448"/>
                  </a:cubicBezTo>
                  <a:lnTo>
                    <a:pt x="25753675" y="124460"/>
                  </a:lnTo>
                  <a:cubicBezTo>
                    <a:pt x="25753675" y="55880"/>
                    <a:pt x="25697796" y="0"/>
                    <a:pt x="25629215" y="0"/>
                  </a:cubicBezTo>
                  <a:close/>
                </a:path>
              </a:pathLst>
            </a:custGeom>
            <a:solidFill>
              <a:srgbClr val="000000"/>
            </a:solidFill>
          </p:spPr>
        </p:sp>
      </p:grpSp>
      <p:sp>
        <p:nvSpPr>
          <p:cNvPr name="TextBox 6" id="6"/>
          <p:cNvSpPr txBox="true"/>
          <p:nvPr/>
        </p:nvSpPr>
        <p:spPr>
          <a:xfrm rot="0">
            <a:off x="3514455" y="1478809"/>
            <a:ext cx="11259090" cy="914346"/>
          </a:xfrm>
          <a:prstGeom prst="rect">
            <a:avLst/>
          </a:prstGeom>
        </p:spPr>
        <p:txBody>
          <a:bodyPr anchor="t" rtlCol="false" tIns="0" lIns="0" bIns="0" rIns="0">
            <a:spAutoFit/>
          </a:bodyPr>
          <a:lstStyle/>
          <a:p>
            <a:pPr algn="ctr">
              <a:lnSpc>
                <a:spcPts val="7200"/>
              </a:lnSpc>
            </a:pPr>
            <a:r>
              <a:rPr lang="en-US" sz="6000">
                <a:solidFill>
                  <a:srgbClr val="000000"/>
                </a:solidFill>
                <a:latin typeface="Cyrillic Bodoni"/>
              </a:rPr>
              <a:t>BACKGROUND OF THE STUDY</a:t>
            </a:r>
          </a:p>
        </p:txBody>
      </p:sp>
      <p:sp>
        <p:nvSpPr>
          <p:cNvPr name="TextBox 7" id="7"/>
          <p:cNvSpPr txBox="true"/>
          <p:nvPr/>
        </p:nvSpPr>
        <p:spPr>
          <a:xfrm rot="0">
            <a:off x="1728597" y="2616990"/>
            <a:ext cx="14658671" cy="6696193"/>
          </a:xfrm>
          <a:prstGeom prst="rect">
            <a:avLst/>
          </a:prstGeom>
        </p:spPr>
        <p:txBody>
          <a:bodyPr anchor="t" rtlCol="false" tIns="0" lIns="0" bIns="0" rIns="0">
            <a:spAutoFit/>
          </a:bodyPr>
          <a:lstStyle/>
          <a:p>
            <a:pPr algn="ctr">
              <a:lnSpc>
                <a:spcPts val="3579"/>
              </a:lnSpc>
            </a:pPr>
            <a:r>
              <a:rPr lang="en-US" sz="2556">
                <a:solidFill>
                  <a:srgbClr val="000000"/>
                </a:solidFill>
                <a:latin typeface="Canva Sans"/>
              </a:rPr>
              <a:t>       The term "plastic straw" refers to a tube that is primarily made of plastic. Straws are thin, single-use tubes that are designed to make it easier for people to drink their beverages. These tubes can pollute the ocean and are sometimes mistaken for food by animals. The slight convenience of using a single-use plastic to drink can result in the death of numerous animals, including turtles, fish, and birds.</a:t>
            </a:r>
          </a:p>
          <a:p>
            <a:pPr algn="ctr">
              <a:lnSpc>
                <a:spcPts val="3579"/>
              </a:lnSpc>
            </a:pPr>
          </a:p>
          <a:p>
            <a:pPr algn="ctr">
              <a:lnSpc>
                <a:spcPts val="3579"/>
              </a:lnSpc>
            </a:pPr>
            <a:r>
              <a:rPr lang="en-US" sz="2556">
                <a:solidFill>
                  <a:srgbClr val="000000"/>
                </a:solidFill>
                <a:latin typeface="Canva Sans"/>
              </a:rPr>
              <a:t>A fish scale is a small rigid plate that grows out of a fish skin. These are part of the fish’s integumentary system and are produced from dermis’s mesoderm layer, which differentiates them from reptile scales. Fish scales are inedible and thus discarded as industrial waste. This waste can be converted into biodegradable straw that will decompose over time, unlike plastic, which can take up to a hundred years to degrade. Cellulose is found in fish scales, making it the most common polymer on planet. B 1,4-linked glucopyranose units make up cellulose. Fish scales polymers can be transforms into biodegradable straw. In terms of contamination and life-threatening animal famine, it is more efficient than plastics.</a:t>
            </a:r>
          </a:p>
          <a:p>
            <a:pPr algn="ctr">
              <a:lnSpc>
                <a:spcPts val="3579"/>
              </a:lnSpc>
            </a:pP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06877" y="2486337"/>
            <a:ext cx="9992511" cy="7978781"/>
            <a:chOff x="0" y="0"/>
            <a:chExt cx="14014464" cy="11190215"/>
          </a:xfrm>
        </p:grpSpPr>
        <p:sp>
          <p:nvSpPr>
            <p:cNvPr name="Freeform 3" id="3"/>
            <p:cNvSpPr/>
            <p:nvPr/>
          </p:nvSpPr>
          <p:spPr>
            <a:xfrm>
              <a:off x="31750" y="31750"/>
              <a:ext cx="13950964" cy="11126715"/>
            </a:xfrm>
            <a:custGeom>
              <a:avLst/>
              <a:gdLst/>
              <a:ahLst/>
              <a:cxnLst/>
              <a:rect r="r" b="b" t="t" l="l"/>
              <a:pathLst>
                <a:path h="11126715" w="13950964">
                  <a:moveTo>
                    <a:pt x="13858255" y="11126715"/>
                  </a:moveTo>
                  <a:lnTo>
                    <a:pt x="92710" y="11126715"/>
                  </a:lnTo>
                  <a:cubicBezTo>
                    <a:pt x="41910" y="11126715"/>
                    <a:pt x="0" y="11084805"/>
                    <a:pt x="0" y="11034005"/>
                  </a:cubicBezTo>
                  <a:lnTo>
                    <a:pt x="0" y="92710"/>
                  </a:lnTo>
                  <a:cubicBezTo>
                    <a:pt x="0" y="41910"/>
                    <a:pt x="41910" y="0"/>
                    <a:pt x="92710" y="0"/>
                  </a:cubicBezTo>
                  <a:lnTo>
                    <a:pt x="13856985" y="0"/>
                  </a:lnTo>
                  <a:cubicBezTo>
                    <a:pt x="13907785" y="0"/>
                    <a:pt x="13949694" y="41910"/>
                    <a:pt x="13949694" y="92710"/>
                  </a:cubicBezTo>
                  <a:lnTo>
                    <a:pt x="13949694" y="11032735"/>
                  </a:lnTo>
                  <a:cubicBezTo>
                    <a:pt x="13950964" y="11084805"/>
                    <a:pt x="13909055" y="11126715"/>
                    <a:pt x="13858255" y="11126715"/>
                  </a:cubicBezTo>
                  <a:close/>
                </a:path>
              </a:pathLst>
            </a:custGeom>
            <a:solidFill>
              <a:srgbClr val="A4EFC1"/>
            </a:solidFill>
          </p:spPr>
        </p:sp>
        <p:sp>
          <p:nvSpPr>
            <p:cNvPr name="Freeform 4" id="4"/>
            <p:cNvSpPr/>
            <p:nvPr/>
          </p:nvSpPr>
          <p:spPr>
            <a:xfrm>
              <a:off x="0" y="0"/>
              <a:ext cx="14014464" cy="11190215"/>
            </a:xfrm>
            <a:custGeom>
              <a:avLst/>
              <a:gdLst/>
              <a:ahLst/>
              <a:cxnLst/>
              <a:rect r="r" b="b" t="t" l="l"/>
              <a:pathLst>
                <a:path h="11190215" w="14014464">
                  <a:moveTo>
                    <a:pt x="13890005" y="59690"/>
                  </a:moveTo>
                  <a:cubicBezTo>
                    <a:pt x="13925564" y="59690"/>
                    <a:pt x="13954775" y="88900"/>
                    <a:pt x="13954775" y="124460"/>
                  </a:cubicBezTo>
                  <a:lnTo>
                    <a:pt x="13954775" y="11065755"/>
                  </a:lnTo>
                  <a:cubicBezTo>
                    <a:pt x="13954775" y="11101315"/>
                    <a:pt x="13925564" y="11130525"/>
                    <a:pt x="13890005" y="11130525"/>
                  </a:cubicBezTo>
                  <a:lnTo>
                    <a:pt x="124460" y="11130525"/>
                  </a:lnTo>
                  <a:cubicBezTo>
                    <a:pt x="88900" y="11130525"/>
                    <a:pt x="59690" y="11101315"/>
                    <a:pt x="59690" y="11065755"/>
                  </a:cubicBezTo>
                  <a:lnTo>
                    <a:pt x="59690" y="124460"/>
                  </a:lnTo>
                  <a:cubicBezTo>
                    <a:pt x="59690" y="88900"/>
                    <a:pt x="88900" y="59690"/>
                    <a:pt x="124460" y="59690"/>
                  </a:cubicBezTo>
                  <a:lnTo>
                    <a:pt x="13890005" y="59690"/>
                  </a:lnTo>
                  <a:moveTo>
                    <a:pt x="13890005" y="0"/>
                  </a:moveTo>
                  <a:lnTo>
                    <a:pt x="124460" y="0"/>
                  </a:lnTo>
                  <a:cubicBezTo>
                    <a:pt x="55880" y="0"/>
                    <a:pt x="0" y="55880"/>
                    <a:pt x="0" y="124460"/>
                  </a:cubicBezTo>
                  <a:lnTo>
                    <a:pt x="0" y="11065755"/>
                  </a:lnTo>
                  <a:cubicBezTo>
                    <a:pt x="0" y="11134335"/>
                    <a:pt x="55880" y="11190215"/>
                    <a:pt x="124460" y="11190215"/>
                  </a:cubicBezTo>
                  <a:lnTo>
                    <a:pt x="13890005" y="11190215"/>
                  </a:lnTo>
                  <a:cubicBezTo>
                    <a:pt x="13958585" y="11190215"/>
                    <a:pt x="14014464" y="11134335"/>
                    <a:pt x="14014464" y="11065755"/>
                  </a:cubicBezTo>
                  <a:lnTo>
                    <a:pt x="14014464" y="124460"/>
                  </a:lnTo>
                  <a:cubicBezTo>
                    <a:pt x="14014464" y="55880"/>
                    <a:pt x="13958585" y="0"/>
                    <a:pt x="13890005" y="0"/>
                  </a:cubicBezTo>
                  <a:close/>
                </a:path>
              </a:pathLst>
            </a:custGeom>
            <a:solidFill>
              <a:srgbClr val="000000"/>
            </a:solidFill>
          </p:spPr>
        </p:sp>
      </p:grpSp>
      <p:grpSp>
        <p:nvGrpSpPr>
          <p:cNvPr name="Group 5" id="5"/>
          <p:cNvGrpSpPr/>
          <p:nvPr/>
        </p:nvGrpSpPr>
        <p:grpSpPr>
          <a:xfrm rot="0">
            <a:off x="-55376" y="-192230"/>
            <a:ext cx="18398753" cy="2897951"/>
            <a:chOff x="0" y="0"/>
            <a:chExt cx="30993180" cy="4881675"/>
          </a:xfrm>
        </p:grpSpPr>
        <p:sp>
          <p:nvSpPr>
            <p:cNvPr name="Freeform 6" id="6"/>
            <p:cNvSpPr/>
            <p:nvPr/>
          </p:nvSpPr>
          <p:spPr>
            <a:xfrm>
              <a:off x="31750" y="31750"/>
              <a:ext cx="30929681" cy="4818175"/>
            </a:xfrm>
            <a:custGeom>
              <a:avLst/>
              <a:gdLst/>
              <a:ahLst/>
              <a:cxnLst/>
              <a:rect r="r" b="b" t="t" l="l"/>
              <a:pathLst>
                <a:path h="4818175" w="30929681">
                  <a:moveTo>
                    <a:pt x="30836970" y="4818175"/>
                  </a:moveTo>
                  <a:lnTo>
                    <a:pt x="92710" y="4818175"/>
                  </a:lnTo>
                  <a:cubicBezTo>
                    <a:pt x="41910" y="4818175"/>
                    <a:pt x="0" y="4776265"/>
                    <a:pt x="0" y="4725465"/>
                  </a:cubicBezTo>
                  <a:lnTo>
                    <a:pt x="0" y="92710"/>
                  </a:lnTo>
                  <a:cubicBezTo>
                    <a:pt x="0" y="41910"/>
                    <a:pt x="41910" y="0"/>
                    <a:pt x="92710" y="0"/>
                  </a:cubicBezTo>
                  <a:lnTo>
                    <a:pt x="30835699" y="0"/>
                  </a:lnTo>
                  <a:cubicBezTo>
                    <a:pt x="30886499" y="0"/>
                    <a:pt x="30928410" y="41910"/>
                    <a:pt x="30928410" y="92710"/>
                  </a:cubicBezTo>
                  <a:lnTo>
                    <a:pt x="30928410" y="4724195"/>
                  </a:lnTo>
                  <a:cubicBezTo>
                    <a:pt x="30929681" y="4776265"/>
                    <a:pt x="30887770" y="4818175"/>
                    <a:pt x="30836970" y="4818175"/>
                  </a:cubicBezTo>
                  <a:close/>
                </a:path>
              </a:pathLst>
            </a:custGeom>
            <a:solidFill>
              <a:srgbClr val="8EAFF1"/>
            </a:solidFill>
          </p:spPr>
        </p:sp>
        <p:sp>
          <p:nvSpPr>
            <p:cNvPr name="Freeform 7" id="7"/>
            <p:cNvSpPr/>
            <p:nvPr/>
          </p:nvSpPr>
          <p:spPr>
            <a:xfrm>
              <a:off x="0" y="0"/>
              <a:ext cx="30993181" cy="4881675"/>
            </a:xfrm>
            <a:custGeom>
              <a:avLst/>
              <a:gdLst/>
              <a:ahLst/>
              <a:cxnLst/>
              <a:rect r="r" b="b" t="t" l="l"/>
              <a:pathLst>
                <a:path h="4881675" w="30993181">
                  <a:moveTo>
                    <a:pt x="30868720" y="59690"/>
                  </a:moveTo>
                  <a:cubicBezTo>
                    <a:pt x="30904281" y="59690"/>
                    <a:pt x="30933492" y="88900"/>
                    <a:pt x="30933492" y="124460"/>
                  </a:cubicBezTo>
                  <a:lnTo>
                    <a:pt x="30933492" y="4757215"/>
                  </a:lnTo>
                  <a:cubicBezTo>
                    <a:pt x="30933492" y="4792775"/>
                    <a:pt x="30904281" y="4821985"/>
                    <a:pt x="30868720" y="4821985"/>
                  </a:cubicBezTo>
                  <a:lnTo>
                    <a:pt x="124460" y="4821985"/>
                  </a:lnTo>
                  <a:cubicBezTo>
                    <a:pt x="88900" y="4821985"/>
                    <a:pt x="59690" y="4792775"/>
                    <a:pt x="59690" y="4757215"/>
                  </a:cubicBezTo>
                  <a:lnTo>
                    <a:pt x="59690" y="124460"/>
                  </a:lnTo>
                  <a:cubicBezTo>
                    <a:pt x="59690" y="88900"/>
                    <a:pt x="88900" y="59690"/>
                    <a:pt x="124460" y="59690"/>
                  </a:cubicBezTo>
                  <a:lnTo>
                    <a:pt x="30868720" y="59690"/>
                  </a:lnTo>
                  <a:moveTo>
                    <a:pt x="30868720" y="0"/>
                  </a:moveTo>
                  <a:lnTo>
                    <a:pt x="124460" y="0"/>
                  </a:lnTo>
                  <a:cubicBezTo>
                    <a:pt x="55880" y="0"/>
                    <a:pt x="0" y="55880"/>
                    <a:pt x="0" y="124460"/>
                  </a:cubicBezTo>
                  <a:lnTo>
                    <a:pt x="0" y="4757215"/>
                  </a:lnTo>
                  <a:cubicBezTo>
                    <a:pt x="0" y="4825795"/>
                    <a:pt x="55880" y="4881675"/>
                    <a:pt x="124460" y="4881675"/>
                  </a:cubicBezTo>
                  <a:lnTo>
                    <a:pt x="30868720" y="4881675"/>
                  </a:lnTo>
                  <a:cubicBezTo>
                    <a:pt x="30937299" y="4881675"/>
                    <a:pt x="30993181" y="4825795"/>
                    <a:pt x="30993181" y="4757215"/>
                  </a:cubicBezTo>
                  <a:lnTo>
                    <a:pt x="30993181" y="124460"/>
                  </a:lnTo>
                  <a:cubicBezTo>
                    <a:pt x="30993181" y="55880"/>
                    <a:pt x="30937299" y="0"/>
                    <a:pt x="30868720" y="0"/>
                  </a:cubicBezTo>
                  <a:close/>
                </a:path>
              </a:pathLst>
            </a:custGeom>
            <a:solidFill>
              <a:srgbClr val="000000"/>
            </a:solidFill>
          </p:spPr>
        </p:sp>
      </p:grpSp>
      <p:sp>
        <p:nvSpPr>
          <p:cNvPr name="TextBox 8" id="8"/>
          <p:cNvSpPr txBox="true"/>
          <p:nvPr/>
        </p:nvSpPr>
        <p:spPr>
          <a:xfrm rot="0">
            <a:off x="894305" y="457621"/>
            <a:ext cx="16499389" cy="2028717"/>
          </a:xfrm>
          <a:prstGeom prst="rect">
            <a:avLst/>
          </a:prstGeom>
        </p:spPr>
        <p:txBody>
          <a:bodyPr anchor="t" rtlCol="false" tIns="0" lIns="0" bIns="0" rIns="0">
            <a:spAutoFit/>
          </a:bodyPr>
          <a:lstStyle/>
          <a:p>
            <a:pPr algn="ctr">
              <a:lnSpc>
                <a:spcPts val="8022"/>
              </a:lnSpc>
            </a:pPr>
            <a:r>
              <a:rPr lang="en-US" sz="6685">
                <a:solidFill>
                  <a:srgbClr val="000000"/>
                </a:solidFill>
                <a:latin typeface="Cyrillic Bodoni"/>
              </a:rPr>
              <a:t>ACCEPTABILITY OF RABBIT MANURE AS AN ALTERNATIVE BRIQUETTE</a:t>
            </a:r>
          </a:p>
        </p:txBody>
      </p:sp>
      <p:sp>
        <p:nvSpPr>
          <p:cNvPr name="TextBox 9" id="9"/>
          <p:cNvSpPr txBox="true"/>
          <p:nvPr/>
        </p:nvSpPr>
        <p:spPr>
          <a:xfrm rot="0">
            <a:off x="441865" y="3003944"/>
            <a:ext cx="7326840" cy="892176"/>
          </a:xfrm>
          <a:prstGeom prst="rect">
            <a:avLst/>
          </a:prstGeom>
        </p:spPr>
        <p:txBody>
          <a:bodyPr anchor="t" rtlCol="false" tIns="0" lIns="0" bIns="0" rIns="0">
            <a:spAutoFit/>
          </a:bodyPr>
          <a:lstStyle/>
          <a:p>
            <a:pPr>
              <a:lnSpc>
                <a:spcPts val="7149"/>
              </a:lnSpc>
            </a:pPr>
            <a:r>
              <a:rPr lang="en-US" sz="5499">
                <a:solidFill>
                  <a:srgbClr val="000000"/>
                </a:solidFill>
                <a:latin typeface="Cyrillic Bodoni"/>
              </a:rPr>
              <a:t>Statement of the Problem </a:t>
            </a:r>
          </a:p>
        </p:txBody>
      </p:sp>
      <p:sp>
        <p:nvSpPr>
          <p:cNvPr name="TextBox 10" id="10"/>
          <p:cNvSpPr txBox="true"/>
          <p:nvPr/>
        </p:nvSpPr>
        <p:spPr>
          <a:xfrm rot="0">
            <a:off x="8676432" y="2924796"/>
            <a:ext cx="9611568" cy="3571875"/>
          </a:xfrm>
          <a:prstGeom prst="rect">
            <a:avLst/>
          </a:prstGeom>
        </p:spPr>
        <p:txBody>
          <a:bodyPr anchor="t" rtlCol="false" tIns="0" lIns="0" bIns="0" rIns="0">
            <a:spAutoFit/>
          </a:bodyPr>
          <a:lstStyle/>
          <a:p>
            <a:pPr>
              <a:lnSpc>
                <a:spcPts val="5639"/>
              </a:lnSpc>
            </a:pPr>
            <a:r>
              <a:rPr lang="en-US" sz="4699">
                <a:solidFill>
                  <a:srgbClr val="000000"/>
                </a:solidFill>
                <a:latin typeface="Cyrillic Bodoni Bold Italics"/>
              </a:rPr>
              <a:t>General Objective:</a:t>
            </a:r>
          </a:p>
          <a:p>
            <a:pPr>
              <a:lnSpc>
                <a:spcPts val="5639"/>
              </a:lnSpc>
            </a:pPr>
            <a:r>
              <a:rPr lang="en-US" sz="4699">
                <a:solidFill>
                  <a:srgbClr val="000000"/>
                </a:solidFill>
                <a:latin typeface="Cyrillic Bodoni"/>
              </a:rPr>
              <a:t>To discover whether it is possible to make a briquette from rabbit manure.</a:t>
            </a:r>
          </a:p>
          <a:p>
            <a:pPr>
              <a:lnSpc>
                <a:spcPts val="5639"/>
              </a:lnSpc>
            </a:pPr>
          </a:p>
          <a:p>
            <a:pPr algn="l" marL="0" indent="0" lvl="0">
              <a:lnSpc>
                <a:spcPts val="5639"/>
              </a:lnSpc>
              <a:spcBef>
                <a:spcPct val="0"/>
              </a:spcBef>
            </a:pPr>
          </a:p>
        </p:txBody>
      </p:sp>
      <p:sp>
        <p:nvSpPr>
          <p:cNvPr name="TextBox 11" id="11"/>
          <p:cNvSpPr txBox="true"/>
          <p:nvPr/>
        </p:nvSpPr>
        <p:spPr>
          <a:xfrm rot="0">
            <a:off x="441865" y="3972500"/>
            <a:ext cx="7581810" cy="6656233"/>
          </a:xfrm>
          <a:prstGeom prst="rect">
            <a:avLst/>
          </a:prstGeom>
        </p:spPr>
        <p:txBody>
          <a:bodyPr anchor="t" rtlCol="false" tIns="0" lIns="0" bIns="0" rIns="0">
            <a:spAutoFit/>
          </a:bodyPr>
          <a:lstStyle/>
          <a:p>
            <a:pPr>
              <a:lnSpc>
                <a:spcPts val="5871"/>
              </a:lnSpc>
            </a:pPr>
            <a:r>
              <a:rPr lang="en-US" sz="4193">
                <a:solidFill>
                  <a:srgbClr val="000000"/>
                </a:solidFill>
                <a:latin typeface="Canva Sans Bold"/>
              </a:rPr>
              <a:t> The study focuses on the production of briquettes out of rabbit manure. The research aims to answer the following:</a:t>
            </a:r>
          </a:p>
          <a:p>
            <a:pPr>
              <a:lnSpc>
                <a:spcPts val="5871"/>
              </a:lnSpc>
            </a:pPr>
            <a:r>
              <a:rPr lang="en-US" sz="4193">
                <a:solidFill>
                  <a:srgbClr val="000000"/>
                </a:solidFill>
                <a:latin typeface="Canva Sans Bold"/>
              </a:rPr>
              <a:t>1. Heat conductivity;</a:t>
            </a:r>
          </a:p>
          <a:p>
            <a:pPr>
              <a:lnSpc>
                <a:spcPts val="5871"/>
              </a:lnSpc>
            </a:pPr>
            <a:r>
              <a:rPr lang="en-US" sz="4193">
                <a:solidFill>
                  <a:srgbClr val="000000"/>
                </a:solidFill>
                <a:latin typeface="Canva Sans Bold"/>
              </a:rPr>
              <a:t>2. Weigh per piece;</a:t>
            </a:r>
          </a:p>
          <a:p>
            <a:pPr>
              <a:lnSpc>
                <a:spcPts val="5871"/>
              </a:lnSpc>
            </a:pPr>
            <a:r>
              <a:rPr lang="en-US" sz="4193">
                <a:solidFill>
                  <a:srgbClr val="000000"/>
                </a:solidFill>
                <a:latin typeface="Canva Sans Bold"/>
              </a:rPr>
              <a:t>3. Durability;</a:t>
            </a:r>
          </a:p>
          <a:p>
            <a:pPr>
              <a:lnSpc>
                <a:spcPts val="5871"/>
              </a:lnSpc>
            </a:pPr>
          </a:p>
        </p:txBody>
      </p:sp>
      <p:sp>
        <p:nvSpPr>
          <p:cNvPr name="TextBox 12" id="12"/>
          <p:cNvSpPr txBox="true"/>
          <p:nvPr/>
        </p:nvSpPr>
        <p:spPr>
          <a:xfrm rot="0">
            <a:off x="8676432" y="5293747"/>
            <a:ext cx="9756967" cy="5171372"/>
          </a:xfrm>
          <a:prstGeom prst="rect">
            <a:avLst/>
          </a:prstGeom>
        </p:spPr>
        <p:txBody>
          <a:bodyPr anchor="t" rtlCol="false" tIns="0" lIns="0" bIns="0" rIns="0">
            <a:spAutoFit/>
          </a:bodyPr>
          <a:lstStyle/>
          <a:p>
            <a:pPr>
              <a:lnSpc>
                <a:spcPts val="5240"/>
              </a:lnSpc>
            </a:pPr>
            <a:r>
              <a:rPr lang="en-US" sz="4367">
                <a:solidFill>
                  <a:srgbClr val="000000"/>
                </a:solidFill>
                <a:latin typeface="Cyrillic Bodoni Bold Italics"/>
              </a:rPr>
              <a:t>Specific Objectives:</a:t>
            </a:r>
          </a:p>
          <a:p>
            <a:pPr>
              <a:lnSpc>
                <a:spcPts val="4836"/>
              </a:lnSpc>
            </a:pPr>
            <a:r>
              <a:rPr lang="en-US" sz="4030">
                <a:solidFill>
                  <a:srgbClr val="000000"/>
                </a:solidFill>
                <a:latin typeface="Cyrillic Bodoni Bold Italics"/>
              </a:rPr>
              <a:t>Ø To determine whether rabbit manure is effective in the production of briquettes.</a:t>
            </a:r>
          </a:p>
          <a:p>
            <a:pPr>
              <a:lnSpc>
                <a:spcPts val="4836"/>
              </a:lnSpc>
            </a:pPr>
            <a:r>
              <a:rPr lang="en-US" sz="4030">
                <a:solidFill>
                  <a:srgbClr val="000000"/>
                </a:solidFill>
                <a:latin typeface="Cyrillic Bodoni Bold Italics"/>
              </a:rPr>
              <a:t>Ø To study the best way or method to manufacture briquettes from rabbit manure.</a:t>
            </a:r>
          </a:p>
          <a:p>
            <a:pPr>
              <a:lnSpc>
                <a:spcPts val="4836"/>
              </a:lnSpc>
            </a:pPr>
            <a:r>
              <a:rPr lang="en-US" sz="4030">
                <a:solidFill>
                  <a:srgbClr val="000000"/>
                </a:solidFill>
                <a:latin typeface="Cyrillic Bodoni Bold Italics"/>
              </a:rPr>
              <a:t>Ø To find out if rabbit manure is acceptable as an alternative briquette.</a:t>
            </a:r>
          </a:p>
          <a:p>
            <a:pPr algn="l" marL="0" indent="0" lvl="0">
              <a:lnSpc>
                <a:spcPts val="201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90753" y="-190654"/>
            <a:ext cx="18697372" cy="2741653"/>
            <a:chOff x="0" y="0"/>
            <a:chExt cx="32021606" cy="4695425"/>
          </a:xfrm>
        </p:grpSpPr>
        <p:sp>
          <p:nvSpPr>
            <p:cNvPr name="Freeform 3" id="3"/>
            <p:cNvSpPr/>
            <p:nvPr/>
          </p:nvSpPr>
          <p:spPr>
            <a:xfrm>
              <a:off x="31750" y="31750"/>
              <a:ext cx="31958105" cy="4631925"/>
            </a:xfrm>
            <a:custGeom>
              <a:avLst/>
              <a:gdLst/>
              <a:ahLst/>
              <a:cxnLst/>
              <a:rect r="r" b="b" t="t" l="l"/>
              <a:pathLst>
                <a:path h="4631925" w="31958105">
                  <a:moveTo>
                    <a:pt x="31865395" y="4631925"/>
                  </a:moveTo>
                  <a:lnTo>
                    <a:pt x="92710" y="4631925"/>
                  </a:lnTo>
                  <a:cubicBezTo>
                    <a:pt x="41910" y="4631925"/>
                    <a:pt x="0" y="4590016"/>
                    <a:pt x="0" y="4539216"/>
                  </a:cubicBezTo>
                  <a:lnTo>
                    <a:pt x="0" y="92710"/>
                  </a:lnTo>
                  <a:cubicBezTo>
                    <a:pt x="0" y="41910"/>
                    <a:pt x="41910" y="0"/>
                    <a:pt x="92710" y="0"/>
                  </a:cubicBezTo>
                  <a:lnTo>
                    <a:pt x="31864126" y="0"/>
                  </a:lnTo>
                  <a:cubicBezTo>
                    <a:pt x="31914926" y="0"/>
                    <a:pt x="31956837" y="41910"/>
                    <a:pt x="31956837" y="92710"/>
                  </a:cubicBezTo>
                  <a:lnTo>
                    <a:pt x="31956837" y="4537945"/>
                  </a:lnTo>
                  <a:cubicBezTo>
                    <a:pt x="31958105" y="4590016"/>
                    <a:pt x="31916195" y="4631925"/>
                    <a:pt x="31865395" y="4631925"/>
                  </a:cubicBezTo>
                  <a:close/>
                </a:path>
              </a:pathLst>
            </a:custGeom>
            <a:solidFill>
              <a:srgbClr val="8EAFF1"/>
            </a:solidFill>
          </p:spPr>
        </p:sp>
        <p:sp>
          <p:nvSpPr>
            <p:cNvPr name="Freeform 4" id="4"/>
            <p:cNvSpPr/>
            <p:nvPr/>
          </p:nvSpPr>
          <p:spPr>
            <a:xfrm>
              <a:off x="0" y="0"/>
              <a:ext cx="32021605" cy="4695425"/>
            </a:xfrm>
            <a:custGeom>
              <a:avLst/>
              <a:gdLst/>
              <a:ahLst/>
              <a:cxnLst/>
              <a:rect r="r" b="b" t="t" l="l"/>
              <a:pathLst>
                <a:path h="4695425" w="32021605">
                  <a:moveTo>
                    <a:pt x="31897145" y="59690"/>
                  </a:moveTo>
                  <a:cubicBezTo>
                    <a:pt x="31932705" y="59690"/>
                    <a:pt x="31961916" y="88900"/>
                    <a:pt x="31961916" y="124460"/>
                  </a:cubicBezTo>
                  <a:lnTo>
                    <a:pt x="31961916" y="4570966"/>
                  </a:lnTo>
                  <a:cubicBezTo>
                    <a:pt x="31961916" y="4606525"/>
                    <a:pt x="31932705" y="4635736"/>
                    <a:pt x="31897145" y="4635736"/>
                  </a:cubicBezTo>
                  <a:lnTo>
                    <a:pt x="124460" y="4635736"/>
                  </a:lnTo>
                  <a:cubicBezTo>
                    <a:pt x="88900" y="4635736"/>
                    <a:pt x="59690" y="4606525"/>
                    <a:pt x="59690" y="4570966"/>
                  </a:cubicBezTo>
                  <a:lnTo>
                    <a:pt x="59690" y="124460"/>
                  </a:lnTo>
                  <a:cubicBezTo>
                    <a:pt x="59690" y="88900"/>
                    <a:pt x="88900" y="59690"/>
                    <a:pt x="124460" y="59690"/>
                  </a:cubicBezTo>
                  <a:lnTo>
                    <a:pt x="31897145" y="59690"/>
                  </a:lnTo>
                  <a:moveTo>
                    <a:pt x="31897145" y="0"/>
                  </a:moveTo>
                  <a:lnTo>
                    <a:pt x="124460" y="0"/>
                  </a:lnTo>
                  <a:cubicBezTo>
                    <a:pt x="55880" y="0"/>
                    <a:pt x="0" y="55880"/>
                    <a:pt x="0" y="124460"/>
                  </a:cubicBezTo>
                  <a:lnTo>
                    <a:pt x="0" y="4570966"/>
                  </a:lnTo>
                  <a:cubicBezTo>
                    <a:pt x="0" y="4639545"/>
                    <a:pt x="55880" y="4695425"/>
                    <a:pt x="124460" y="4695425"/>
                  </a:cubicBezTo>
                  <a:lnTo>
                    <a:pt x="31897145" y="4695425"/>
                  </a:lnTo>
                  <a:cubicBezTo>
                    <a:pt x="31965726" y="4695425"/>
                    <a:pt x="32021605" y="4639545"/>
                    <a:pt x="32021605" y="4570966"/>
                  </a:cubicBezTo>
                  <a:lnTo>
                    <a:pt x="32021605" y="124460"/>
                  </a:lnTo>
                  <a:cubicBezTo>
                    <a:pt x="32021605" y="55880"/>
                    <a:pt x="31965726" y="0"/>
                    <a:pt x="31897145" y="0"/>
                  </a:cubicBezTo>
                  <a:close/>
                </a:path>
              </a:pathLst>
            </a:custGeom>
            <a:solidFill>
              <a:srgbClr val="000000"/>
            </a:solidFill>
          </p:spPr>
        </p:sp>
      </p:grpSp>
      <p:grpSp>
        <p:nvGrpSpPr>
          <p:cNvPr name="Group 5" id="5"/>
          <p:cNvGrpSpPr/>
          <p:nvPr/>
        </p:nvGrpSpPr>
        <p:grpSpPr>
          <a:xfrm rot="0">
            <a:off x="-290753" y="8959850"/>
            <a:ext cx="18697372" cy="1474862"/>
            <a:chOff x="0" y="0"/>
            <a:chExt cx="32021606" cy="2525887"/>
          </a:xfrm>
        </p:grpSpPr>
        <p:sp>
          <p:nvSpPr>
            <p:cNvPr name="Freeform 6" id="6"/>
            <p:cNvSpPr/>
            <p:nvPr/>
          </p:nvSpPr>
          <p:spPr>
            <a:xfrm>
              <a:off x="31750" y="31750"/>
              <a:ext cx="31958105" cy="2462387"/>
            </a:xfrm>
            <a:custGeom>
              <a:avLst/>
              <a:gdLst/>
              <a:ahLst/>
              <a:cxnLst/>
              <a:rect r="r" b="b" t="t" l="l"/>
              <a:pathLst>
                <a:path h="2462387" w="31958105">
                  <a:moveTo>
                    <a:pt x="31865395" y="2462387"/>
                  </a:moveTo>
                  <a:lnTo>
                    <a:pt x="92710" y="2462387"/>
                  </a:lnTo>
                  <a:cubicBezTo>
                    <a:pt x="41910" y="2462387"/>
                    <a:pt x="0" y="2420477"/>
                    <a:pt x="0" y="2369677"/>
                  </a:cubicBezTo>
                  <a:lnTo>
                    <a:pt x="0" y="92710"/>
                  </a:lnTo>
                  <a:cubicBezTo>
                    <a:pt x="0" y="41910"/>
                    <a:pt x="41910" y="0"/>
                    <a:pt x="92710" y="0"/>
                  </a:cubicBezTo>
                  <a:lnTo>
                    <a:pt x="31864126" y="0"/>
                  </a:lnTo>
                  <a:cubicBezTo>
                    <a:pt x="31914926" y="0"/>
                    <a:pt x="31956837" y="41910"/>
                    <a:pt x="31956837" y="92710"/>
                  </a:cubicBezTo>
                  <a:lnTo>
                    <a:pt x="31956837" y="2368407"/>
                  </a:lnTo>
                  <a:cubicBezTo>
                    <a:pt x="31958105" y="2420477"/>
                    <a:pt x="31916195" y="2462387"/>
                    <a:pt x="31865395" y="2462387"/>
                  </a:cubicBezTo>
                  <a:close/>
                </a:path>
              </a:pathLst>
            </a:custGeom>
            <a:solidFill>
              <a:srgbClr val="A4EFC1"/>
            </a:solidFill>
          </p:spPr>
        </p:sp>
        <p:sp>
          <p:nvSpPr>
            <p:cNvPr name="Freeform 7" id="7"/>
            <p:cNvSpPr/>
            <p:nvPr/>
          </p:nvSpPr>
          <p:spPr>
            <a:xfrm>
              <a:off x="0" y="0"/>
              <a:ext cx="32021605" cy="2525887"/>
            </a:xfrm>
            <a:custGeom>
              <a:avLst/>
              <a:gdLst/>
              <a:ahLst/>
              <a:cxnLst/>
              <a:rect r="r" b="b" t="t" l="l"/>
              <a:pathLst>
                <a:path h="2525887" w="32021605">
                  <a:moveTo>
                    <a:pt x="31897145" y="59690"/>
                  </a:moveTo>
                  <a:cubicBezTo>
                    <a:pt x="31932705" y="59690"/>
                    <a:pt x="31961916" y="88900"/>
                    <a:pt x="31961916" y="124460"/>
                  </a:cubicBezTo>
                  <a:lnTo>
                    <a:pt x="31961916" y="2401427"/>
                  </a:lnTo>
                  <a:cubicBezTo>
                    <a:pt x="31961916" y="2436987"/>
                    <a:pt x="31932705" y="2466197"/>
                    <a:pt x="31897145" y="2466197"/>
                  </a:cubicBezTo>
                  <a:lnTo>
                    <a:pt x="124460" y="2466197"/>
                  </a:lnTo>
                  <a:cubicBezTo>
                    <a:pt x="88900" y="2466197"/>
                    <a:pt x="59690" y="2436987"/>
                    <a:pt x="59690" y="2401427"/>
                  </a:cubicBezTo>
                  <a:lnTo>
                    <a:pt x="59690" y="124460"/>
                  </a:lnTo>
                  <a:cubicBezTo>
                    <a:pt x="59690" y="88900"/>
                    <a:pt x="88900" y="59690"/>
                    <a:pt x="124460" y="59690"/>
                  </a:cubicBezTo>
                  <a:lnTo>
                    <a:pt x="31897145" y="59690"/>
                  </a:lnTo>
                  <a:moveTo>
                    <a:pt x="31897145" y="0"/>
                  </a:moveTo>
                  <a:lnTo>
                    <a:pt x="124460" y="0"/>
                  </a:lnTo>
                  <a:cubicBezTo>
                    <a:pt x="55880" y="0"/>
                    <a:pt x="0" y="55880"/>
                    <a:pt x="0" y="124460"/>
                  </a:cubicBezTo>
                  <a:lnTo>
                    <a:pt x="0" y="2401427"/>
                  </a:lnTo>
                  <a:cubicBezTo>
                    <a:pt x="0" y="2470007"/>
                    <a:pt x="55880" y="2525887"/>
                    <a:pt x="124460" y="2525887"/>
                  </a:cubicBezTo>
                  <a:lnTo>
                    <a:pt x="31897145" y="2525887"/>
                  </a:lnTo>
                  <a:cubicBezTo>
                    <a:pt x="31965726" y="2525887"/>
                    <a:pt x="32021605" y="2470007"/>
                    <a:pt x="32021605" y="2401427"/>
                  </a:cubicBezTo>
                  <a:lnTo>
                    <a:pt x="32021605" y="124460"/>
                  </a:lnTo>
                  <a:cubicBezTo>
                    <a:pt x="32021605" y="55880"/>
                    <a:pt x="31965726" y="0"/>
                    <a:pt x="31897145" y="0"/>
                  </a:cubicBezTo>
                  <a:close/>
                </a:path>
              </a:pathLst>
            </a:custGeom>
            <a:solidFill>
              <a:srgbClr val="000000"/>
            </a:solidFill>
          </p:spPr>
        </p:sp>
      </p:grpSp>
      <p:sp>
        <p:nvSpPr>
          <p:cNvPr name="AutoShape 8" id="8"/>
          <p:cNvSpPr/>
          <p:nvPr/>
        </p:nvSpPr>
        <p:spPr>
          <a:xfrm rot="5400000">
            <a:off x="2877287" y="5741137"/>
            <a:ext cx="6408851" cy="0"/>
          </a:xfrm>
          <a:prstGeom prst="line">
            <a:avLst/>
          </a:prstGeom>
          <a:ln cap="flat" w="28575">
            <a:solidFill>
              <a:srgbClr val="000000"/>
            </a:solidFill>
            <a:prstDash val="solid"/>
            <a:headEnd type="none" len="sm" w="sm"/>
            <a:tailEnd type="none" len="sm" w="sm"/>
          </a:ln>
        </p:spPr>
      </p:sp>
      <p:sp>
        <p:nvSpPr>
          <p:cNvPr name="AutoShape 9" id="9"/>
          <p:cNvSpPr/>
          <p:nvPr/>
        </p:nvSpPr>
        <p:spPr>
          <a:xfrm rot="5400000">
            <a:off x="9001862" y="5741137"/>
            <a:ext cx="6408851" cy="0"/>
          </a:xfrm>
          <a:prstGeom prst="line">
            <a:avLst/>
          </a:prstGeom>
          <a:ln cap="flat" w="28575">
            <a:solidFill>
              <a:srgbClr val="000000"/>
            </a:solidFill>
            <a:prstDash val="solid"/>
            <a:headEnd type="none" len="sm" w="sm"/>
            <a:tailEnd type="none" len="sm" w="sm"/>
          </a:ln>
        </p:spPr>
      </p:sp>
      <p:sp>
        <p:nvSpPr>
          <p:cNvPr name="TextBox 10" id="10"/>
          <p:cNvSpPr txBox="true"/>
          <p:nvPr/>
        </p:nvSpPr>
        <p:spPr>
          <a:xfrm rot="0">
            <a:off x="1028700" y="1028700"/>
            <a:ext cx="16230600" cy="1219200"/>
          </a:xfrm>
          <a:prstGeom prst="rect">
            <a:avLst/>
          </a:prstGeom>
        </p:spPr>
        <p:txBody>
          <a:bodyPr anchor="t" rtlCol="false" tIns="0" lIns="0" bIns="0" rIns="0">
            <a:spAutoFit/>
          </a:bodyPr>
          <a:lstStyle/>
          <a:p>
            <a:pPr>
              <a:lnSpc>
                <a:spcPts val="9600"/>
              </a:lnSpc>
            </a:pPr>
            <a:r>
              <a:rPr lang="en-US" sz="8000">
                <a:solidFill>
                  <a:srgbClr val="000000"/>
                </a:solidFill>
                <a:latin typeface="Cyrillic Bodoni Italics"/>
              </a:rPr>
              <a:t>HYPOTHESIS</a:t>
            </a:r>
          </a:p>
        </p:txBody>
      </p:sp>
      <p:sp>
        <p:nvSpPr>
          <p:cNvPr name="TextBox 11" id="11"/>
          <p:cNvSpPr txBox="true"/>
          <p:nvPr/>
        </p:nvSpPr>
        <p:spPr>
          <a:xfrm rot="0">
            <a:off x="410753" y="2956776"/>
            <a:ext cx="5656672" cy="6301524"/>
          </a:xfrm>
          <a:prstGeom prst="rect">
            <a:avLst/>
          </a:prstGeom>
        </p:spPr>
        <p:txBody>
          <a:bodyPr anchor="t" rtlCol="false" tIns="0" lIns="0" bIns="0" rIns="0">
            <a:spAutoFit/>
          </a:bodyPr>
          <a:lstStyle/>
          <a:p>
            <a:pPr>
              <a:lnSpc>
                <a:spcPts val="6239"/>
              </a:lnSpc>
            </a:pPr>
            <a:r>
              <a:rPr lang="en-US" sz="4799">
                <a:solidFill>
                  <a:srgbClr val="000000"/>
                </a:solidFill>
                <a:latin typeface="Cyrillic Bodoni"/>
              </a:rPr>
              <a:t> This study is based on the following null and alternative hypothesis according to the statement of the problem, the hypotheses are:</a:t>
            </a:r>
          </a:p>
          <a:p>
            <a:pPr marL="0" indent="0" lvl="0">
              <a:lnSpc>
                <a:spcPts val="6239"/>
              </a:lnSpc>
            </a:pPr>
          </a:p>
        </p:txBody>
      </p:sp>
      <p:grpSp>
        <p:nvGrpSpPr>
          <p:cNvPr name="Group 12" id="12"/>
          <p:cNvGrpSpPr/>
          <p:nvPr/>
        </p:nvGrpSpPr>
        <p:grpSpPr>
          <a:xfrm rot="0">
            <a:off x="6455031" y="2894542"/>
            <a:ext cx="5489319" cy="7629738"/>
            <a:chOff x="0" y="0"/>
            <a:chExt cx="7319093" cy="10172984"/>
          </a:xfrm>
        </p:grpSpPr>
        <p:sp>
          <p:nvSpPr>
            <p:cNvPr name="TextBox 13" id="13"/>
            <p:cNvSpPr txBox="true"/>
            <p:nvPr/>
          </p:nvSpPr>
          <p:spPr>
            <a:xfrm rot="0">
              <a:off x="0" y="-57150"/>
              <a:ext cx="7319093" cy="1301414"/>
            </a:xfrm>
            <a:prstGeom prst="rect">
              <a:avLst/>
            </a:prstGeom>
          </p:spPr>
          <p:txBody>
            <a:bodyPr anchor="t" rtlCol="false" tIns="0" lIns="0" bIns="0" rIns="0">
              <a:spAutoFit/>
            </a:bodyPr>
            <a:lstStyle/>
            <a:p>
              <a:pPr marL="0" indent="0" lvl="0">
                <a:lnSpc>
                  <a:spcPts val="7967"/>
                </a:lnSpc>
                <a:spcBef>
                  <a:spcPct val="0"/>
                </a:spcBef>
              </a:pPr>
              <a:r>
                <a:rPr lang="en-US" sz="6128">
                  <a:solidFill>
                    <a:srgbClr val="000000"/>
                  </a:solidFill>
                  <a:latin typeface="Cyrillic Bodoni"/>
                </a:rPr>
                <a:t>Null Hypothesis</a:t>
              </a:r>
            </a:p>
          </p:txBody>
        </p:sp>
        <p:sp>
          <p:nvSpPr>
            <p:cNvPr name="TextBox 14" id="14"/>
            <p:cNvSpPr txBox="true"/>
            <p:nvPr/>
          </p:nvSpPr>
          <p:spPr>
            <a:xfrm rot="0">
              <a:off x="0" y="1426446"/>
              <a:ext cx="7319093" cy="8746538"/>
            </a:xfrm>
            <a:prstGeom prst="rect">
              <a:avLst/>
            </a:prstGeom>
          </p:spPr>
          <p:txBody>
            <a:bodyPr anchor="t" rtlCol="false" tIns="0" lIns="0" bIns="0" rIns="0">
              <a:spAutoFit/>
            </a:bodyPr>
            <a:lstStyle/>
            <a:p>
              <a:pPr>
                <a:lnSpc>
                  <a:spcPts val="7279"/>
                </a:lnSpc>
              </a:pPr>
              <a:r>
                <a:rPr lang="en-US" sz="5599">
                  <a:solidFill>
                    <a:srgbClr val="000000"/>
                  </a:solidFill>
                  <a:latin typeface="Cooper Hewitt"/>
                </a:rPr>
                <a:t> Rabbit manure has no significant effect as alternative briquettes.</a:t>
              </a:r>
            </a:p>
            <a:p>
              <a:pPr>
                <a:lnSpc>
                  <a:spcPts val="7279"/>
                </a:lnSpc>
              </a:pPr>
            </a:p>
            <a:p>
              <a:pPr marL="0" indent="0" lvl="0">
                <a:lnSpc>
                  <a:spcPts val="7279"/>
                </a:lnSpc>
              </a:pPr>
            </a:p>
          </p:txBody>
        </p:sp>
      </p:grpSp>
      <p:grpSp>
        <p:nvGrpSpPr>
          <p:cNvPr name="Group 15" id="15"/>
          <p:cNvGrpSpPr/>
          <p:nvPr/>
        </p:nvGrpSpPr>
        <p:grpSpPr>
          <a:xfrm rot="0">
            <a:off x="12463906" y="2894542"/>
            <a:ext cx="5824094" cy="6021214"/>
            <a:chOff x="0" y="0"/>
            <a:chExt cx="7765459" cy="8028286"/>
          </a:xfrm>
        </p:grpSpPr>
        <p:sp>
          <p:nvSpPr>
            <p:cNvPr name="TextBox 16" id="16"/>
            <p:cNvSpPr txBox="true"/>
            <p:nvPr/>
          </p:nvSpPr>
          <p:spPr>
            <a:xfrm rot="0">
              <a:off x="0" y="-38100"/>
              <a:ext cx="7765459" cy="963324"/>
            </a:xfrm>
            <a:prstGeom prst="rect">
              <a:avLst/>
            </a:prstGeom>
          </p:spPr>
          <p:txBody>
            <a:bodyPr anchor="t" rtlCol="false" tIns="0" lIns="0" bIns="0" rIns="0">
              <a:spAutoFit/>
            </a:bodyPr>
            <a:lstStyle/>
            <a:p>
              <a:pPr algn="l" marL="0" indent="0" lvl="0">
                <a:lnSpc>
                  <a:spcPts val="5985"/>
                </a:lnSpc>
                <a:spcBef>
                  <a:spcPct val="0"/>
                </a:spcBef>
              </a:pPr>
              <a:r>
                <a:rPr lang="en-US" sz="4604">
                  <a:solidFill>
                    <a:srgbClr val="000000"/>
                  </a:solidFill>
                  <a:latin typeface="Cyrillic Bodoni Bold"/>
                </a:rPr>
                <a:t>Alternative </a:t>
              </a:r>
              <a:r>
                <a:rPr lang="en-US" sz="4604">
                  <a:solidFill>
                    <a:srgbClr val="000000"/>
                  </a:solidFill>
                  <a:latin typeface="Cyrillic Bodoni Bold"/>
                </a:rPr>
                <a:t>Hypothesis</a:t>
              </a:r>
            </a:p>
          </p:txBody>
        </p:sp>
        <p:sp>
          <p:nvSpPr>
            <p:cNvPr name="TextBox 17" id="17"/>
            <p:cNvSpPr txBox="true"/>
            <p:nvPr/>
          </p:nvSpPr>
          <p:spPr>
            <a:xfrm rot="0">
              <a:off x="0" y="1118314"/>
              <a:ext cx="7765459" cy="6909972"/>
            </a:xfrm>
            <a:prstGeom prst="rect">
              <a:avLst/>
            </a:prstGeom>
          </p:spPr>
          <p:txBody>
            <a:bodyPr anchor="t" rtlCol="false" tIns="0" lIns="0" bIns="0" rIns="0">
              <a:spAutoFit/>
            </a:bodyPr>
            <a:lstStyle/>
            <a:p>
              <a:pPr>
                <a:lnSpc>
                  <a:spcPts val="6853"/>
                </a:lnSpc>
              </a:pPr>
              <a:r>
                <a:rPr lang="en-US" sz="5271">
                  <a:solidFill>
                    <a:srgbClr val="000000"/>
                  </a:solidFill>
                  <a:latin typeface="Cooper Hewitt"/>
                </a:rPr>
                <a:t>  Rabbit manure has significant as alternative briquettes.</a:t>
              </a:r>
            </a:p>
            <a:p>
              <a:pPr>
                <a:lnSpc>
                  <a:spcPts val="6853"/>
                </a:lnSpc>
              </a:pPr>
            </a:p>
            <a:p>
              <a:pPr marL="0" indent="0" lvl="0">
                <a:lnSpc>
                  <a:spcPts val="6073"/>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12500" r="0" b="12500"/>
          <a:stretch>
            <a:fillRect/>
          </a:stretch>
        </p:blipFill>
        <p:spPr>
          <a:xfrm>
            <a:off x="0" y="0"/>
            <a:ext cx="18288000" cy="10287000"/>
          </a:xfrm>
          <a:prstGeom prst="rect">
            <a:avLst/>
          </a:prstGeom>
        </p:spPr>
      </p:pic>
      <p:grpSp>
        <p:nvGrpSpPr>
          <p:cNvPr name="Group 3" id="3"/>
          <p:cNvGrpSpPr/>
          <p:nvPr/>
        </p:nvGrpSpPr>
        <p:grpSpPr>
          <a:xfrm rot="0">
            <a:off x="1413743" y="1059293"/>
            <a:ext cx="15288379" cy="8168414"/>
            <a:chOff x="0" y="0"/>
            <a:chExt cx="25753675" cy="13759907"/>
          </a:xfrm>
        </p:grpSpPr>
        <p:sp>
          <p:nvSpPr>
            <p:cNvPr name="Freeform 4" id="4"/>
            <p:cNvSpPr/>
            <p:nvPr/>
          </p:nvSpPr>
          <p:spPr>
            <a:xfrm>
              <a:off x="31750" y="31750"/>
              <a:ext cx="25690175" cy="13696407"/>
            </a:xfrm>
            <a:custGeom>
              <a:avLst/>
              <a:gdLst/>
              <a:ahLst/>
              <a:cxnLst/>
              <a:rect r="r" b="b" t="t" l="l"/>
              <a:pathLst>
                <a:path h="13696407" w="25690175">
                  <a:moveTo>
                    <a:pt x="25597465" y="13696407"/>
                  </a:moveTo>
                  <a:lnTo>
                    <a:pt x="92710" y="13696407"/>
                  </a:lnTo>
                  <a:cubicBezTo>
                    <a:pt x="41910" y="13696407"/>
                    <a:pt x="0" y="13654497"/>
                    <a:pt x="0" y="13603697"/>
                  </a:cubicBezTo>
                  <a:lnTo>
                    <a:pt x="0" y="92710"/>
                  </a:lnTo>
                  <a:cubicBezTo>
                    <a:pt x="0" y="41910"/>
                    <a:pt x="41910" y="0"/>
                    <a:pt x="92710" y="0"/>
                  </a:cubicBezTo>
                  <a:lnTo>
                    <a:pt x="25596196" y="0"/>
                  </a:lnTo>
                  <a:cubicBezTo>
                    <a:pt x="25646996" y="0"/>
                    <a:pt x="25688905" y="41910"/>
                    <a:pt x="25688905" y="92710"/>
                  </a:cubicBezTo>
                  <a:lnTo>
                    <a:pt x="25688905" y="13602427"/>
                  </a:lnTo>
                  <a:cubicBezTo>
                    <a:pt x="25690175" y="13654497"/>
                    <a:pt x="25648265" y="13696407"/>
                    <a:pt x="25597465" y="13696407"/>
                  </a:cubicBezTo>
                  <a:close/>
                </a:path>
              </a:pathLst>
            </a:custGeom>
            <a:solidFill>
              <a:srgbClr val="FFFFFF"/>
            </a:solidFill>
          </p:spPr>
        </p:sp>
        <p:sp>
          <p:nvSpPr>
            <p:cNvPr name="Freeform 5" id="5"/>
            <p:cNvSpPr/>
            <p:nvPr/>
          </p:nvSpPr>
          <p:spPr>
            <a:xfrm>
              <a:off x="0" y="0"/>
              <a:ext cx="25753675" cy="13759907"/>
            </a:xfrm>
            <a:custGeom>
              <a:avLst/>
              <a:gdLst/>
              <a:ahLst/>
              <a:cxnLst/>
              <a:rect r="r" b="b" t="t" l="l"/>
              <a:pathLst>
                <a:path h="13759907" w="25753675">
                  <a:moveTo>
                    <a:pt x="25629215" y="59690"/>
                  </a:moveTo>
                  <a:cubicBezTo>
                    <a:pt x="25664775" y="59690"/>
                    <a:pt x="25693985" y="88900"/>
                    <a:pt x="25693985" y="124460"/>
                  </a:cubicBezTo>
                  <a:lnTo>
                    <a:pt x="25693985" y="13635448"/>
                  </a:lnTo>
                  <a:cubicBezTo>
                    <a:pt x="25693985" y="13671007"/>
                    <a:pt x="25664775" y="13700218"/>
                    <a:pt x="25629215" y="13700218"/>
                  </a:cubicBezTo>
                  <a:lnTo>
                    <a:pt x="124460" y="13700218"/>
                  </a:lnTo>
                  <a:cubicBezTo>
                    <a:pt x="88900" y="13700218"/>
                    <a:pt x="59690" y="13671007"/>
                    <a:pt x="59690" y="13635448"/>
                  </a:cubicBezTo>
                  <a:lnTo>
                    <a:pt x="59690" y="124460"/>
                  </a:lnTo>
                  <a:cubicBezTo>
                    <a:pt x="59690" y="88900"/>
                    <a:pt x="88900" y="59690"/>
                    <a:pt x="124460" y="59690"/>
                  </a:cubicBezTo>
                  <a:lnTo>
                    <a:pt x="25629215" y="59690"/>
                  </a:lnTo>
                  <a:moveTo>
                    <a:pt x="25629215" y="0"/>
                  </a:moveTo>
                  <a:lnTo>
                    <a:pt x="124460" y="0"/>
                  </a:lnTo>
                  <a:cubicBezTo>
                    <a:pt x="55880" y="0"/>
                    <a:pt x="0" y="55880"/>
                    <a:pt x="0" y="124460"/>
                  </a:cubicBezTo>
                  <a:lnTo>
                    <a:pt x="0" y="13635448"/>
                  </a:lnTo>
                  <a:cubicBezTo>
                    <a:pt x="0" y="13704027"/>
                    <a:pt x="55880" y="13759907"/>
                    <a:pt x="124460" y="13759907"/>
                  </a:cubicBezTo>
                  <a:lnTo>
                    <a:pt x="25629215" y="13759907"/>
                  </a:lnTo>
                  <a:cubicBezTo>
                    <a:pt x="25697796" y="13759907"/>
                    <a:pt x="25753675" y="13704027"/>
                    <a:pt x="25753675" y="13635448"/>
                  </a:cubicBezTo>
                  <a:lnTo>
                    <a:pt x="25753675" y="124460"/>
                  </a:lnTo>
                  <a:cubicBezTo>
                    <a:pt x="25753675" y="55880"/>
                    <a:pt x="25697796" y="0"/>
                    <a:pt x="25629215" y="0"/>
                  </a:cubicBezTo>
                  <a:close/>
                </a:path>
              </a:pathLst>
            </a:custGeom>
            <a:solidFill>
              <a:srgbClr val="000000"/>
            </a:solidFill>
          </p:spPr>
        </p:sp>
      </p:grpSp>
      <p:sp>
        <p:nvSpPr>
          <p:cNvPr name="TextBox 6" id="6"/>
          <p:cNvSpPr txBox="true"/>
          <p:nvPr/>
        </p:nvSpPr>
        <p:spPr>
          <a:xfrm rot="0">
            <a:off x="3514455" y="1478809"/>
            <a:ext cx="11259090" cy="914346"/>
          </a:xfrm>
          <a:prstGeom prst="rect">
            <a:avLst/>
          </a:prstGeom>
        </p:spPr>
        <p:txBody>
          <a:bodyPr anchor="t" rtlCol="false" tIns="0" lIns="0" bIns="0" rIns="0">
            <a:spAutoFit/>
          </a:bodyPr>
          <a:lstStyle/>
          <a:p>
            <a:pPr algn="ctr">
              <a:lnSpc>
                <a:spcPts val="7200"/>
              </a:lnSpc>
            </a:pPr>
            <a:r>
              <a:rPr lang="en-US" sz="6000">
                <a:solidFill>
                  <a:srgbClr val="000000"/>
                </a:solidFill>
                <a:latin typeface="Cyrillic Bodoni"/>
              </a:rPr>
              <a:t>BACKGROUND OF THE STUDY</a:t>
            </a:r>
          </a:p>
        </p:txBody>
      </p:sp>
      <p:sp>
        <p:nvSpPr>
          <p:cNvPr name="TextBox 7" id="7"/>
          <p:cNvSpPr txBox="true"/>
          <p:nvPr/>
        </p:nvSpPr>
        <p:spPr>
          <a:xfrm rot="0">
            <a:off x="1728597" y="2597940"/>
            <a:ext cx="14658970" cy="6974676"/>
          </a:xfrm>
          <a:prstGeom prst="rect">
            <a:avLst/>
          </a:prstGeom>
        </p:spPr>
        <p:txBody>
          <a:bodyPr anchor="t" rtlCol="false" tIns="0" lIns="0" bIns="0" rIns="0">
            <a:spAutoFit/>
          </a:bodyPr>
          <a:lstStyle/>
          <a:p>
            <a:pPr algn="ctr">
              <a:lnSpc>
                <a:spcPts val="4559"/>
              </a:lnSpc>
            </a:pPr>
            <a:r>
              <a:rPr lang="en-US" sz="3256">
                <a:solidFill>
                  <a:srgbClr val="000000"/>
                </a:solidFill>
                <a:latin typeface="Canva Sans"/>
              </a:rPr>
              <a:t>       Organic matter such as rabbit manure improves poor soil structure, drainage, and moisture retention. It is not as stinky as other manures and is easy to use. In one year, a female rabbit and her offspring can produce a ton of manure. Manure is an organic waste produced by cows, buffaloes, rabbits, horses, pigs, chickens, and poultry. It can be hazardous to the environment if not treated separately. If more people start using briquettes, which are more sustainable and energy-efficient, pressure on forests may be relieved and pollution levels in cities may decrease. Briquettes are a good fit for circular bioeconomy strategies that maintain rural-urban ties while reducing waste and promoting more sustainable bioresources and market-based activities.</a:t>
            </a:r>
          </a:p>
          <a:p>
            <a:pPr algn="ctr">
              <a:lnSpc>
                <a:spcPts val="5679"/>
              </a:lnSpc>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A4EFC1"/>
        </a:solidFill>
      </p:bgPr>
    </p:bg>
    <p:spTree>
      <p:nvGrpSpPr>
        <p:cNvPr id="1" name=""/>
        <p:cNvGrpSpPr/>
        <p:nvPr/>
      </p:nvGrpSpPr>
      <p:grpSpPr>
        <a:xfrm>
          <a:off x="0" y="0"/>
          <a:ext cx="0" cy="0"/>
          <a:chOff x="0" y="0"/>
          <a:chExt cx="0" cy="0"/>
        </a:xfrm>
      </p:grpSpPr>
      <p:grpSp>
        <p:nvGrpSpPr>
          <p:cNvPr name="Group 2" id="2"/>
          <p:cNvGrpSpPr/>
          <p:nvPr/>
        </p:nvGrpSpPr>
        <p:grpSpPr>
          <a:xfrm rot="0">
            <a:off x="4746552" y="3132282"/>
            <a:ext cx="8794895" cy="4146317"/>
            <a:chOff x="0" y="0"/>
            <a:chExt cx="11726527" cy="5528423"/>
          </a:xfrm>
        </p:grpSpPr>
        <p:sp>
          <p:nvSpPr>
            <p:cNvPr name="TextBox 3" id="3"/>
            <p:cNvSpPr txBox="true"/>
            <p:nvPr/>
          </p:nvSpPr>
          <p:spPr>
            <a:xfrm rot="0">
              <a:off x="0" y="238125"/>
              <a:ext cx="11726527" cy="4401609"/>
            </a:xfrm>
            <a:prstGeom prst="rect">
              <a:avLst/>
            </a:prstGeom>
          </p:spPr>
          <p:txBody>
            <a:bodyPr anchor="t" rtlCol="false" tIns="0" lIns="0" bIns="0" rIns="0">
              <a:spAutoFit/>
            </a:bodyPr>
            <a:lstStyle/>
            <a:p>
              <a:pPr algn="ctr">
                <a:lnSpc>
                  <a:spcPts val="12500"/>
                </a:lnSpc>
              </a:pPr>
              <a:r>
                <a:rPr lang="en-US" sz="12500">
                  <a:solidFill>
                    <a:srgbClr val="000000"/>
                  </a:solidFill>
                  <a:latin typeface="Cyrillic Bodoni Bold Italics"/>
                </a:rPr>
                <a:t>Q&amp;A SESSION</a:t>
              </a:r>
            </a:p>
          </p:txBody>
        </p:sp>
        <p:sp>
          <p:nvSpPr>
            <p:cNvPr name="TextBox 4" id="4"/>
            <p:cNvSpPr txBox="true"/>
            <p:nvPr/>
          </p:nvSpPr>
          <p:spPr>
            <a:xfrm rot="0">
              <a:off x="0" y="4868122"/>
              <a:ext cx="11726527" cy="660301"/>
            </a:xfrm>
            <a:prstGeom prst="rect">
              <a:avLst/>
            </a:prstGeom>
          </p:spPr>
          <p:txBody>
            <a:bodyPr anchor="t" rtlCol="false" tIns="0" lIns="0" bIns="0" rIns="0">
              <a:spAutoFit/>
            </a:bodyPr>
            <a:lstStyle/>
            <a:p>
              <a:pPr algn="ctr">
                <a:lnSpc>
                  <a:spcPts val="3959"/>
                </a:lnSpc>
              </a:pPr>
              <a:r>
                <a:rPr lang="en-US" sz="3299">
                  <a:solidFill>
                    <a:srgbClr val="000000"/>
                  </a:solidFill>
                  <a:latin typeface="Cyrillic Bodoni Italics"/>
                </a:rPr>
                <a:t>Thank you for listening!</a:t>
              </a:r>
            </a:p>
          </p:txBody>
        </p:sp>
      </p:grpSp>
      <p:sp>
        <p:nvSpPr>
          <p:cNvPr name="AutoShape 5" id="5"/>
          <p:cNvSpPr/>
          <p:nvPr/>
        </p:nvSpPr>
        <p:spPr>
          <a:xfrm rot="2685">
            <a:off x="-3" y="1905696"/>
            <a:ext cx="18288006" cy="0"/>
          </a:xfrm>
          <a:prstGeom prst="line">
            <a:avLst/>
          </a:prstGeom>
          <a:ln cap="flat" w="28575">
            <a:solidFill>
              <a:srgbClr val="000000"/>
            </a:solidFill>
            <a:prstDash val="solid"/>
            <a:headEnd type="none" len="sm" w="sm"/>
            <a:tailEnd type="none" len="sm" w="sm"/>
          </a:ln>
        </p:spPr>
      </p:sp>
      <p:sp>
        <p:nvSpPr>
          <p:cNvPr name="AutoShape 6" id="6"/>
          <p:cNvSpPr/>
          <p:nvPr/>
        </p:nvSpPr>
        <p:spPr>
          <a:xfrm rot="2685">
            <a:off x="-3" y="8721061"/>
            <a:ext cx="18288006" cy="0"/>
          </a:xfrm>
          <a:prstGeom prst="line">
            <a:avLst/>
          </a:prstGeom>
          <a:ln cap="flat" w="28575">
            <a:solidFill>
              <a:srgbClr val="000000"/>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DAFV6khZ1Fk</dc:identifier>
  <dcterms:modified xsi:type="dcterms:W3CDTF">2011-08-01T06:04:30Z</dcterms:modified>
  <cp:revision>1</cp:revision>
  <dc:title>Research Group 2</dc:title>
</cp:coreProperties>
</file>